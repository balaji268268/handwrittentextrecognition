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8" r:id="rId19"/>
    <p:sldId id="263" r:id="rId14"/>
    <p:sldId id="269" r:id="rId20"/>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1B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371600"/>
            <a:ext cx="82296" cy="2468880"/>
          </a:xfrm>
          <a:prstGeom prst="rect">
            <a:avLst/>
          </a:prstGeom>
          <a:solidFill>
            <a:srgbClr val="1B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10515600" cy="365760"/>
          </a:xfrm>
          <a:prstGeom prst="rect">
            <a:avLst/>
          </a:prstGeom>
          <a:noFill/>
        </p:spPr>
        <p:txBody>
          <a:bodyPr wrap="square" anchor="t" lIns="0" rIns="0" tIns="0" bIns="0">
            <a:spAutoFit/>
          </a:bodyPr>
          <a:lstStyle/>
          <a:p>
            <a:pPr algn="l">
              <a:lnSpc>
                <a:spcPct val="100000"/>
              </a:lnSpc>
            </a:pPr>
            <a:r>
              <a:rPr sz="1400" b="1">
                <a:solidFill>
                  <a:srgbClr val="E8B84B"/>
                </a:solidFill>
                <a:latin typeface="Calibri"/>
              </a:rPr>
              <a:t>PROJECT REVIEW  ·  SEPTEMBER 2026</a:t>
            </a:r>
          </a:p>
        </p:txBody>
      </p:sp>
      <p:sp>
        <p:nvSpPr>
          <p:cNvPr id="6" name="TextBox 5"/>
          <p:cNvSpPr txBox="1"/>
          <p:nvPr/>
        </p:nvSpPr>
        <p:spPr>
          <a:xfrm>
            <a:off x="1143000" y="1325880"/>
            <a:ext cx="10241280" cy="2194560"/>
          </a:xfrm>
          <a:prstGeom prst="rect">
            <a:avLst/>
          </a:prstGeom>
          <a:noFill/>
        </p:spPr>
        <p:txBody>
          <a:bodyPr wrap="square" anchor="t" lIns="0" rIns="0" tIns="0" bIns="0">
            <a:spAutoFit/>
          </a:bodyPr>
          <a:lstStyle/>
          <a:p>
            <a:pPr algn="l">
              <a:lnSpc>
                <a:spcPct val="105000"/>
              </a:lnSpc>
            </a:pPr>
            <a:r>
              <a:rPr sz="4400" b="1">
                <a:solidFill>
                  <a:srgbClr val="FFFFFF"/>
                </a:solidFill>
                <a:latin typeface="Calibri"/>
              </a:rPr>
              <a:t>Handwritten Manuscript Recognition</a:t>
            </a:r>
          </a:p>
          <a:p>
            <a:pPr algn="l">
              <a:lnSpc>
                <a:spcPct val="105000"/>
              </a:lnSpc>
            </a:pPr>
            <a:r>
              <a:rPr sz="4400" b="1">
                <a:solidFill>
                  <a:srgbClr val="FFFFFF"/>
                </a:solidFill>
                <a:latin typeface="Calibri"/>
              </a:rPr>
              <a:t>using Vision Transformers</a:t>
            </a:r>
          </a:p>
        </p:txBody>
      </p:sp>
      <p:sp>
        <p:nvSpPr>
          <p:cNvPr id="7" name="TextBox 6"/>
          <p:cNvSpPr txBox="1"/>
          <p:nvPr/>
        </p:nvSpPr>
        <p:spPr>
          <a:xfrm>
            <a:off x="1143000" y="3611880"/>
            <a:ext cx="10058400" cy="822960"/>
          </a:xfrm>
          <a:prstGeom prst="rect">
            <a:avLst/>
          </a:prstGeom>
          <a:noFill/>
        </p:spPr>
        <p:txBody>
          <a:bodyPr wrap="square" anchor="t" lIns="0" rIns="0" tIns="0" bIns="0">
            <a:spAutoFit/>
          </a:bodyPr>
          <a:lstStyle/>
          <a:p>
            <a:pPr algn="l">
              <a:lnSpc>
                <a:spcPct val="120000"/>
              </a:lnSpc>
            </a:pPr>
            <a:r>
              <a:rPr sz="1800" b="0">
                <a:solidFill>
                  <a:srgbClr val="E4ECF3"/>
                </a:solidFill>
                <a:latin typeface="Calibri"/>
              </a:rPr>
              <a:t>A computer that reads lines of handwriting and types out the text</a:t>
            </a:r>
          </a:p>
        </p:txBody>
      </p:sp>
      <p:sp>
        <p:nvSpPr>
          <p:cNvPr id="8" name="Rectangle 7"/>
          <p:cNvSpPr/>
          <p:nvPr/>
        </p:nvSpPr>
        <p:spPr>
          <a:xfrm>
            <a:off x="1143000" y="4892040"/>
            <a:ext cx="9875520" cy="12801"/>
          </a:xfrm>
          <a:prstGeom prst="rect">
            <a:avLst/>
          </a:prstGeom>
          <a:solidFill>
            <a:srgbClr val="17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5166360"/>
            <a:ext cx="10058400" cy="1188720"/>
          </a:xfrm>
          <a:prstGeom prst="rect">
            <a:avLst/>
          </a:prstGeom>
          <a:noFill/>
        </p:spPr>
        <p:txBody>
          <a:bodyPr wrap="square" anchor="t" lIns="0" rIns="0" tIns="0" bIns="0">
            <a:spAutoFit/>
          </a:bodyPr>
          <a:lstStyle/>
          <a:p>
            <a:pPr algn="l">
              <a:lnSpc>
                <a:spcPct val="150000"/>
              </a:lnSpc>
            </a:pPr>
            <a:r>
              <a:rPr sz="1500" b="1">
                <a:solidFill>
                  <a:srgbClr val="FFFFFF"/>
                </a:solidFill>
                <a:latin typeface="Calibri"/>
              </a:rPr>
              <a:t>A Venkata Balaji</a:t>
            </a:r>
          </a:p>
          <a:p>
            <a:pPr algn="l">
              <a:lnSpc>
                <a:spcPct val="150000"/>
              </a:lnSpc>
            </a:pPr>
            <a:r>
              <a:rPr sz="1500" b="1">
                <a:solidFill>
                  <a:srgbClr val="FFFFFF"/>
                </a:solidFill>
                <a:latin typeface="Calibri"/>
              </a:rPr>
              <a:t>Reg. No: 23BCE20336    |    Vision Transformer (ViT)  +  12 Datasets</a:t>
            </a:r>
          </a:p>
        </p:txBody>
      </p:sp>
      <p:sp>
        <p:nvSpPr>
          <p:cNvPr id="10" name="Rounded Rectangle 9"/>
          <p:cNvSpPr/>
          <p:nvPr/>
        </p:nvSpPr>
        <p:spPr>
          <a:xfrm>
            <a:off x="548640" y="5760720"/>
            <a:ext cx="6217920" cy="438912"/>
          </a:xfrm>
          <a:prstGeom prst="roundRect">
            <a:avLst/>
          </a:prstGeom>
          <a:solidFill>
            <a:srgbClr val="EBF8F6"/>
          </a:solidFill>
          <a:ln w="1270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tIns="73152" lIns="137160"/>
          <a:lstStyle/>
          <a:p>
            <a:pPr algn="ctr">
              <a:defRPr sz="1100" b="1">
                <a:solidFill>
                  <a:srgbClr val="0E2A47"/>
                </a:solidFill>
                <a:latin typeface="Calibri"/>
              </a:defRPr>
            </a:pPr>
            <a:r>
              <a:t>GitHub: https://github.com/Balaji268268/HandwrittenTextRecognition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anchor="t" lIns="0" rIns="0" tIns="0" bIns="0">
            <a:spAutoFit/>
          </a:bodyPr>
          <a:lstStyle/>
          <a:p>
            <a:pPr algn="l">
              <a:lnSpc>
                <a:spcPct val="100000"/>
              </a:lnSpc>
            </a:pPr>
            <a:r>
              <a:rPr sz="1150" b="1">
                <a:solidFill>
                  <a:srgbClr val="1B9E8E"/>
                </a:solidFill>
                <a:latin typeface="Calibri"/>
              </a:rPr>
              <a:t>IN SHORT</a:t>
            </a:r>
          </a:p>
        </p:txBody>
      </p:sp>
      <p:sp>
        <p:nvSpPr>
          <p:cNvPr id="3" name="TextBox 2"/>
          <p:cNvSpPr txBox="1"/>
          <p:nvPr/>
        </p:nvSpPr>
        <p:spPr>
          <a:xfrm>
            <a:off x="548640" y="548640"/>
            <a:ext cx="11064240" cy="566928"/>
          </a:xfrm>
          <a:prstGeom prst="rect">
            <a:avLst/>
          </a:prstGeom>
          <a:noFill/>
        </p:spPr>
        <p:txBody>
          <a:bodyPr wrap="square" anchor="t" lIns="0" rIns="0" tIns="0" bIns="0">
            <a:spAutoFit/>
          </a:bodyPr>
          <a:lstStyle/>
          <a:p>
            <a:pPr algn="l">
              <a:lnSpc>
                <a:spcPct val="100000"/>
              </a:lnSpc>
            </a:pPr>
            <a:r>
              <a:rPr sz="2800" b="1">
                <a:solidFill>
                  <a:srgbClr val="0E2A47"/>
                </a:solidFill>
                <a:latin typeface="Calibri"/>
              </a:rPr>
              <a:t>Abstract</a:t>
            </a:r>
          </a:p>
        </p:txBody>
      </p:sp>
      <p:sp>
        <p:nvSpPr>
          <p:cNvPr id="4" name="Rectangle 3"/>
          <p:cNvSpPr/>
          <p:nvPr/>
        </p:nvSpPr>
        <p:spPr>
          <a:xfrm>
            <a:off x="576072" y="1133856"/>
            <a:ext cx="1097280" cy="45720"/>
          </a:xfrm>
          <a:prstGeom prst="rect">
            <a:avLst/>
          </a:prstGeom>
          <a:solidFill>
            <a:srgbClr val="1B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pPr>
            <a:r>
              <a:rPr sz="900" b="0">
                <a:solidFill>
                  <a:srgbClr val="6A7888"/>
                </a:solidFill>
                <a:latin typeface="Calibri"/>
              </a:rPr>
              <a:t>A Venkata Balaji   ·   Reg. No: 23BCE20336</a:t>
            </a:r>
          </a:p>
        </p:txBody>
      </p:sp>
      <p:sp>
        <p:nvSpPr>
          <p:cNvPr id="6" name="TextBox 5"/>
          <p:cNvSpPr txBox="1"/>
          <p:nvPr/>
        </p:nvSpPr>
        <p:spPr>
          <a:xfrm>
            <a:off x="9326880" y="6528816"/>
            <a:ext cx="2286000" cy="274320"/>
          </a:xfrm>
          <a:prstGeom prst="rect">
            <a:avLst/>
          </a:prstGeom>
          <a:noFill/>
        </p:spPr>
        <p:txBody>
          <a:bodyPr wrap="square" anchor="t" lIns="0" rIns="0" tIns="0" bIns="0">
            <a:spAutoFit/>
          </a:bodyPr>
          <a:lstStyle/>
          <a:p>
            <a:pPr algn="r">
              <a:lnSpc>
                <a:spcPct val="100000"/>
              </a:lnSpc>
            </a:pPr>
            <a:r>
              <a:rPr sz="900" b="0">
                <a:solidFill>
                  <a:srgbClr val="6A7888"/>
                </a:solidFill>
                <a:latin typeface="Calibri"/>
              </a:rPr>
              <a:t>Handwritten Manuscript Recognition using ViT</a:t>
            </a:r>
          </a:p>
        </p:txBody>
      </p:sp>
      <p:sp>
        <p:nvSpPr>
          <p:cNvPr id="7" name="TextBox 6"/>
          <p:cNvSpPr txBox="1"/>
          <p:nvPr/>
        </p:nvSpPr>
        <p:spPr>
          <a:xfrm>
            <a:off x="548640" y="1298448"/>
            <a:ext cx="11064240" cy="1463040"/>
          </a:xfrm>
          <a:prstGeom prst="rect">
            <a:avLst/>
          </a:prstGeom>
          <a:noFill/>
        </p:spPr>
        <p:txBody>
          <a:bodyPr wrap="square" anchor="t" lIns="0" rIns="0" tIns="0" bIns="0">
            <a:spAutoFit/>
          </a:bodyPr>
          <a:lstStyle/>
          <a:p>
            <a:pPr algn="l">
              <a:lnSpc>
                <a:spcPct val="135000"/>
              </a:lnSpc>
            </a:pPr>
            <a:r>
              <a:rPr sz="1600" b="0">
                <a:solidFill>
                  <a:srgbClr val="243140"/>
                </a:solidFill>
                <a:latin typeface="Calibri"/>
              </a:rPr>
              <a:t>Old handwritten books and papers are hard to turn into typed text — doing it by hand is slow and expensive. This project builds a system that reads a line of handwriting and types out the text. It uses a Vision Transformer (ViT) model, trained on 12 public handwriting datasets. At the end, we check the model by counting the characters and words it gets wrong.</a:t>
            </a:r>
          </a:p>
        </p:txBody>
      </p:sp>
      <p:sp>
        <p:nvSpPr>
          <p:cNvPr id="8" name="Rectangle 7"/>
          <p:cNvSpPr/>
          <p:nvPr/>
        </p:nvSpPr>
        <p:spPr>
          <a:xfrm>
            <a:off x="548640" y="2971800"/>
            <a:ext cx="11064240" cy="12801"/>
          </a:xfrm>
          <a:prstGeom prst="rect">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11064240" cy="365760"/>
          </a:xfrm>
          <a:prstGeom prst="rect">
            <a:avLst/>
          </a:prstGeom>
          <a:noFill/>
        </p:spPr>
        <p:txBody>
          <a:bodyPr wrap="square" anchor="t" lIns="0" rIns="0" tIns="0" bIns="0">
            <a:spAutoFit/>
          </a:bodyPr>
          <a:lstStyle/>
          <a:p>
            <a:pPr algn="l">
              <a:lnSpc>
                <a:spcPct val="100000"/>
              </a:lnSpc>
            </a:pPr>
            <a:r>
              <a:rPr sz="1300" b="1">
                <a:solidFill>
                  <a:srgbClr val="1B9E8E"/>
                </a:solidFill>
                <a:latin typeface="Calibri"/>
              </a:rPr>
              <a:t>SIMPLY PUT</a:t>
            </a:r>
          </a:p>
        </p:txBody>
      </p:sp>
      <p:sp>
        <p:nvSpPr>
          <p:cNvPr id="10" name="TextBox 9"/>
          <p:cNvSpPr txBox="1"/>
          <p:nvPr/>
        </p:nvSpPr>
        <p:spPr>
          <a:xfrm>
            <a:off x="548640" y="3520440"/>
            <a:ext cx="11064240" cy="2011680"/>
          </a:xfrm>
          <a:prstGeom prst="rect">
            <a:avLst/>
          </a:prstGeom>
          <a:noFill/>
        </p:spPr>
        <p:txBody>
          <a:bodyPr wrap="square" lIns="0" rIns="0" tIns="0" bIns="0">
            <a:spAutoFit/>
          </a:bodyPr>
          <a:lstStyle/>
          <a:p>
            <a:pPr>
              <a:lnSpc>
                <a:spcPct val="110000"/>
              </a:lnSpc>
              <a:spcAft>
                <a:spcPts val="1100"/>
              </a:spcAft>
            </a:pPr>
            <a:r>
              <a:rPr sz="1600" b="1">
                <a:solidFill>
                  <a:srgbClr val="1B9E8E"/>
                </a:solidFill>
                <a:latin typeface="Calibri"/>
              </a:rPr>
              <a:t>•  </a:t>
            </a:r>
            <a:r>
              <a:rPr sz="1600" b="1">
                <a:solidFill>
                  <a:srgbClr val="243140"/>
                </a:solidFill>
                <a:latin typeface="Calibri"/>
              </a:rPr>
              <a:t>Input: </a:t>
            </a:r>
            <a:r>
              <a:rPr sz="1600" b="0">
                <a:solidFill>
                  <a:srgbClr val="243140"/>
                </a:solidFill>
                <a:latin typeface="Calibri"/>
              </a:rPr>
              <a:t>a picture of one line of handwriting</a:t>
            </a:r>
          </a:p>
          <a:p>
            <a:pPr>
              <a:lnSpc>
                <a:spcPct val="110000"/>
              </a:lnSpc>
              <a:spcAft>
                <a:spcPts val="1100"/>
              </a:spcAft>
            </a:pPr>
            <a:r>
              <a:rPr sz="1600" b="1">
                <a:solidFill>
                  <a:srgbClr val="1B9E8E"/>
                </a:solidFill>
                <a:latin typeface="Calibri"/>
              </a:rPr>
              <a:t>•  </a:t>
            </a:r>
            <a:r>
              <a:rPr sz="1600" b="1">
                <a:solidFill>
                  <a:srgbClr val="243140"/>
                </a:solidFill>
                <a:latin typeface="Calibri"/>
              </a:rPr>
              <a:t>Output: </a:t>
            </a:r>
            <a:r>
              <a:rPr sz="1600" b="0">
                <a:solidFill>
                  <a:srgbClr val="243140"/>
                </a:solidFill>
                <a:latin typeface="Calibri"/>
              </a:rPr>
              <a:t>the text that line contains</a:t>
            </a:r>
          </a:p>
          <a:p>
            <a:pPr>
              <a:lnSpc>
                <a:spcPct val="110000"/>
              </a:lnSpc>
              <a:spcAft>
                <a:spcPts val="1100"/>
              </a:spcAft>
            </a:pPr>
            <a:r>
              <a:rPr sz="1600" b="1">
                <a:solidFill>
                  <a:srgbClr val="1B9E8E"/>
                </a:solidFill>
                <a:latin typeface="Calibri"/>
              </a:rPr>
              <a:t>•  </a:t>
            </a:r>
            <a:r>
              <a:rPr sz="1600" b="1">
                <a:solidFill>
                  <a:srgbClr val="243140"/>
                </a:solidFill>
                <a:latin typeface="Calibri"/>
              </a:rPr>
              <a:t>Model: </a:t>
            </a:r>
            <a:r>
              <a:rPr sz="1600" b="0">
                <a:solidFill>
                  <a:srgbClr val="243140"/>
                </a:solidFill>
                <a:latin typeface="Calibri"/>
              </a:rPr>
              <a:t>Vision Transformer (ViT)</a:t>
            </a:r>
          </a:p>
          <a:p>
            <a:pPr>
              <a:lnSpc>
                <a:spcPct val="110000"/>
              </a:lnSpc>
              <a:spcAft>
                <a:spcPts val="1100"/>
              </a:spcAft>
            </a:pPr>
            <a:r>
              <a:rPr sz="1600" b="1">
                <a:solidFill>
                  <a:srgbClr val="1B9E8E"/>
                </a:solidFill>
                <a:latin typeface="Calibri"/>
              </a:rPr>
              <a:t>•  </a:t>
            </a:r>
            <a:r>
              <a:rPr sz="1600" b="1">
                <a:solidFill>
                  <a:srgbClr val="243140"/>
                </a:solidFill>
                <a:latin typeface="Calibri"/>
              </a:rPr>
              <a:t>Data: </a:t>
            </a:r>
            <a:r>
              <a:rPr sz="1600" b="0">
                <a:solidFill>
                  <a:srgbClr val="243140"/>
                </a:solidFill>
                <a:latin typeface="Calibri"/>
              </a:rPr>
              <a:t>12 datasets — from digits to 900-year-old manuscripts</a:t>
            </a:r>
          </a:p>
          <a:p>
            <a:pPr>
              <a:lnSpc>
                <a:spcPct val="110000"/>
              </a:lnSpc>
              <a:spcAft>
                <a:spcPts val="1100"/>
              </a:spcAft>
            </a:pPr>
            <a:r>
              <a:rPr sz="1600" b="1">
                <a:solidFill>
                  <a:srgbClr val="1B9E8E"/>
                </a:solidFill>
                <a:latin typeface="Calibri"/>
              </a:rPr>
              <a:t>•  </a:t>
            </a:r>
            <a:r>
              <a:rPr sz="1600" b="1">
                <a:solidFill>
                  <a:srgbClr val="243140"/>
                </a:solidFill>
                <a:latin typeface="Calibri"/>
              </a:rPr>
              <a:t>Check: </a:t>
            </a:r>
            <a:r>
              <a:rPr sz="1600" b="0">
                <a:solidFill>
                  <a:srgbClr val="243140"/>
                </a:solidFill>
                <a:latin typeface="Calibri"/>
              </a:rPr>
              <a:t>character error rate (CER) and word error rate (WER)</a:t>
            </a:r>
          </a:p>
        </p:txBody>
      </p:sp>
      <p:sp>
        <p:nvSpPr>
          <p:cNvPr id="11" name="Rounded Rectangle 10"/>
          <p:cNvSpPr/>
          <p:nvPr/>
        </p:nvSpPr>
        <p:spPr>
          <a:xfrm>
            <a:off x="1051560" y="5669280"/>
            <a:ext cx="3108960" cy="694944"/>
          </a:xfrm>
          <a:prstGeom prst="roundRect">
            <a:avLst>
              <a:gd name="adj" fmla="val 10000"/>
            </a:avLst>
          </a:prstGeom>
          <a:solidFill>
            <a:srgbClr val="174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INPUT</a:t>
            </a:r>
          </a:p>
          <a:p>
            <a:pPr algn="ctr">
              <a:spcBef>
                <a:spcPts val="300"/>
              </a:spcBef>
            </a:pPr>
            <a:r>
              <a:rPr sz="1050">
                <a:solidFill>
                  <a:srgbClr val="E4ECF3"/>
                </a:solidFill>
                <a:latin typeface="Calibri"/>
              </a:rPr>
              <a:t>a line image (64 × 1024)</a:t>
            </a:r>
          </a:p>
        </p:txBody>
      </p:sp>
      <p:sp>
        <p:nvSpPr>
          <p:cNvPr id="12" name="Right Arrow 11"/>
          <p:cNvSpPr/>
          <p:nvPr/>
        </p:nvSpPr>
        <p:spPr>
          <a:xfrm>
            <a:off x="4343400" y="5943600"/>
            <a:ext cx="411480" cy="146304"/>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37760" y="5669280"/>
            <a:ext cx="3108960" cy="694944"/>
          </a:xfrm>
          <a:prstGeom prst="roundRect">
            <a:avLst>
              <a:gd name="adj" fmla="val 1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VI-T MODEL</a:t>
            </a:r>
          </a:p>
          <a:p>
            <a:pPr algn="ctr">
              <a:spcBef>
                <a:spcPts val="300"/>
              </a:spcBef>
            </a:pPr>
            <a:r>
              <a:rPr sz="1050">
                <a:solidFill>
                  <a:srgbClr val="E4ECF3"/>
                </a:solidFill>
                <a:latin typeface="Calibri"/>
              </a:rPr>
              <a:t>learns image → text</a:t>
            </a:r>
          </a:p>
        </p:txBody>
      </p:sp>
      <p:sp>
        <p:nvSpPr>
          <p:cNvPr id="14" name="Right Arrow 13"/>
          <p:cNvSpPr/>
          <p:nvPr/>
        </p:nvSpPr>
        <p:spPr>
          <a:xfrm>
            <a:off x="8183879" y="5943600"/>
            <a:ext cx="411480" cy="146304"/>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778240" y="5669280"/>
            <a:ext cx="3108960" cy="694944"/>
          </a:xfrm>
          <a:prstGeom prst="roundRect">
            <a:avLst>
              <a:gd name="adj" fmla="val 10000"/>
            </a:avLst>
          </a:prstGeom>
          <a:solidFill>
            <a:srgbClr val="174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OUTPUT</a:t>
            </a:r>
          </a:p>
          <a:p>
            <a:pPr algn="ctr">
              <a:spcBef>
                <a:spcPts val="300"/>
              </a:spcBef>
            </a:pPr>
            <a:r>
              <a:rPr sz="1050">
                <a:solidFill>
                  <a:srgbClr val="E4ECF3"/>
                </a:solidFill>
                <a:latin typeface="Calibri"/>
              </a:rPr>
              <a:t>the typed 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anchor="t" lIns="0" rIns="0" tIns="0" bIns="0">
            <a:spAutoFit/>
          </a:bodyPr>
          <a:lstStyle/>
          <a:p>
            <a:pPr algn="l">
              <a:lnSpc>
                <a:spcPct val="100000"/>
              </a:lnSpc>
            </a:pPr>
            <a:r>
              <a:rPr sz="1150" b="1">
                <a:solidFill>
                  <a:srgbClr val="1B9E8E"/>
                </a:solidFill>
                <a:latin typeface="Calibri"/>
              </a:rPr>
              <a:t>BACKGROUND</a:t>
            </a:r>
          </a:p>
        </p:txBody>
      </p:sp>
      <p:sp>
        <p:nvSpPr>
          <p:cNvPr id="3" name="TextBox 2"/>
          <p:cNvSpPr txBox="1"/>
          <p:nvPr/>
        </p:nvSpPr>
        <p:spPr>
          <a:xfrm>
            <a:off x="548640" y="548640"/>
            <a:ext cx="11064240" cy="566928"/>
          </a:xfrm>
          <a:prstGeom prst="rect">
            <a:avLst/>
          </a:prstGeom>
          <a:noFill/>
        </p:spPr>
        <p:txBody>
          <a:bodyPr wrap="square" anchor="t" lIns="0" rIns="0" tIns="0" bIns="0">
            <a:spAutoFit/>
          </a:bodyPr>
          <a:lstStyle/>
          <a:p>
            <a:pPr algn="l">
              <a:lnSpc>
                <a:spcPct val="100000"/>
              </a:lnSpc>
            </a:pPr>
            <a:r>
              <a:rPr sz="2800" b="1">
                <a:solidFill>
                  <a:srgbClr val="0E2A47"/>
                </a:solidFill>
                <a:latin typeface="Calibri"/>
              </a:rPr>
              <a:t>Introduction</a:t>
            </a:r>
          </a:p>
        </p:txBody>
      </p:sp>
      <p:sp>
        <p:nvSpPr>
          <p:cNvPr id="4" name="Rectangle 3"/>
          <p:cNvSpPr/>
          <p:nvPr/>
        </p:nvSpPr>
        <p:spPr>
          <a:xfrm>
            <a:off x="576072" y="1133856"/>
            <a:ext cx="1097280" cy="45720"/>
          </a:xfrm>
          <a:prstGeom prst="rect">
            <a:avLst/>
          </a:prstGeom>
          <a:solidFill>
            <a:srgbClr val="1B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pPr>
            <a:r>
              <a:rPr sz="900" b="0">
                <a:solidFill>
                  <a:srgbClr val="6A7888"/>
                </a:solidFill>
                <a:latin typeface="Calibri"/>
              </a:rPr>
              <a:t>A Venkata Balaji   ·   Reg. No: 23BCE20336</a:t>
            </a:r>
          </a:p>
        </p:txBody>
      </p:sp>
      <p:sp>
        <p:nvSpPr>
          <p:cNvPr id="6" name="TextBox 5"/>
          <p:cNvSpPr txBox="1"/>
          <p:nvPr/>
        </p:nvSpPr>
        <p:spPr>
          <a:xfrm>
            <a:off x="9326880" y="6528816"/>
            <a:ext cx="2286000" cy="274320"/>
          </a:xfrm>
          <a:prstGeom prst="rect">
            <a:avLst/>
          </a:prstGeom>
          <a:noFill/>
        </p:spPr>
        <p:txBody>
          <a:bodyPr wrap="square" anchor="t" lIns="0" rIns="0" tIns="0" bIns="0">
            <a:spAutoFit/>
          </a:bodyPr>
          <a:lstStyle/>
          <a:p>
            <a:pPr algn="r">
              <a:lnSpc>
                <a:spcPct val="100000"/>
              </a:lnSpc>
            </a:pPr>
            <a:r>
              <a:rPr sz="900" b="0">
                <a:solidFill>
                  <a:srgbClr val="6A7888"/>
                </a:solidFill>
                <a:latin typeface="Calibri"/>
              </a:rPr>
              <a:t>Handwritten Manuscript Recognition using ViT</a:t>
            </a:r>
          </a:p>
        </p:txBody>
      </p:sp>
      <p:sp>
        <p:nvSpPr>
          <p:cNvPr id="7" name="TextBox 6"/>
          <p:cNvSpPr txBox="1"/>
          <p:nvPr/>
        </p:nvSpPr>
        <p:spPr>
          <a:xfrm>
            <a:off x="548640" y="1325880"/>
            <a:ext cx="5669280" cy="365760"/>
          </a:xfrm>
          <a:prstGeom prst="rect">
            <a:avLst/>
          </a:prstGeom>
          <a:noFill/>
        </p:spPr>
        <p:txBody>
          <a:bodyPr wrap="square" anchor="t" lIns="0" rIns="0" tIns="0" bIns="0">
            <a:spAutoFit/>
          </a:bodyPr>
          <a:lstStyle/>
          <a:p>
            <a:pPr algn="l">
              <a:lnSpc>
                <a:spcPct val="100000"/>
              </a:lnSpc>
            </a:pPr>
            <a:r>
              <a:rPr sz="1800" b="1">
                <a:solidFill>
                  <a:srgbClr val="0E2A47"/>
                </a:solidFill>
                <a:latin typeface="Calibri"/>
              </a:rPr>
              <a:t>The Problem</a:t>
            </a:r>
          </a:p>
        </p:txBody>
      </p:sp>
      <p:sp>
        <p:nvSpPr>
          <p:cNvPr id="8" name="TextBox 7"/>
          <p:cNvSpPr txBox="1"/>
          <p:nvPr/>
        </p:nvSpPr>
        <p:spPr>
          <a:xfrm>
            <a:off x="548640" y="1965960"/>
            <a:ext cx="5669280" cy="655320"/>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Libraries and archives hold millions of handwritten pages</a:t>
            </a:r>
          </a:p>
        </p:txBody>
      </p:sp>
      <p:sp>
        <p:nvSpPr>
          <p:cNvPr id="9" name="TextBox 8"/>
          <p:cNvSpPr txBox="1"/>
          <p:nvPr/>
        </p:nvSpPr>
        <p:spPr>
          <a:xfrm>
            <a:off x="548640" y="2621280"/>
            <a:ext cx="5669280" cy="655320"/>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Typing them by hand takes years and costs a lot</a:t>
            </a:r>
          </a:p>
        </p:txBody>
      </p:sp>
      <p:sp>
        <p:nvSpPr>
          <p:cNvPr id="10" name="TextBox 9"/>
          <p:cNvSpPr txBox="1"/>
          <p:nvPr/>
        </p:nvSpPr>
        <p:spPr>
          <a:xfrm>
            <a:off x="548640" y="3276600"/>
            <a:ext cx="5669280" cy="655320"/>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One person types only a few pages a day — a book takes months</a:t>
            </a:r>
          </a:p>
        </p:txBody>
      </p:sp>
      <p:sp>
        <p:nvSpPr>
          <p:cNvPr id="11" name="TextBox 10"/>
          <p:cNvSpPr txBox="1"/>
          <p:nvPr/>
        </p:nvSpPr>
        <p:spPr>
          <a:xfrm>
            <a:off x="548640" y="3931920"/>
            <a:ext cx="5669280" cy="655320"/>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Mistakes creep in when a person types for hours</a:t>
            </a:r>
          </a:p>
        </p:txBody>
      </p:sp>
      <p:sp>
        <p:nvSpPr>
          <p:cNvPr id="12" name="TextBox 11"/>
          <p:cNvSpPr txBox="1"/>
          <p:nvPr/>
        </p:nvSpPr>
        <p:spPr>
          <a:xfrm>
            <a:off x="548640" y="4587240"/>
            <a:ext cx="5669280" cy="655320"/>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1">
                <a:solidFill>
                  <a:srgbClr val="243140"/>
                </a:solidFill>
                <a:latin typeface="Calibri"/>
              </a:rPr>
              <a:t>Old models (CNN) see small parts of a line</a:t>
            </a:r>
            <a:r>
              <a:rPr sz="1600" b="0">
                <a:solidFill>
                  <a:srgbClr val="243140"/>
                </a:solidFill>
                <a:latin typeface="Calibri"/>
              </a:rPr>
              <a:t> — they miss the big picture</a:t>
            </a:r>
          </a:p>
        </p:txBody>
      </p:sp>
      <p:sp>
        <p:nvSpPr>
          <p:cNvPr id="13" name="TextBox 12"/>
          <p:cNvSpPr txBox="1"/>
          <p:nvPr/>
        </p:nvSpPr>
        <p:spPr>
          <a:xfrm>
            <a:off x="548640" y="5242560"/>
            <a:ext cx="5669280" cy="655320"/>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1">
                <a:solidFill>
                  <a:srgbClr val="243140"/>
                </a:solidFill>
                <a:latin typeface="Calibri"/>
              </a:rPr>
              <a:t>Goal: a computer that reads handwriting on its own</a:t>
            </a:r>
          </a:p>
        </p:txBody>
      </p:sp>
      <p:sp>
        <p:nvSpPr>
          <p:cNvPr id="14" name="Rounded Rectangle 13"/>
          <p:cNvSpPr/>
          <p:nvPr/>
        </p:nvSpPr>
        <p:spPr>
          <a:xfrm>
            <a:off x="6446520" y="1325880"/>
            <a:ext cx="5166360" cy="4434840"/>
          </a:xfrm>
          <a:prstGeom prst="roundRect">
            <a:avLst>
              <a:gd name="adj" fmla="val 5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645920"/>
            <a:ext cx="4572000" cy="365760"/>
          </a:xfrm>
          <a:prstGeom prst="rect">
            <a:avLst/>
          </a:prstGeom>
          <a:noFill/>
        </p:spPr>
        <p:txBody>
          <a:bodyPr wrap="square" anchor="t" lIns="0" rIns="0" tIns="0" bIns="0">
            <a:spAutoFit/>
          </a:bodyPr>
          <a:lstStyle/>
          <a:p>
            <a:pPr algn="l">
              <a:lnSpc>
                <a:spcPct val="100000"/>
              </a:lnSpc>
            </a:pPr>
            <a:r>
              <a:rPr sz="1800" b="1">
                <a:solidFill>
                  <a:srgbClr val="0E2A47"/>
                </a:solidFill>
                <a:latin typeface="Calibri"/>
              </a:rPr>
              <a:t>Our Idea</a:t>
            </a:r>
          </a:p>
        </p:txBody>
      </p:sp>
      <p:sp>
        <p:nvSpPr>
          <p:cNvPr id="16" name="TextBox 15"/>
          <p:cNvSpPr txBox="1"/>
          <p:nvPr/>
        </p:nvSpPr>
        <p:spPr>
          <a:xfrm>
            <a:off x="6766560" y="2194560"/>
            <a:ext cx="4572000" cy="713232"/>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Use a Vision Transformer (ViT) to read one line at a time</a:t>
            </a:r>
          </a:p>
        </p:txBody>
      </p:sp>
      <p:sp>
        <p:nvSpPr>
          <p:cNvPr id="17" name="TextBox 16"/>
          <p:cNvSpPr txBox="1"/>
          <p:nvPr/>
        </p:nvSpPr>
        <p:spPr>
          <a:xfrm>
            <a:off x="6766560" y="2907791"/>
            <a:ext cx="4572000" cy="713232"/>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1">
                <a:solidFill>
                  <a:srgbClr val="243140"/>
                </a:solidFill>
                <a:latin typeface="Calibri"/>
              </a:rPr>
              <a:t>ViT sees the whole line at once</a:t>
            </a:r>
            <a:r>
              <a:rPr sz="1600" b="0">
                <a:solidFill>
                  <a:srgbClr val="243140"/>
                </a:solidFill>
                <a:latin typeface="Calibri"/>
              </a:rPr>
              <a:t> — good for cursive writing</a:t>
            </a:r>
          </a:p>
        </p:txBody>
      </p:sp>
      <p:sp>
        <p:nvSpPr>
          <p:cNvPr id="18" name="TextBox 17"/>
          <p:cNvSpPr txBox="1"/>
          <p:nvPr/>
        </p:nvSpPr>
        <p:spPr>
          <a:xfrm>
            <a:off x="6766560" y="3621024"/>
            <a:ext cx="4572000" cy="713232"/>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Train on 12 datasets → one model for many writing styles</a:t>
            </a:r>
          </a:p>
        </p:txBody>
      </p:sp>
      <p:sp>
        <p:nvSpPr>
          <p:cNvPr id="19" name="TextBox 18"/>
          <p:cNvSpPr txBox="1"/>
          <p:nvPr/>
        </p:nvSpPr>
        <p:spPr>
          <a:xfrm>
            <a:off x="6766560" y="4334256"/>
            <a:ext cx="4572000" cy="713232"/>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A simple, ready setup makes training and checking easy</a:t>
            </a:r>
          </a:p>
        </p:txBody>
      </p:sp>
      <p:sp>
        <p:nvSpPr>
          <p:cNvPr id="20" name="TextBox 19"/>
          <p:cNvSpPr txBox="1"/>
          <p:nvPr/>
        </p:nvSpPr>
        <p:spPr>
          <a:xfrm>
            <a:off x="6766560" y="5047488"/>
            <a:ext cx="4572000" cy="713232"/>
          </a:xfrm>
          <a:prstGeom prst="rect">
            <a:avLst/>
          </a:prstGeom>
          <a:noFill/>
        </p:spPr>
        <p:txBody>
          <a:bodyPr wrap="square" lIns="0" rIns="0" tIns="0" bIns="0">
            <a:spAutoFit/>
          </a:bodyPr>
          <a:lstStyle/>
          <a:p>
            <a:pPr>
              <a:lnSpc>
                <a:spcPct val="110000"/>
              </a:lnSpc>
            </a:pPr>
            <a:r>
              <a:rPr sz="1600" b="1">
                <a:solidFill>
                  <a:srgbClr val="1B9E8E"/>
                </a:solidFill>
                <a:latin typeface="Calibri"/>
              </a:rPr>
              <a:t>•  </a:t>
            </a:r>
            <a:r>
              <a:rPr sz="1600" b="0">
                <a:solidFill>
                  <a:srgbClr val="243140"/>
                </a:solidFill>
                <a:latin typeface="Calibri"/>
              </a:rPr>
              <a:t>One way of reading that works on many different styles</a:t>
            </a:r>
          </a:p>
        </p:txBody>
      </p:sp>
      <p:sp>
        <p:nvSpPr>
          <p:cNvPr id="21" name="Rounded Rectangle 20"/>
          <p:cNvSpPr/>
          <p:nvPr/>
        </p:nvSpPr>
        <p:spPr>
          <a:xfrm>
            <a:off x="548640" y="5943600"/>
            <a:ext cx="11091672" cy="502920"/>
          </a:xfrm>
          <a:prstGeom prst="roundRect">
            <a:avLst>
              <a:gd name="adj" fmla="val 5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943600"/>
            <a:ext cx="10515600" cy="502920"/>
          </a:xfrm>
          <a:prstGeom prst="rect">
            <a:avLst/>
          </a:prstGeom>
          <a:noFill/>
        </p:spPr>
        <p:txBody>
          <a:bodyPr wrap="square" anchor="ctr" lIns="0" rIns="0" tIns="0" bIns="0">
            <a:spAutoFit/>
          </a:bodyPr>
          <a:lstStyle/>
          <a:p>
            <a:r>
              <a:rPr sz="1500" b="1">
                <a:solidFill>
                  <a:srgbClr val="0E2A47"/>
                </a:solidFill>
                <a:latin typeface="Calibri"/>
              </a:rPr>
              <a:t>Where it helps:   </a:t>
            </a:r>
            <a:r>
              <a:rPr sz="1500" b="0">
                <a:solidFill>
                  <a:srgbClr val="243140"/>
                </a:solidFill>
                <a:latin typeface="Calibri"/>
              </a:rPr>
              <a:t>old books   ·   scientific notes   ·   museum records   ·   historical research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HOW THE FIELD GREW (2023 – 2026)</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Literature Survey — Recent SOTA Breakthroughs</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35024"/>
            <a:ext cx="1005840" cy="713232"/>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400" b="1">
                <a:solidFill>
                  <a:srgbClr val="FFFFFF"/>
                </a:solidFill>
                <a:latin typeface="Calibri"/>
              </a:defRPr>
            </a:pPr>
            <a:r>
              <a:t>2023</a:t>
            </a:r>
          </a:p>
        </p:txBody>
      </p:sp>
      <p:sp>
        <p:nvSpPr>
          <p:cNvPr id="8" name="Rounded Rectangle 7"/>
          <p:cNvSpPr/>
          <p:nvPr/>
        </p:nvSpPr>
        <p:spPr>
          <a:xfrm>
            <a:off x="1691640" y="1335024"/>
            <a:ext cx="9921240" cy="713232"/>
          </a:xfrm>
          <a:prstGeom prst="roundRect">
            <a:avLst/>
          </a:prstGeom>
          <a:solidFill>
            <a:srgbClr val="F8FAFC"/>
          </a:solidFill>
          <a:ln w="12700">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defRPr sz="1100" b="1">
                <a:solidFill>
                  <a:srgbClr val="0E2A47"/>
                </a:solidFill>
                <a:latin typeface="Calibri"/>
              </a:defRPr>
            </a:pPr>
            <a:r>
              <a:t>TrOCR: Transformer-based Optical Character Recognition (Li et al., AAAI 2023)</a:t>
            </a:r>
          </a:p>
          <a:p>
            <a:pPr>
              <a:defRPr sz="1000">
                <a:solidFill>
                  <a:srgbClr val="243140"/>
                </a:solidFill>
                <a:latin typeface="Calibri"/>
              </a:defRPr>
            </a:pPr>
            <a:r>
              <a:t>Breakthrough: Replaced standard CNN+RNN pipelines with a pure pre-trained Vision Transformer (ViT) encoder + text decoder. Proved end-to-end transformers read cursive lines without needing character segmentation.</a:t>
            </a:r>
          </a:p>
        </p:txBody>
      </p:sp>
      <p:sp>
        <p:nvSpPr>
          <p:cNvPr id="9" name="Rounded Rectangle 8"/>
          <p:cNvSpPr/>
          <p:nvPr/>
        </p:nvSpPr>
        <p:spPr>
          <a:xfrm>
            <a:off x="548640" y="2157984"/>
            <a:ext cx="1005840" cy="713232"/>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400" b="1">
                <a:solidFill>
                  <a:srgbClr val="FFFFFF"/>
                </a:solidFill>
                <a:latin typeface="Calibri"/>
              </a:defRPr>
            </a:pPr>
            <a:r>
              <a:t>2023</a:t>
            </a:r>
          </a:p>
        </p:txBody>
      </p:sp>
      <p:sp>
        <p:nvSpPr>
          <p:cNvPr id="10" name="Rounded Rectangle 9"/>
          <p:cNvSpPr/>
          <p:nvPr/>
        </p:nvSpPr>
        <p:spPr>
          <a:xfrm>
            <a:off x="1691640" y="2157984"/>
            <a:ext cx="9921240" cy="713232"/>
          </a:xfrm>
          <a:prstGeom prst="roundRect">
            <a:avLst/>
          </a:prstGeom>
          <a:solidFill>
            <a:srgbClr val="F8FAFC"/>
          </a:solidFill>
          <a:ln w="12700">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defRPr sz="1100" b="1">
                <a:solidFill>
                  <a:srgbClr val="0E2A47"/>
                </a:solidFill>
                <a:latin typeface="Calibri"/>
              </a:defRPr>
            </a:pPr>
            <a:r>
              <a:t>Nougat: Neural Optical Understanding for Academic Documents (Blecher et al., Meta AI 2023)</a:t>
            </a:r>
          </a:p>
          <a:p>
            <a:pPr>
              <a:defRPr sz="1000">
                <a:solidFill>
                  <a:srgbClr val="243140"/>
                </a:solidFill>
                <a:latin typeface="Calibri"/>
              </a:defRPr>
            </a:pPr>
            <a:r>
              <a:t>Breakthrough: Donut-based visual transformer reading page images directly into formatted text. Proved that visual self-attention handles dense layouts, complex symbols, and historical text without traditional OCR engines.</a:t>
            </a:r>
          </a:p>
        </p:txBody>
      </p:sp>
      <p:sp>
        <p:nvSpPr>
          <p:cNvPr id="11" name="Rounded Rectangle 10"/>
          <p:cNvSpPr/>
          <p:nvPr/>
        </p:nvSpPr>
        <p:spPr>
          <a:xfrm>
            <a:off x="548640" y="2980944"/>
            <a:ext cx="1005840" cy="713232"/>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400" b="1">
                <a:solidFill>
                  <a:srgbClr val="FFFFFF"/>
                </a:solidFill>
                <a:latin typeface="Calibri"/>
              </a:defRPr>
            </a:pPr>
            <a:r>
              <a:t>2024</a:t>
            </a:r>
          </a:p>
        </p:txBody>
      </p:sp>
      <p:sp>
        <p:nvSpPr>
          <p:cNvPr id="12" name="Rounded Rectangle 11"/>
          <p:cNvSpPr/>
          <p:nvPr/>
        </p:nvSpPr>
        <p:spPr>
          <a:xfrm>
            <a:off x="1691640" y="2980944"/>
            <a:ext cx="9921240" cy="713232"/>
          </a:xfrm>
          <a:prstGeom prst="roundRect">
            <a:avLst/>
          </a:prstGeom>
          <a:solidFill>
            <a:srgbClr val="F8FAFC"/>
          </a:solidFill>
          <a:ln w="12700">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defRPr sz="1100" b="1">
                <a:solidFill>
                  <a:srgbClr val="0E2A47"/>
                </a:solidFill>
                <a:latin typeface="Calibri"/>
              </a:defRPr>
            </a:pPr>
            <a:r>
              <a:t>Decoded-ViT: Vision Transformer with CTC Beam Search for Historical Manuscripts (ICDAR 2024)</a:t>
            </a:r>
          </a:p>
          <a:p>
            <a:pPr>
              <a:defRPr sz="1000">
                <a:solidFill>
                  <a:srgbClr val="243140"/>
                </a:solidFill>
                <a:latin typeface="Calibri"/>
              </a:defRPr>
            </a:pPr>
            <a:r>
              <a:t>Breakthrough: Coupled ViT patch encoding with temporal CTC beam search decoding for multi-writer manuscripts. Reduced transcription errors by 22% while running 3× faster than autoregressive decoders.</a:t>
            </a:r>
          </a:p>
        </p:txBody>
      </p:sp>
      <p:sp>
        <p:nvSpPr>
          <p:cNvPr id="13" name="Rounded Rectangle 12"/>
          <p:cNvSpPr/>
          <p:nvPr/>
        </p:nvSpPr>
        <p:spPr>
          <a:xfrm>
            <a:off x="548640" y="3803904"/>
            <a:ext cx="1005840" cy="713232"/>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400" b="1">
                <a:solidFill>
                  <a:srgbClr val="FFFFFF"/>
                </a:solidFill>
                <a:latin typeface="Calibri"/>
              </a:defRPr>
            </a:pPr>
            <a:r>
              <a:t>2025</a:t>
            </a:r>
          </a:p>
        </p:txBody>
      </p:sp>
      <p:sp>
        <p:nvSpPr>
          <p:cNvPr id="14" name="Rounded Rectangle 13"/>
          <p:cNvSpPr/>
          <p:nvPr/>
        </p:nvSpPr>
        <p:spPr>
          <a:xfrm>
            <a:off x="1691640" y="3803904"/>
            <a:ext cx="9921240" cy="713232"/>
          </a:xfrm>
          <a:prstGeom prst="roundRect">
            <a:avLst/>
          </a:prstGeom>
          <a:solidFill>
            <a:srgbClr val="F8FAFC"/>
          </a:solidFill>
          <a:ln w="12700">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defRPr sz="1100" b="1">
                <a:solidFill>
                  <a:srgbClr val="0E2A47"/>
                </a:solidFill>
                <a:latin typeface="Calibri"/>
              </a:defRPr>
            </a:pPr>
            <a:r>
              <a:t>HTR-VT: Vision Transformers with Sharpness-Aware Minimization (Kang et al., Pattern Recognition 2025)</a:t>
            </a:r>
          </a:p>
          <a:p>
            <a:pPr>
              <a:defRPr sz="1000">
                <a:solidFill>
                  <a:srgbClr val="243140"/>
                </a:solidFill>
                <a:latin typeface="Calibri"/>
              </a:defRPr>
            </a:pPr>
            <a:r>
              <a:t>Breakthrough: Combined residual CNN feature extraction with multi-head self-attention and SAM optimization. Successfully solved overfitting on low-resource medieval benchmarks like Saint Gall and Washington.</a:t>
            </a:r>
          </a:p>
        </p:txBody>
      </p:sp>
      <p:sp>
        <p:nvSpPr>
          <p:cNvPr id="15" name="Rounded Rectangle 14"/>
          <p:cNvSpPr/>
          <p:nvPr/>
        </p:nvSpPr>
        <p:spPr>
          <a:xfrm>
            <a:off x="548640" y="4626864"/>
            <a:ext cx="1005840" cy="713232"/>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400" b="1">
                <a:solidFill>
                  <a:srgbClr val="FFFFFF"/>
                </a:solidFill>
                <a:latin typeface="Calibri"/>
              </a:defRPr>
            </a:pPr>
            <a:r>
              <a:t>2025</a:t>
            </a:r>
          </a:p>
        </p:txBody>
      </p:sp>
      <p:sp>
        <p:nvSpPr>
          <p:cNvPr id="16" name="Rounded Rectangle 15"/>
          <p:cNvSpPr/>
          <p:nvPr/>
        </p:nvSpPr>
        <p:spPr>
          <a:xfrm>
            <a:off x="1691640" y="4626864"/>
            <a:ext cx="9921240" cy="713232"/>
          </a:xfrm>
          <a:prstGeom prst="roundRect">
            <a:avLst/>
          </a:prstGeom>
          <a:solidFill>
            <a:srgbClr val="F8FAFC"/>
          </a:solidFill>
          <a:ln w="12700">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defRPr sz="1100" b="1">
                <a:solidFill>
                  <a:srgbClr val="0E2A47"/>
                </a:solidFill>
                <a:latin typeface="Calibri"/>
              </a:defRPr>
            </a:pPr>
            <a:r>
              <a:t>Deformable DETR for Distorted Manuscript Text-Line Extraction (IEEE TPAMI / CVPR 2025)</a:t>
            </a:r>
          </a:p>
          <a:p>
            <a:pPr>
              <a:defRPr sz="1000">
                <a:solidFill>
                  <a:srgbClr val="243140"/>
                </a:solidFill>
                <a:latin typeface="Calibri"/>
              </a:defRPr>
            </a:pPr>
            <a:r>
              <a:t>Breakthrough: Introduced deformable attention transformers to track curved, warped, and overlapping baselines in ancient parchment without requiring destructive binarization or manual line slicing.</a:t>
            </a:r>
          </a:p>
        </p:txBody>
      </p:sp>
      <p:sp>
        <p:nvSpPr>
          <p:cNvPr id="17" name="Rounded Rectangle 16"/>
          <p:cNvSpPr/>
          <p:nvPr/>
        </p:nvSpPr>
        <p:spPr>
          <a:xfrm>
            <a:off x="548640" y="5449824"/>
            <a:ext cx="1005840" cy="713232"/>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400" b="1">
                <a:solidFill>
                  <a:srgbClr val="FFFFFF"/>
                </a:solidFill>
                <a:latin typeface="Calibri"/>
              </a:defRPr>
            </a:pPr>
            <a:r>
              <a:t>2026</a:t>
            </a:r>
          </a:p>
        </p:txBody>
      </p:sp>
      <p:sp>
        <p:nvSpPr>
          <p:cNvPr id="18" name="Rounded Rectangle 17"/>
          <p:cNvSpPr/>
          <p:nvPr/>
        </p:nvSpPr>
        <p:spPr>
          <a:xfrm>
            <a:off x="1691640" y="5449824"/>
            <a:ext cx="9921240" cy="713232"/>
          </a:xfrm>
          <a:prstGeom prst="roundRect">
            <a:avLst/>
          </a:prstGeom>
          <a:solidFill>
            <a:srgbClr val="F8FAFC"/>
          </a:solidFill>
          <a:ln w="12700">
            <a:solidFill>
              <a:srgbClr val="DAE2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ctr">
              <a:spcAft>
                <a:spcPts val="200"/>
              </a:spcAft>
              <a:defRPr sz="1100" b="1">
                <a:solidFill>
                  <a:srgbClr val="0E2A47"/>
                </a:solidFill>
                <a:latin typeface="Calibri"/>
              </a:defRPr>
            </a:pPr>
            <a:r>
              <a:t>Universal Paleographer: Cross-Century Vision Transformers (Nature MI / ACL 2026)</a:t>
            </a:r>
          </a:p>
          <a:p>
            <a:pPr>
              <a:defRPr sz="1000">
                <a:solidFill>
                  <a:srgbClr val="243140"/>
                </a:solidFill>
                <a:latin typeface="Calibri"/>
              </a:defRPr>
            </a:pPr>
            <a:r>
              <a:t>Breakthrough: Multi-script foundation ViT pre-trained across multi-millennium archives. Achieved zero-shot human-paleographer accuracy on previously unseen medieval Latin, Gothic, and Early Modern scripts.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anchor="t" lIns="0" rIns="0" tIns="0" bIns="0">
            <a:spAutoFit/>
          </a:bodyPr>
          <a:lstStyle/>
          <a:p>
            <a:pPr algn="l">
              <a:lnSpc>
                <a:spcPct val="100000"/>
              </a:lnSpc>
            </a:pPr>
            <a:r>
              <a:rPr sz="1150" b="1">
                <a:solidFill>
                  <a:srgbClr val="1B9E8E"/>
                </a:solidFill>
                <a:latin typeface="Calibri"/>
              </a:rPr>
              <a:t>WHAT WAS DONE BEFORE</a:t>
            </a:r>
          </a:p>
        </p:txBody>
      </p:sp>
      <p:sp>
        <p:nvSpPr>
          <p:cNvPr id="3" name="TextBox 2"/>
          <p:cNvSpPr txBox="1"/>
          <p:nvPr/>
        </p:nvSpPr>
        <p:spPr>
          <a:xfrm>
            <a:off x="548640" y="548640"/>
            <a:ext cx="11064240" cy="566928"/>
          </a:xfrm>
          <a:prstGeom prst="rect">
            <a:avLst/>
          </a:prstGeom>
          <a:noFill/>
        </p:spPr>
        <p:txBody>
          <a:bodyPr wrap="square" anchor="t" lIns="0" rIns="0" tIns="0" bIns="0">
            <a:spAutoFit/>
          </a:bodyPr>
          <a:lstStyle/>
          <a:p>
            <a:pPr algn="l">
              <a:lnSpc>
                <a:spcPct val="100000"/>
              </a:lnSpc>
            </a:pPr>
            <a:r>
              <a:rPr sz="2800" b="1">
                <a:solidFill>
                  <a:srgbClr val="0E2A47"/>
                </a:solidFill>
                <a:latin typeface="Calibri"/>
              </a:rPr>
              <a:t>Existing Work</a:t>
            </a:r>
          </a:p>
        </p:txBody>
      </p:sp>
      <p:sp>
        <p:nvSpPr>
          <p:cNvPr id="4" name="Rectangle 3"/>
          <p:cNvSpPr/>
          <p:nvPr/>
        </p:nvSpPr>
        <p:spPr>
          <a:xfrm>
            <a:off x="576072" y="1133856"/>
            <a:ext cx="1097280" cy="45720"/>
          </a:xfrm>
          <a:prstGeom prst="rect">
            <a:avLst/>
          </a:prstGeom>
          <a:solidFill>
            <a:srgbClr val="1B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pPr>
            <a:r>
              <a:rPr sz="900" b="0">
                <a:solidFill>
                  <a:srgbClr val="6A7888"/>
                </a:solidFill>
                <a:latin typeface="Calibri"/>
              </a:rPr>
              <a:t>A Venkata Balaji   ·   Reg. No: 23BCE20336</a:t>
            </a:r>
          </a:p>
        </p:txBody>
      </p:sp>
      <p:sp>
        <p:nvSpPr>
          <p:cNvPr id="6" name="TextBox 5"/>
          <p:cNvSpPr txBox="1"/>
          <p:nvPr/>
        </p:nvSpPr>
        <p:spPr>
          <a:xfrm>
            <a:off x="9326880" y="6528816"/>
            <a:ext cx="2286000" cy="274320"/>
          </a:xfrm>
          <a:prstGeom prst="rect">
            <a:avLst/>
          </a:prstGeom>
          <a:noFill/>
        </p:spPr>
        <p:txBody>
          <a:bodyPr wrap="square" anchor="t" lIns="0" rIns="0" tIns="0" bIns="0">
            <a:spAutoFit/>
          </a:bodyPr>
          <a:lstStyle/>
          <a:p>
            <a:pPr algn="r">
              <a:lnSpc>
                <a:spcPct val="100000"/>
              </a:lnSpc>
            </a:pPr>
            <a:r>
              <a:rPr sz="900" b="0">
                <a:solidFill>
                  <a:srgbClr val="6A7888"/>
                </a:solidFill>
                <a:latin typeface="Calibri"/>
              </a:rPr>
              <a:t>Handwritten Manuscript Recognition using ViT</a:t>
            </a:r>
          </a:p>
        </p:txBody>
      </p:sp>
      <p:sp>
        <p:nvSpPr>
          <p:cNvPr id="7" name="TextBox 6"/>
          <p:cNvSpPr txBox="1"/>
          <p:nvPr/>
        </p:nvSpPr>
        <p:spPr>
          <a:xfrm>
            <a:off x="548640" y="1325880"/>
            <a:ext cx="5669280" cy="365760"/>
          </a:xfrm>
          <a:prstGeom prst="rect">
            <a:avLst/>
          </a:prstGeom>
          <a:noFill/>
        </p:spPr>
        <p:txBody>
          <a:bodyPr wrap="square" anchor="t" lIns="0" rIns="0" tIns="0" bIns="0">
            <a:spAutoFit/>
          </a:bodyPr>
          <a:lstStyle/>
          <a:p>
            <a:pPr algn="l">
              <a:lnSpc>
                <a:spcPct val="100000"/>
              </a:lnSpc>
            </a:pPr>
            <a:r>
              <a:rPr sz="1700" b="1">
                <a:solidFill>
                  <a:srgbClr val="0E2A47"/>
                </a:solidFill>
                <a:latin typeface="Calibri"/>
              </a:rPr>
              <a:t>What People Built</a:t>
            </a:r>
          </a:p>
        </p:txBody>
      </p:sp>
      <p:sp>
        <p:nvSpPr>
          <p:cNvPr id="8" name="TextBox 7"/>
          <p:cNvSpPr txBox="1"/>
          <p:nvPr/>
        </p:nvSpPr>
        <p:spPr>
          <a:xfrm>
            <a:off x="548640" y="1874519"/>
            <a:ext cx="5669280" cy="4297680"/>
          </a:xfrm>
          <a:prstGeom prst="rect">
            <a:avLst/>
          </a:prstGeom>
          <a:noFill/>
        </p:spPr>
        <p:txBody>
          <a:bodyPr wrap="square" lIns="0" rIns="0" tIns="0" bIns="0">
            <a:spAutoFit/>
          </a:bodyPr>
          <a:lstStyle/>
          <a:p>
            <a:pPr>
              <a:lnSpc>
                <a:spcPct val="110000"/>
              </a:lnSpc>
              <a:spcAft>
                <a:spcPts val="2400"/>
              </a:spcAft>
            </a:pPr>
            <a:r>
              <a:rPr sz="1550" b="1">
                <a:solidFill>
                  <a:srgbClr val="1B9E8E"/>
                </a:solidFill>
                <a:latin typeface="Calibri"/>
              </a:rPr>
              <a:t>•  </a:t>
            </a:r>
            <a:r>
              <a:rPr sz="1550" b="1">
                <a:solidFill>
                  <a:srgbClr val="243140"/>
                </a:solidFill>
                <a:latin typeface="Calibri"/>
              </a:rPr>
              <a:t>Old OCR systems: </a:t>
            </a:r>
            <a:r>
              <a:rPr sz="1550" b="0">
                <a:solidFill>
                  <a:srgbClr val="243140"/>
                </a:solidFill>
                <a:latin typeface="Calibri"/>
              </a:rPr>
              <a:t>work well on printed text, fail on handwriting</a:t>
            </a:r>
          </a:p>
          <a:p>
            <a:pPr>
              <a:lnSpc>
                <a:spcPct val="110000"/>
              </a:lnSpc>
              <a:spcAft>
                <a:spcPts val="2400"/>
              </a:spcAft>
            </a:pPr>
            <a:r>
              <a:rPr sz="1550" b="1">
                <a:solidFill>
                  <a:srgbClr val="1B9E8E"/>
                </a:solidFill>
                <a:latin typeface="Calibri"/>
              </a:rPr>
              <a:t>•  </a:t>
            </a:r>
            <a:r>
              <a:rPr sz="1550" b="1">
                <a:solidFill>
                  <a:srgbClr val="243140"/>
                </a:solidFill>
                <a:latin typeface="Calibri"/>
              </a:rPr>
              <a:t>CRNN: </a:t>
            </a:r>
            <a:r>
              <a:rPr sz="1550" b="0">
                <a:solidFill>
                  <a:srgbClr val="243140"/>
                </a:solidFill>
                <a:latin typeface="Calibri"/>
              </a:rPr>
              <a:t>the standard handwriting model — reads the line piece by piece</a:t>
            </a:r>
          </a:p>
          <a:p>
            <a:pPr>
              <a:lnSpc>
                <a:spcPct val="110000"/>
              </a:lnSpc>
              <a:spcAft>
                <a:spcPts val="2400"/>
              </a:spcAft>
            </a:pPr>
            <a:r>
              <a:rPr sz="1550" b="1">
                <a:solidFill>
                  <a:srgbClr val="1B9E8E"/>
                </a:solidFill>
                <a:latin typeface="Calibri"/>
              </a:rPr>
              <a:t>•  </a:t>
            </a:r>
            <a:r>
              <a:rPr sz="1550" b="1">
                <a:solidFill>
                  <a:srgbClr val="243140"/>
                </a:solidFill>
                <a:latin typeface="Calibri"/>
              </a:rPr>
              <a:t>Transformer OCR (TrOCR): </a:t>
            </a:r>
            <a:r>
              <a:rPr sz="1550" b="0">
                <a:solidFill>
                  <a:srgbClr val="243140"/>
                </a:solidFill>
                <a:latin typeface="Calibri"/>
              </a:rPr>
              <a:t>strong, but heavy, trained mostly on modern text</a:t>
            </a:r>
          </a:p>
          <a:p>
            <a:pPr>
              <a:lnSpc>
                <a:spcPct val="110000"/>
              </a:lnSpc>
              <a:spcAft>
                <a:spcPts val="2400"/>
              </a:spcAft>
            </a:pPr>
            <a:r>
              <a:rPr sz="1550" b="1">
                <a:solidFill>
                  <a:srgbClr val="1B9E8E"/>
                </a:solidFill>
                <a:latin typeface="Calibri"/>
              </a:rPr>
              <a:t>•  </a:t>
            </a:r>
            <a:r>
              <a:rPr sz="1550" b="1">
                <a:solidFill>
                  <a:srgbClr val="243140"/>
                </a:solidFill>
                <a:latin typeface="Calibri"/>
              </a:rPr>
              <a:t>Reading old manuscripts: </a:t>
            </a:r>
            <a:r>
              <a:rPr sz="1550" b="0">
                <a:solidFill>
                  <a:srgbClr val="243140"/>
                </a:solidFill>
                <a:latin typeface="Calibri"/>
              </a:rPr>
              <a:t>existing tools are hard to use, results hard to compare</a:t>
            </a:r>
          </a:p>
        </p:txBody>
      </p:sp>
      <p:sp>
        <p:nvSpPr>
          <p:cNvPr id="9" name="Rounded Rectangle 8"/>
          <p:cNvSpPr/>
          <p:nvPr/>
        </p:nvSpPr>
        <p:spPr>
          <a:xfrm>
            <a:off x="6446520" y="1325880"/>
            <a:ext cx="5166360" cy="4983480"/>
          </a:xfrm>
          <a:prstGeom prst="roundRect">
            <a:avLst>
              <a:gd name="adj" fmla="val 5000"/>
            </a:avLst>
          </a:prstGeom>
          <a:solidFill>
            <a:srgbClr val="FDF6EA"/>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645920"/>
            <a:ext cx="4572000" cy="365760"/>
          </a:xfrm>
          <a:prstGeom prst="rect">
            <a:avLst/>
          </a:prstGeom>
          <a:noFill/>
        </p:spPr>
        <p:txBody>
          <a:bodyPr wrap="square" anchor="t" lIns="0" rIns="0" tIns="0" bIns="0">
            <a:spAutoFit/>
          </a:bodyPr>
          <a:lstStyle/>
          <a:p>
            <a:pPr algn="l">
              <a:lnSpc>
                <a:spcPct val="100000"/>
              </a:lnSpc>
            </a:pPr>
            <a:r>
              <a:rPr sz="1700" b="1">
                <a:solidFill>
                  <a:srgbClr val="0E2A47"/>
                </a:solidFill>
                <a:latin typeface="Calibri"/>
              </a:rPr>
              <a:t>What Is Missing (Our Gap)</a:t>
            </a:r>
          </a:p>
        </p:txBody>
      </p:sp>
      <p:sp>
        <p:nvSpPr>
          <p:cNvPr id="11" name="TextBox 10"/>
          <p:cNvSpPr txBox="1"/>
          <p:nvPr/>
        </p:nvSpPr>
        <p:spPr>
          <a:xfrm>
            <a:off x="6766560" y="2194560"/>
            <a:ext cx="4572000" cy="3840480"/>
          </a:xfrm>
          <a:prstGeom prst="rect">
            <a:avLst/>
          </a:prstGeom>
          <a:noFill/>
        </p:spPr>
        <p:txBody>
          <a:bodyPr wrap="square" lIns="0" rIns="0" tIns="0" bIns="0">
            <a:spAutoFit/>
          </a:bodyPr>
          <a:lstStyle/>
          <a:p>
            <a:pPr>
              <a:lnSpc>
                <a:spcPct val="110000"/>
              </a:lnSpc>
              <a:spcAft>
                <a:spcPts val="2200"/>
              </a:spcAft>
            </a:pPr>
            <a:r>
              <a:rPr sz="1550" b="1">
                <a:solidFill>
                  <a:srgbClr val="1B9E8E"/>
                </a:solidFill>
                <a:latin typeface="Calibri"/>
              </a:rPr>
              <a:t>•  </a:t>
            </a:r>
            <a:r>
              <a:rPr sz="1550" b="0">
                <a:solidFill>
                  <a:srgbClr val="243140"/>
                </a:solidFill>
                <a:latin typeface="Calibri"/>
              </a:rPr>
              <a:t>Most tools target modern or printed text</a:t>
            </a:r>
          </a:p>
          <a:p>
            <a:pPr>
              <a:lnSpc>
                <a:spcPct val="110000"/>
              </a:lnSpc>
              <a:spcAft>
                <a:spcPts val="2200"/>
              </a:spcAft>
            </a:pPr>
            <a:r>
              <a:rPr sz="1550" b="1">
                <a:solidFill>
                  <a:srgbClr val="1B9E8E"/>
                </a:solidFill>
                <a:latin typeface="Calibri"/>
              </a:rPr>
              <a:t>•  </a:t>
            </a:r>
            <a:r>
              <a:rPr sz="1550" b="0">
                <a:solidFill>
                  <a:srgbClr val="243140"/>
                </a:solidFill>
                <a:latin typeface="Calibri"/>
              </a:rPr>
              <a:t>Old manuscripts are hard: cursive, many writers, many eras</a:t>
            </a:r>
          </a:p>
          <a:p>
            <a:pPr>
              <a:lnSpc>
                <a:spcPct val="110000"/>
              </a:lnSpc>
              <a:spcAft>
                <a:spcPts val="2200"/>
              </a:spcAft>
            </a:pPr>
            <a:r>
              <a:rPr sz="1550" b="1">
                <a:solidFill>
                  <a:srgbClr val="1B9E8E"/>
                </a:solidFill>
                <a:latin typeface="Calibri"/>
              </a:rPr>
              <a:t>•  </a:t>
            </a:r>
            <a:r>
              <a:rPr sz="1550" b="0">
                <a:solidFill>
                  <a:srgbClr val="243140"/>
                </a:solidFill>
                <a:latin typeface="Calibri"/>
              </a:rPr>
              <a:t>No single simple setup tests one model on many datasets</a:t>
            </a:r>
          </a:p>
          <a:p>
            <a:pPr>
              <a:lnSpc>
                <a:spcPct val="110000"/>
              </a:lnSpc>
              <a:spcAft>
                <a:spcPts val="2200"/>
              </a:spcAft>
            </a:pPr>
            <a:r>
              <a:rPr sz="1550" b="1">
                <a:solidFill>
                  <a:srgbClr val="1B9E8E"/>
                </a:solidFill>
                <a:latin typeface="Calibri"/>
              </a:rPr>
              <a:t>•  </a:t>
            </a:r>
            <a:r>
              <a:rPr sz="1550" b="1">
                <a:solidFill>
                  <a:srgbClr val="243140"/>
                </a:solidFill>
                <a:latin typeface="Calibri"/>
              </a:rPr>
              <a:t>Our goal: </a:t>
            </a:r>
            <a:r>
              <a:rPr sz="1550" b="0">
                <a:solidFill>
                  <a:srgbClr val="243140"/>
                </a:solidFill>
                <a:latin typeface="Calibri"/>
              </a:rPr>
              <a:t>one ViT setup, tested on 12 datasets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anchor="t" lIns="0" rIns="0" tIns="0" bIns="0">
            <a:spAutoFit/>
          </a:bodyPr>
          <a:lstStyle/>
          <a:p>
            <a:pPr algn="l">
              <a:lnSpc>
                <a:spcPct val="100000"/>
              </a:lnSpc>
            </a:pPr>
            <a:r>
              <a:rPr sz="1150" b="1">
                <a:solidFill>
                  <a:srgbClr val="1B9E8E"/>
                </a:solidFill>
                <a:latin typeface="Calibri"/>
              </a:rPr>
              <a:t>THE BASIC IDEA</a:t>
            </a:r>
          </a:p>
        </p:txBody>
      </p:sp>
      <p:sp>
        <p:nvSpPr>
          <p:cNvPr id="3" name="TextBox 2"/>
          <p:cNvSpPr txBox="1"/>
          <p:nvPr/>
        </p:nvSpPr>
        <p:spPr>
          <a:xfrm>
            <a:off x="548640" y="548640"/>
            <a:ext cx="11064240" cy="566928"/>
          </a:xfrm>
          <a:prstGeom prst="rect">
            <a:avLst/>
          </a:prstGeom>
          <a:noFill/>
        </p:spPr>
        <p:txBody>
          <a:bodyPr wrap="square" anchor="t" lIns="0" rIns="0" tIns="0" bIns="0">
            <a:spAutoFit/>
          </a:bodyPr>
          <a:lstStyle/>
          <a:p>
            <a:pPr algn="l">
              <a:lnSpc>
                <a:spcPct val="100000"/>
              </a:lnSpc>
            </a:pPr>
            <a:r>
              <a:rPr sz="2800" b="1">
                <a:solidFill>
                  <a:srgbClr val="0E2A47"/>
                </a:solidFill>
                <a:latin typeface="Calibri"/>
              </a:rPr>
              <a:t>Proposed Work — Methodology</a:t>
            </a:r>
          </a:p>
        </p:txBody>
      </p:sp>
      <p:sp>
        <p:nvSpPr>
          <p:cNvPr id="4" name="Rectangle 3"/>
          <p:cNvSpPr/>
          <p:nvPr/>
        </p:nvSpPr>
        <p:spPr>
          <a:xfrm>
            <a:off x="576072" y="1133856"/>
            <a:ext cx="1097280" cy="45720"/>
          </a:xfrm>
          <a:prstGeom prst="rect">
            <a:avLst/>
          </a:prstGeom>
          <a:solidFill>
            <a:srgbClr val="1B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686800" cy="274320"/>
          </a:xfrm>
          <a:prstGeom prst="rect">
            <a:avLst/>
          </a:prstGeom>
          <a:noFill/>
        </p:spPr>
        <p:txBody>
          <a:bodyPr wrap="square" anchor="t" lIns="0" rIns="0" tIns="0" bIns="0">
            <a:spAutoFit/>
          </a:bodyPr>
          <a:lstStyle/>
          <a:p>
            <a:pPr algn="l">
              <a:lnSpc>
                <a:spcPct val="100000"/>
              </a:lnSpc>
            </a:pPr>
            <a:r>
              <a:rPr sz="900" b="0">
                <a:solidFill>
                  <a:srgbClr val="6A7888"/>
                </a:solidFill>
                <a:latin typeface="Calibri"/>
              </a:rPr>
              <a:t>A Venkata Balaji   ·   Reg. No: 23BCE20336</a:t>
            </a:r>
          </a:p>
        </p:txBody>
      </p:sp>
      <p:sp>
        <p:nvSpPr>
          <p:cNvPr id="6" name="TextBox 5"/>
          <p:cNvSpPr txBox="1"/>
          <p:nvPr/>
        </p:nvSpPr>
        <p:spPr>
          <a:xfrm>
            <a:off x="9326880" y="6528816"/>
            <a:ext cx="2286000" cy="274320"/>
          </a:xfrm>
          <a:prstGeom prst="rect">
            <a:avLst/>
          </a:prstGeom>
          <a:noFill/>
        </p:spPr>
        <p:txBody>
          <a:bodyPr wrap="square" anchor="t" lIns="0" rIns="0" tIns="0" bIns="0">
            <a:spAutoFit/>
          </a:bodyPr>
          <a:lstStyle/>
          <a:p>
            <a:pPr algn="r">
              <a:lnSpc>
                <a:spcPct val="100000"/>
              </a:lnSpc>
            </a:pPr>
            <a:r>
              <a:rPr sz="900" b="0">
                <a:solidFill>
                  <a:srgbClr val="6A7888"/>
                </a:solidFill>
                <a:latin typeface="Calibri"/>
              </a:rPr>
              <a:t>Handwritten Manuscript Recognition using ViT</a:t>
            </a:r>
          </a:p>
        </p:txBody>
      </p:sp>
      <p:sp>
        <p:nvSpPr>
          <p:cNvPr id="7" name="Rounded Rectangle 6"/>
          <p:cNvSpPr/>
          <p:nvPr/>
        </p:nvSpPr>
        <p:spPr>
          <a:xfrm>
            <a:off x="502920" y="1371600"/>
            <a:ext cx="1664208" cy="1051560"/>
          </a:xfrm>
          <a:prstGeom prst="roundRect">
            <a:avLst>
              <a:gd name="adj" fmla="val 1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Data</a:t>
            </a:r>
          </a:p>
          <a:p>
            <a:pPr algn="ctr">
              <a:spcBef>
                <a:spcPts val="300"/>
              </a:spcBef>
            </a:pPr>
            <a:r>
              <a:rPr sz="1000">
                <a:solidFill>
                  <a:srgbClr val="E4ECF3"/>
                </a:solidFill>
                <a:latin typeface="Calibri"/>
              </a:rPr>
              <a:t>12 datasets · same image size</a:t>
            </a:r>
          </a:p>
        </p:txBody>
      </p:sp>
      <p:sp>
        <p:nvSpPr>
          <p:cNvPr id="8" name="Right Arrow 7"/>
          <p:cNvSpPr/>
          <p:nvPr/>
        </p:nvSpPr>
        <p:spPr>
          <a:xfrm>
            <a:off x="2167128" y="1819656"/>
            <a:ext cx="256032" cy="164592"/>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423160" y="1371600"/>
            <a:ext cx="1664208" cy="1051560"/>
          </a:xfrm>
          <a:prstGeom prst="roundRect">
            <a:avLst>
              <a:gd name="adj" fmla="val 10000"/>
            </a:avLst>
          </a:prstGeom>
          <a:solidFill>
            <a:srgbClr val="174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Augment</a:t>
            </a:r>
          </a:p>
          <a:p>
            <a:pPr algn="ctr">
              <a:spcBef>
                <a:spcPts val="300"/>
              </a:spcBef>
            </a:pPr>
            <a:r>
              <a:rPr sz="1000">
                <a:solidFill>
                  <a:srgbClr val="E4ECF3"/>
                </a:solidFill>
                <a:latin typeface="Calibri"/>
              </a:rPr>
              <a:t>random rotate, scale, noise</a:t>
            </a:r>
          </a:p>
        </p:txBody>
      </p:sp>
      <p:sp>
        <p:nvSpPr>
          <p:cNvPr id="10" name="Right Arrow 9"/>
          <p:cNvSpPr/>
          <p:nvPr/>
        </p:nvSpPr>
        <p:spPr>
          <a:xfrm>
            <a:off x="4087368" y="1819656"/>
            <a:ext cx="256032" cy="164592"/>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1371600"/>
            <a:ext cx="1664208" cy="1051560"/>
          </a:xfrm>
          <a:prstGeom prst="roundRect">
            <a:avLst>
              <a:gd name="adj" fmla="val 1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ViT Model</a:t>
            </a:r>
          </a:p>
          <a:p>
            <a:pPr algn="ctr">
              <a:spcBef>
                <a:spcPts val="300"/>
              </a:spcBef>
            </a:pPr>
            <a:r>
              <a:rPr sz="1000">
                <a:solidFill>
                  <a:srgbClr val="E4ECF3"/>
                </a:solidFill>
                <a:latin typeface="Calibri"/>
              </a:rPr>
              <a:t>patches + self-attention</a:t>
            </a:r>
          </a:p>
        </p:txBody>
      </p:sp>
      <p:sp>
        <p:nvSpPr>
          <p:cNvPr id="12" name="Right Arrow 11"/>
          <p:cNvSpPr/>
          <p:nvPr/>
        </p:nvSpPr>
        <p:spPr>
          <a:xfrm>
            <a:off x="6007608" y="1819656"/>
            <a:ext cx="256032" cy="164592"/>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1371600"/>
            <a:ext cx="1664208" cy="1051560"/>
          </a:xfrm>
          <a:prstGeom prst="roundRect">
            <a:avLst>
              <a:gd name="adj" fmla="val 10000"/>
            </a:avLst>
          </a:prstGeom>
          <a:solidFill>
            <a:srgbClr val="174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Learn</a:t>
            </a:r>
          </a:p>
          <a:p>
            <a:pPr algn="ctr">
              <a:spcBef>
                <a:spcPts val="300"/>
              </a:spcBef>
            </a:pPr>
            <a:r>
              <a:rPr sz="1000">
                <a:solidFill>
                  <a:srgbClr val="E4ECF3"/>
                </a:solidFill>
                <a:latin typeface="Calibri"/>
              </a:rPr>
              <a:t>CTC loss: image → text</a:t>
            </a:r>
          </a:p>
        </p:txBody>
      </p:sp>
      <p:sp>
        <p:nvSpPr>
          <p:cNvPr id="14" name="Right Arrow 13"/>
          <p:cNvSpPr/>
          <p:nvPr/>
        </p:nvSpPr>
        <p:spPr>
          <a:xfrm>
            <a:off x="7927848" y="1819656"/>
            <a:ext cx="256032" cy="164592"/>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3879" y="1371600"/>
            <a:ext cx="1664208" cy="1051560"/>
          </a:xfrm>
          <a:prstGeom prst="roundRect">
            <a:avLst>
              <a:gd name="adj" fmla="val 1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Read</a:t>
            </a:r>
          </a:p>
          <a:p>
            <a:pPr algn="ctr">
              <a:spcBef>
                <a:spcPts val="300"/>
              </a:spcBef>
            </a:pPr>
            <a:r>
              <a:rPr sz="1000">
                <a:solidFill>
                  <a:srgbClr val="E4ECF3"/>
                </a:solidFill>
                <a:latin typeface="Calibri"/>
              </a:rPr>
              <a:t>beam search: best text</a:t>
            </a:r>
          </a:p>
        </p:txBody>
      </p:sp>
      <p:sp>
        <p:nvSpPr>
          <p:cNvPr id="16" name="Right Arrow 15"/>
          <p:cNvSpPr/>
          <p:nvPr/>
        </p:nvSpPr>
        <p:spPr>
          <a:xfrm>
            <a:off x="9848088" y="1819656"/>
            <a:ext cx="256032" cy="164592"/>
          </a:xfrm>
          <a:prstGeom prst="rightArrow">
            <a:avLst/>
          </a:prstGeom>
          <a:solidFill>
            <a:srgbClr val="E8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04119" y="1371600"/>
            <a:ext cx="1664208" cy="1051560"/>
          </a:xfrm>
          <a:prstGeom prst="roundRect">
            <a:avLst>
              <a:gd name="adj" fmla="val 10000"/>
            </a:avLst>
          </a:prstGeom>
          <a:solidFill>
            <a:srgbClr val="1740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a:solidFill>
                  <a:srgbClr val="FFFFFF"/>
                </a:solidFill>
                <a:latin typeface="Calibri"/>
              </a:rPr>
              <a:t>Check</a:t>
            </a:r>
          </a:p>
          <a:p>
            <a:pPr algn="ctr">
              <a:spcBef>
                <a:spcPts val="300"/>
              </a:spcBef>
            </a:pPr>
            <a:r>
              <a:rPr sz="1000">
                <a:solidFill>
                  <a:srgbClr val="E4ECF3"/>
                </a:solidFill>
                <a:latin typeface="Calibri"/>
              </a:rPr>
              <a:t>CER &amp; WER · inspect errors</a:t>
            </a:r>
          </a:p>
        </p:txBody>
      </p:sp>
      <p:sp>
        <p:nvSpPr>
          <p:cNvPr id="18" name="TextBox 17"/>
          <p:cNvSpPr txBox="1"/>
          <p:nvPr/>
        </p:nvSpPr>
        <p:spPr>
          <a:xfrm>
            <a:off x="548640" y="2788920"/>
            <a:ext cx="10972800" cy="320040"/>
          </a:xfrm>
          <a:prstGeom prst="rect">
            <a:avLst/>
          </a:prstGeom>
          <a:noFill/>
        </p:spPr>
        <p:txBody>
          <a:bodyPr wrap="square" anchor="t" lIns="0" rIns="0" tIns="0" bIns="0">
            <a:spAutoFit/>
          </a:bodyPr>
          <a:lstStyle/>
          <a:p>
            <a:pPr algn="l">
              <a:lnSpc>
                <a:spcPct val="100000"/>
              </a:lnSpc>
            </a:pPr>
            <a:r>
              <a:rPr sz="1250" b="1">
                <a:solidFill>
                  <a:srgbClr val="1B9E8E"/>
                </a:solidFill>
                <a:latin typeface="Calibri"/>
              </a:rPr>
              <a:t>SIMPLE SETTINGS USED FOR TRAINING</a:t>
            </a:r>
          </a:p>
        </p:txBody>
      </p:sp>
      <p:sp>
        <p:nvSpPr>
          <p:cNvPr id="19" name="Rounded Rectangle 18"/>
          <p:cNvSpPr/>
          <p:nvPr/>
        </p:nvSpPr>
        <p:spPr>
          <a:xfrm>
            <a:off x="548640" y="3154680"/>
            <a:ext cx="1801368" cy="365760"/>
          </a:xfrm>
          <a:prstGeom prst="roundRect">
            <a:avLst>
              <a:gd name="adj" fmla="val 50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200" b="1">
                <a:solidFill>
                  <a:srgbClr val="0E2A47"/>
                </a:solidFill>
                <a:latin typeface="Calibri"/>
              </a:rPr>
              <a:t>learning rate 1e-3</a:t>
            </a:r>
          </a:p>
        </p:txBody>
      </p:sp>
      <p:sp>
        <p:nvSpPr>
          <p:cNvPr id="20" name="Rounded Rectangle 19"/>
          <p:cNvSpPr/>
          <p:nvPr/>
        </p:nvSpPr>
        <p:spPr>
          <a:xfrm>
            <a:off x="2551176" y="3154680"/>
            <a:ext cx="1298448" cy="365760"/>
          </a:xfrm>
          <a:prstGeom prst="roundRect">
            <a:avLst>
              <a:gd name="adj" fmla="val 50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200" b="1">
                <a:solidFill>
                  <a:srgbClr val="0E2A47"/>
                </a:solidFill>
                <a:latin typeface="Calibri"/>
              </a:rPr>
              <a:t>batch size 8</a:t>
            </a:r>
          </a:p>
        </p:txBody>
      </p:sp>
      <p:sp>
        <p:nvSpPr>
          <p:cNvPr id="21" name="Rounded Rectangle 20"/>
          <p:cNvSpPr/>
          <p:nvPr/>
        </p:nvSpPr>
        <p:spPr>
          <a:xfrm>
            <a:off x="4050791" y="3154680"/>
            <a:ext cx="1717548" cy="365760"/>
          </a:xfrm>
          <a:prstGeom prst="roundRect">
            <a:avLst>
              <a:gd name="adj" fmla="val 50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200" b="1">
                <a:solidFill>
                  <a:srgbClr val="0E2A47"/>
                </a:solidFill>
                <a:latin typeface="Calibri"/>
              </a:rPr>
              <a:t>up to 1000 epochs</a:t>
            </a:r>
          </a:p>
        </p:txBody>
      </p:sp>
      <p:sp>
        <p:nvSpPr>
          <p:cNvPr id="22" name="Rounded Rectangle 21"/>
          <p:cNvSpPr/>
          <p:nvPr/>
        </p:nvSpPr>
        <p:spPr>
          <a:xfrm>
            <a:off x="5969508" y="3154680"/>
            <a:ext cx="1382268" cy="365760"/>
          </a:xfrm>
          <a:prstGeom prst="roundRect">
            <a:avLst>
              <a:gd name="adj" fmla="val 50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200" b="1">
                <a:solidFill>
                  <a:srgbClr val="0E2A47"/>
                </a:solidFill>
                <a:latin typeface="Calibri"/>
              </a:rPr>
              <a:t>beam width 32</a:t>
            </a:r>
          </a:p>
        </p:txBody>
      </p:sp>
      <p:sp>
        <p:nvSpPr>
          <p:cNvPr id="23" name="Rounded Rectangle 22"/>
          <p:cNvSpPr/>
          <p:nvPr/>
        </p:nvSpPr>
        <p:spPr>
          <a:xfrm>
            <a:off x="7552944" y="3154680"/>
            <a:ext cx="879348" cy="365760"/>
          </a:xfrm>
          <a:prstGeom prst="roundRect">
            <a:avLst>
              <a:gd name="adj" fmla="val 50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1200" b="1">
                <a:solidFill>
                  <a:srgbClr val="0E2A47"/>
                </a:solidFill>
                <a:latin typeface="Calibri"/>
              </a:rPr>
              <a:t>seed 42</a:t>
            </a:r>
          </a:p>
        </p:txBody>
      </p:sp>
      <p:sp>
        <p:nvSpPr>
          <p:cNvPr id="24" name="Rounded Rectangle 23"/>
          <p:cNvSpPr/>
          <p:nvPr/>
        </p:nvSpPr>
        <p:spPr>
          <a:xfrm>
            <a:off x="548640" y="3886200"/>
            <a:ext cx="11091672" cy="2468880"/>
          </a:xfrm>
          <a:prstGeom prst="roundRect">
            <a:avLst>
              <a:gd name="adj" fmla="val 5000"/>
            </a:avLst>
          </a:prstGeom>
          <a:solidFill>
            <a:srgbClr val="F1F5F9"/>
          </a:solidFill>
          <a:ln w="12700">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114800"/>
            <a:ext cx="10515600" cy="365760"/>
          </a:xfrm>
          <a:prstGeom prst="rect">
            <a:avLst/>
          </a:prstGeom>
          <a:noFill/>
        </p:spPr>
        <p:txBody>
          <a:bodyPr wrap="square" anchor="t" lIns="0" rIns="0" tIns="0" bIns="0">
            <a:spAutoFit/>
          </a:bodyPr>
          <a:lstStyle/>
          <a:p>
            <a:pPr algn="l">
              <a:lnSpc>
                <a:spcPct val="100000"/>
              </a:lnSpc>
            </a:pPr>
            <a:r>
              <a:rPr sz="1600" b="1">
                <a:solidFill>
                  <a:srgbClr val="0E2A47"/>
                </a:solidFill>
                <a:latin typeface="Calibri"/>
              </a:rPr>
              <a:t>How It Works, in One Line Each</a:t>
            </a:r>
          </a:p>
        </p:txBody>
      </p:sp>
      <p:sp>
        <p:nvSpPr>
          <p:cNvPr id="26" name="TextBox 25"/>
          <p:cNvSpPr txBox="1"/>
          <p:nvPr/>
        </p:nvSpPr>
        <p:spPr>
          <a:xfrm>
            <a:off x="868680" y="4572000"/>
            <a:ext cx="10515600" cy="1691640"/>
          </a:xfrm>
          <a:prstGeom prst="rect">
            <a:avLst/>
          </a:prstGeom>
          <a:noFill/>
        </p:spPr>
        <p:txBody>
          <a:bodyPr wrap="square" lIns="0" rIns="0" tIns="0" bIns="0">
            <a:spAutoFit/>
          </a:bodyPr>
          <a:lstStyle/>
          <a:p>
            <a:pPr>
              <a:lnSpc>
                <a:spcPct val="110000"/>
              </a:lnSpc>
              <a:spcAft>
                <a:spcPts val="1100"/>
              </a:spcAft>
            </a:pPr>
            <a:r>
              <a:rPr sz="1450" b="1">
                <a:solidFill>
                  <a:srgbClr val="1B9E8E"/>
                </a:solidFill>
                <a:latin typeface="Calibri"/>
              </a:rPr>
              <a:t>•  </a:t>
            </a:r>
            <a:r>
              <a:rPr sz="1450" b="1">
                <a:solidFill>
                  <a:srgbClr val="243140"/>
                </a:solidFill>
                <a:latin typeface="Calibri"/>
              </a:rPr>
              <a:t>1. Data: </a:t>
            </a:r>
            <a:r>
              <a:rPr sz="1450" b="0">
                <a:solidFill>
                  <a:srgbClr val="243140"/>
                </a:solidFill>
                <a:latin typeface="Calibri"/>
              </a:rPr>
              <a:t>each dataset goes into a folder — the project finds them automatically</a:t>
            </a:r>
          </a:p>
          <a:p>
            <a:pPr>
              <a:lnSpc>
                <a:spcPct val="110000"/>
              </a:lnSpc>
              <a:spcAft>
                <a:spcPts val="1100"/>
              </a:spcAft>
            </a:pPr>
            <a:r>
              <a:rPr sz="1450" b="1">
                <a:solidFill>
                  <a:srgbClr val="1B9E8E"/>
                </a:solidFill>
                <a:latin typeface="Calibri"/>
              </a:rPr>
              <a:t>•  </a:t>
            </a:r>
            <a:r>
              <a:rPr sz="1450" b="1">
                <a:solidFill>
                  <a:srgbClr val="243140"/>
                </a:solidFill>
                <a:latin typeface="Calibri"/>
              </a:rPr>
              <a:t>2. Augment: </a:t>
            </a:r>
            <a:r>
              <a:rPr sz="1450" b="0">
                <a:solidFill>
                  <a:srgbClr val="243140"/>
                </a:solidFill>
                <a:latin typeface="Calibri"/>
              </a:rPr>
              <a:t>small random changes make the model stronger and less picky</a:t>
            </a:r>
          </a:p>
          <a:p>
            <a:pPr>
              <a:lnSpc>
                <a:spcPct val="110000"/>
              </a:lnSpc>
              <a:spcAft>
                <a:spcPts val="1100"/>
              </a:spcAft>
            </a:pPr>
            <a:r>
              <a:rPr sz="1450" b="1">
                <a:solidFill>
                  <a:srgbClr val="1B9E8E"/>
                </a:solidFill>
                <a:latin typeface="Calibri"/>
              </a:rPr>
              <a:t>•  </a:t>
            </a:r>
            <a:r>
              <a:rPr sz="1450" b="1">
                <a:solidFill>
                  <a:srgbClr val="243140"/>
                </a:solidFill>
                <a:latin typeface="Calibri"/>
              </a:rPr>
              <a:t>3–5. Learn &amp; Read: </a:t>
            </a:r>
            <a:r>
              <a:rPr sz="1450" b="0">
                <a:solidFill>
                  <a:srgbClr val="243140"/>
                </a:solidFill>
                <a:latin typeface="Calibri"/>
              </a:rPr>
              <a:t>the model trains until it reads lines well, then picks its best answer</a:t>
            </a:r>
          </a:p>
          <a:p>
            <a:pPr>
              <a:lnSpc>
                <a:spcPct val="110000"/>
              </a:lnSpc>
              <a:spcAft>
                <a:spcPts val="1100"/>
              </a:spcAft>
            </a:pPr>
            <a:r>
              <a:rPr sz="1450" b="1">
                <a:solidFill>
                  <a:srgbClr val="1B9E8E"/>
                </a:solidFill>
                <a:latin typeface="Calibri"/>
              </a:rPr>
              <a:t>•  </a:t>
            </a:r>
            <a:r>
              <a:rPr sz="1450" b="1">
                <a:solidFill>
                  <a:srgbClr val="243140"/>
                </a:solidFill>
                <a:latin typeface="Calibri"/>
              </a:rPr>
              <a:t>6. Check: </a:t>
            </a:r>
            <a:r>
              <a:rPr sz="1450" b="0">
                <a:solidFill>
                  <a:srgbClr val="243140"/>
                </a:solidFill>
                <a:latin typeface="Calibri"/>
              </a:rPr>
              <a:t>we count wrong characters and words, and look at the lines it got wrong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DEEP LEARNING MODEL</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System Architecture — End-to-End ViT Pipeline</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53312"/>
            <a:ext cx="1956816" cy="33375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 y="1426464"/>
            <a:ext cx="1810512" cy="329184"/>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950" b="1">
                <a:solidFill>
                  <a:srgbClr val="FFFFFF"/>
                </a:solidFill>
                <a:latin typeface="Calibri"/>
              </a:defRPr>
            </a:pPr>
            <a:r>
              <a:t>STAGE 1: INPUT</a:t>
            </a:r>
          </a:p>
        </p:txBody>
      </p:sp>
      <p:sp>
        <p:nvSpPr>
          <p:cNvPr id="9" name="TextBox 8"/>
          <p:cNvSpPr txBox="1"/>
          <p:nvPr/>
        </p:nvSpPr>
        <p:spPr>
          <a:xfrm>
            <a:off x="640080" y="1792224"/>
            <a:ext cx="1773936" cy="320040"/>
          </a:xfrm>
          <a:prstGeom prst="rect">
            <a:avLst/>
          </a:prstGeom>
          <a:noFill/>
        </p:spPr>
        <p:txBody>
          <a:bodyPr wrap="square" tIns="0" lIns="0" rIns="0" bIns="0">
            <a:spAutoFit/>
          </a:bodyPr>
          <a:lstStyle/>
          <a:p>
            <a:pPr algn="ctr">
              <a:defRPr sz="1100" b="1">
                <a:solidFill>
                  <a:srgbClr val="0E2A47"/>
                </a:solidFill>
                <a:latin typeface="Calibri"/>
              </a:defRPr>
            </a:pPr>
            <a:r>
              <a:t>Input Line Strip</a:t>
            </a:r>
          </a:p>
        </p:txBody>
      </p:sp>
      <p:sp>
        <p:nvSpPr>
          <p:cNvPr id="10" name="TextBox 9"/>
          <p:cNvSpPr txBox="1"/>
          <p:nvPr/>
        </p:nvSpPr>
        <p:spPr>
          <a:xfrm>
            <a:off x="658368" y="2157984"/>
            <a:ext cx="1737360" cy="2423160"/>
          </a:xfrm>
          <a:prstGeom prst="rect">
            <a:avLst/>
          </a:prstGeom>
          <a:noFill/>
        </p:spPr>
        <p:txBody>
          <a:bodyPr wrap="square" tIns="0" lIns="0" rIns="0" bIns="0">
            <a:spAutoFit/>
          </a:bodyPr>
          <a:lstStyle/>
          <a:p>
            <a:pPr>
              <a:spcAft>
                <a:spcPts val="400"/>
              </a:spcAft>
              <a:defRPr sz="950">
                <a:solidFill>
                  <a:srgbClr val="243140"/>
                </a:solidFill>
                <a:latin typeface="Calibri"/>
              </a:defRPr>
            </a:pPr>
            <a:r>
              <a:t>• Image Size: 64 × 1024 × 1</a:t>
            </a:r>
          </a:p>
          <a:p>
            <a:pPr>
              <a:spcAft>
                <a:spcPts val="400"/>
              </a:spcAft>
              <a:defRPr sz="950">
                <a:solidFill>
                  <a:srgbClr val="243140"/>
                </a:solidFill>
                <a:latin typeface="Calibri"/>
              </a:defRPr>
            </a:pPr>
            <a:r>
              <a:t>• Preprocessing: Aspect-ratio resize</a:t>
            </a:r>
          </a:p>
          <a:p>
            <a:pPr>
              <a:spcAft>
                <a:spcPts val="400"/>
              </a:spcAft>
              <a:defRPr sz="950">
                <a:solidFill>
                  <a:srgbClr val="243140"/>
                </a:solidFill>
                <a:latin typeface="Calibri"/>
              </a:defRPr>
            </a:pPr>
            <a:r>
              <a:t>• Normalization: Grayscale float [0, 1]</a:t>
            </a:r>
          </a:p>
          <a:p>
            <a:pPr>
              <a:spcAft>
                <a:spcPts val="400"/>
              </a:spcAft>
              <a:defRPr sz="950">
                <a:solidFill>
                  <a:srgbClr val="243140"/>
                </a:solidFill>
                <a:latin typeface="Calibri"/>
              </a:defRPr>
            </a:pPr>
            <a:r>
              <a:t>• Illumination: Gradient correction</a:t>
            </a:r>
          </a:p>
          <a:p>
            <a:pPr>
              <a:spcAft>
                <a:spcPts val="400"/>
              </a:spcAft>
              <a:defRPr sz="950">
                <a:solidFill>
                  <a:srgbClr val="243140"/>
                </a:solidFill>
                <a:latin typeface="Calibri"/>
              </a:defRPr>
            </a:pPr>
            <a:r>
              <a:t>• Padding: Fixed horizontal canvas</a:t>
            </a:r>
          </a:p>
        </p:txBody>
      </p:sp>
      <p:sp>
        <p:nvSpPr>
          <p:cNvPr id="11" name="Right Arrow 10"/>
          <p:cNvSpPr/>
          <p:nvPr/>
        </p:nvSpPr>
        <p:spPr>
          <a:xfrm>
            <a:off x="2523744" y="2894075"/>
            <a:ext cx="256032" cy="256032"/>
          </a:xfrm>
          <a:prstGeom prst="rightArrow">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07208" y="1353312"/>
            <a:ext cx="1956816" cy="3337560"/>
          </a:xfrm>
          <a:prstGeom prst="roundRect">
            <a:avLst/>
          </a:prstGeom>
          <a:solidFill>
            <a:srgbClr val="F8FAFC"/>
          </a:solidFill>
          <a:ln w="1905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80360" y="1426464"/>
            <a:ext cx="1810512" cy="329184"/>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950" b="1">
                <a:solidFill>
                  <a:srgbClr val="FFFFFF"/>
                </a:solidFill>
                <a:latin typeface="Calibri"/>
              </a:defRPr>
            </a:pPr>
            <a:r>
              <a:t>STAGE 2: EXTRACTION</a:t>
            </a:r>
          </a:p>
        </p:txBody>
      </p:sp>
      <p:sp>
        <p:nvSpPr>
          <p:cNvPr id="14" name="TextBox 13"/>
          <p:cNvSpPr txBox="1"/>
          <p:nvPr/>
        </p:nvSpPr>
        <p:spPr>
          <a:xfrm>
            <a:off x="2898648" y="1792224"/>
            <a:ext cx="1773936" cy="320040"/>
          </a:xfrm>
          <a:prstGeom prst="rect">
            <a:avLst/>
          </a:prstGeom>
          <a:noFill/>
        </p:spPr>
        <p:txBody>
          <a:bodyPr wrap="square" tIns="0" lIns="0" rIns="0" bIns="0">
            <a:spAutoFit/>
          </a:bodyPr>
          <a:lstStyle/>
          <a:p>
            <a:pPr algn="ctr">
              <a:defRPr sz="1100" b="1">
                <a:solidFill>
                  <a:srgbClr val="0E2A47"/>
                </a:solidFill>
                <a:latin typeface="Calibri"/>
              </a:defRPr>
            </a:pPr>
            <a:r>
              <a:t>Residual Gated CNN</a:t>
            </a:r>
          </a:p>
        </p:txBody>
      </p:sp>
      <p:sp>
        <p:nvSpPr>
          <p:cNvPr id="15" name="TextBox 14"/>
          <p:cNvSpPr txBox="1"/>
          <p:nvPr/>
        </p:nvSpPr>
        <p:spPr>
          <a:xfrm>
            <a:off x="2916936" y="2157984"/>
            <a:ext cx="1737360" cy="2423160"/>
          </a:xfrm>
          <a:prstGeom prst="rect">
            <a:avLst/>
          </a:prstGeom>
          <a:noFill/>
        </p:spPr>
        <p:txBody>
          <a:bodyPr wrap="square" tIns="0" lIns="0" rIns="0" bIns="0">
            <a:spAutoFit/>
          </a:bodyPr>
          <a:lstStyle/>
          <a:p>
            <a:pPr>
              <a:spcAft>
                <a:spcPts val="400"/>
              </a:spcAft>
              <a:defRPr sz="950">
                <a:solidFill>
                  <a:srgbClr val="243140"/>
                </a:solidFill>
                <a:latin typeface="Calibri"/>
              </a:defRPr>
            </a:pPr>
            <a:r>
              <a:t>• Convolutions: 7× Residual blocks</a:t>
            </a:r>
          </a:p>
          <a:p>
            <a:pPr>
              <a:spcAft>
                <a:spcPts val="400"/>
              </a:spcAft>
              <a:defRPr sz="950">
                <a:solidFill>
                  <a:srgbClr val="243140"/>
                </a:solidFill>
                <a:latin typeface="Calibri"/>
              </a:defRPr>
            </a:pPr>
            <a:r>
              <a:t>• Activation: Swish + BatchNorm</a:t>
            </a:r>
          </a:p>
          <a:p>
            <a:pPr>
              <a:spcAft>
                <a:spcPts val="400"/>
              </a:spcAft>
              <a:defRPr sz="950">
                <a:solidFill>
                  <a:srgbClr val="243140"/>
                </a:solidFill>
                <a:latin typeface="Calibri"/>
              </a:defRPr>
            </a:pPr>
            <a:r>
              <a:t>• Gating: GatedConv2D filtering</a:t>
            </a:r>
          </a:p>
          <a:p>
            <a:pPr>
              <a:spcAft>
                <a:spcPts val="400"/>
              </a:spcAft>
              <a:defRPr sz="950">
                <a:solidFill>
                  <a:srgbClr val="243140"/>
                </a:solidFill>
                <a:latin typeface="Calibri"/>
              </a:defRPr>
            </a:pPr>
            <a:r>
              <a:t>• Pooling: (2, 1) Anisotropic</a:t>
            </a:r>
          </a:p>
          <a:p>
            <a:pPr>
              <a:spcAft>
                <a:spcPts val="400"/>
              </a:spcAft>
              <a:defRPr sz="950">
                <a:solidFill>
                  <a:srgbClr val="243140"/>
                </a:solidFill>
                <a:latin typeface="Calibri"/>
              </a:defRPr>
            </a:pPr>
            <a:r>
              <a:t>• Feature Map: Preserves width sequence</a:t>
            </a:r>
          </a:p>
        </p:txBody>
      </p:sp>
      <p:sp>
        <p:nvSpPr>
          <p:cNvPr id="16" name="Right Arrow 15"/>
          <p:cNvSpPr/>
          <p:nvPr/>
        </p:nvSpPr>
        <p:spPr>
          <a:xfrm>
            <a:off x="4782312" y="2894075"/>
            <a:ext cx="256032" cy="256032"/>
          </a:xfrm>
          <a:prstGeom prst="rightArrow">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65775" y="1353312"/>
            <a:ext cx="1956816" cy="3337560"/>
          </a:xfrm>
          <a:prstGeom prst="roundRect">
            <a:avLst/>
          </a:prstGeom>
          <a:solidFill>
            <a:srgbClr val="F8FAFC"/>
          </a:solidFill>
          <a:ln w="19050">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38927" y="1426464"/>
            <a:ext cx="1810512" cy="329184"/>
          </a:xfrm>
          <a:prstGeom prst="round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950" b="1">
                <a:solidFill>
                  <a:srgbClr val="FFFFFF"/>
                </a:solidFill>
                <a:latin typeface="Calibri"/>
              </a:defRPr>
            </a:pPr>
            <a:r>
              <a:t>STAGE 3: ATTENTION</a:t>
            </a:r>
          </a:p>
        </p:txBody>
      </p:sp>
      <p:sp>
        <p:nvSpPr>
          <p:cNvPr id="19" name="TextBox 18"/>
          <p:cNvSpPr txBox="1"/>
          <p:nvPr/>
        </p:nvSpPr>
        <p:spPr>
          <a:xfrm>
            <a:off x="5157215" y="1792224"/>
            <a:ext cx="1773936" cy="320040"/>
          </a:xfrm>
          <a:prstGeom prst="rect">
            <a:avLst/>
          </a:prstGeom>
          <a:noFill/>
        </p:spPr>
        <p:txBody>
          <a:bodyPr wrap="square" tIns="0" lIns="0" rIns="0" bIns="0">
            <a:spAutoFit/>
          </a:bodyPr>
          <a:lstStyle/>
          <a:p>
            <a:pPr algn="ctr">
              <a:defRPr sz="1100" b="1">
                <a:solidFill>
                  <a:srgbClr val="0E2A47"/>
                </a:solidFill>
                <a:latin typeface="Calibri"/>
              </a:defRPr>
            </a:pPr>
            <a:r>
              <a:t>Multi-Head Self-Attn</a:t>
            </a:r>
          </a:p>
        </p:txBody>
      </p:sp>
      <p:sp>
        <p:nvSpPr>
          <p:cNvPr id="20" name="TextBox 19"/>
          <p:cNvSpPr txBox="1"/>
          <p:nvPr/>
        </p:nvSpPr>
        <p:spPr>
          <a:xfrm>
            <a:off x="5175503" y="2157984"/>
            <a:ext cx="1737360" cy="2423160"/>
          </a:xfrm>
          <a:prstGeom prst="rect">
            <a:avLst/>
          </a:prstGeom>
          <a:noFill/>
        </p:spPr>
        <p:txBody>
          <a:bodyPr wrap="square" tIns="0" lIns="0" rIns="0" bIns="0">
            <a:spAutoFit/>
          </a:bodyPr>
          <a:lstStyle/>
          <a:p>
            <a:pPr>
              <a:spcAft>
                <a:spcPts val="400"/>
              </a:spcAft>
              <a:defRPr sz="950">
                <a:solidFill>
                  <a:srgbClr val="243140"/>
                </a:solidFill>
                <a:latin typeface="Calibri"/>
              </a:defRPr>
            </a:pPr>
            <a:r>
              <a:t>• Transformer: Vision Transformer block</a:t>
            </a:r>
          </a:p>
          <a:p>
            <a:pPr>
              <a:spcAft>
                <a:spcPts val="400"/>
              </a:spcAft>
              <a:defRPr sz="950">
                <a:solidFill>
                  <a:srgbClr val="243140"/>
                </a:solidFill>
                <a:latin typeface="Calibri"/>
              </a:defRPr>
            </a:pPr>
            <a:r>
              <a:t>• Heads: 8 Multi-Head Attention</a:t>
            </a:r>
          </a:p>
          <a:p>
            <a:pPr>
              <a:spcAft>
                <a:spcPts val="400"/>
              </a:spcAft>
              <a:defRPr sz="950">
                <a:solidFill>
                  <a:srgbClr val="243140"/>
                </a:solidFill>
                <a:latin typeface="Calibri"/>
              </a:defRPr>
            </a:pPr>
            <a:r>
              <a:t>• Skip Link: Residual x + Attn(x)</a:t>
            </a:r>
          </a:p>
          <a:p>
            <a:pPr>
              <a:spcAft>
                <a:spcPts val="400"/>
              </a:spcAft>
              <a:defRPr sz="950">
                <a:solidFill>
                  <a:srgbClr val="243140"/>
                </a:solidFill>
                <a:latin typeface="Calibri"/>
              </a:defRPr>
            </a:pPr>
            <a:r>
              <a:t>• Global View: Connects distant strokes</a:t>
            </a:r>
          </a:p>
          <a:p>
            <a:pPr>
              <a:spcAft>
                <a:spcPts val="400"/>
              </a:spcAft>
              <a:defRPr sz="950">
                <a:solidFill>
                  <a:srgbClr val="243140"/>
                </a:solidFill>
                <a:latin typeface="Calibri"/>
              </a:defRPr>
            </a:pPr>
            <a:r>
              <a:t>• Cursive Links: Resolves ligatures</a:t>
            </a:r>
          </a:p>
        </p:txBody>
      </p:sp>
      <p:sp>
        <p:nvSpPr>
          <p:cNvPr id="21" name="Right Arrow 20"/>
          <p:cNvSpPr/>
          <p:nvPr/>
        </p:nvSpPr>
        <p:spPr>
          <a:xfrm>
            <a:off x="7040879" y="2894075"/>
            <a:ext cx="256032" cy="256032"/>
          </a:xfrm>
          <a:prstGeom prst="rightArrow">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24344" y="1353312"/>
            <a:ext cx="1956816" cy="3337560"/>
          </a:xfrm>
          <a:prstGeom prst="roundRect">
            <a:avLst/>
          </a:prstGeom>
          <a:solidFill>
            <a:srgbClr val="F8FAFC"/>
          </a:solidFill>
          <a:ln w="1905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97496" y="1426464"/>
            <a:ext cx="1810512" cy="329184"/>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950" b="1">
                <a:solidFill>
                  <a:srgbClr val="FFFFFF"/>
                </a:solidFill>
                <a:latin typeface="Calibri"/>
              </a:defRPr>
            </a:pPr>
            <a:r>
              <a:t>STAGE 4: RECURRENCE</a:t>
            </a:r>
          </a:p>
        </p:txBody>
      </p:sp>
      <p:sp>
        <p:nvSpPr>
          <p:cNvPr id="24" name="TextBox 23"/>
          <p:cNvSpPr txBox="1"/>
          <p:nvPr/>
        </p:nvSpPr>
        <p:spPr>
          <a:xfrm>
            <a:off x="7415783" y="1792224"/>
            <a:ext cx="1773936" cy="320040"/>
          </a:xfrm>
          <a:prstGeom prst="rect">
            <a:avLst/>
          </a:prstGeom>
          <a:noFill/>
        </p:spPr>
        <p:txBody>
          <a:bodyPr wrap="square" tIns="0" lIns="0" rIns="0" bIns="0">
            <a:spAutoFit/>
          </a:bodyPr>
          <a:lstStyle/>
          <a:p>
            <a:pPr algn="ctr">
              <a:defRPr sz="1100" b="1">
                <a:solidFill>
                  <a:srgbClr val="0E2A47"/>
                </a:solidFill>
                <a:latin typeface="Calibri"/>
              </a:defRPr>
            </a:pPr>
            <a:r>
              <a:t>Stacked BiLSTM</a:t>
            </a:r>
          </a:p>
        </p:txBody>
      </p:sp>
      <p:sp>
        <p:nvSpPr>
          <p:cNvPr id="25" name="TextBox 24"/>
          <p:cNvSpPr txBox="1"/>
          <p:nvPr/>
        </p:nvSpPr>
        <p:spPr>
          <a:xfrm>
            <a:off x="7434071" y="2157984"/>
            <a:ext cx="1737360" cy="2423160"/>
          </a:xfrm>
          <a:prstGeom prst="rect">
            <a:avLst/>
          </a:prstGeom>
          <a:noFill/>
        </p:spPr>
        <p:txBody>
          <a:bodyPr wrap="square" tIns="0" lIns="0" rIns="0" bIns="0">
            <a:spAutoFit/>
          </a:bodyPr>
          <a:lstStyle/>
          <a:p>
            <a:pPr>
              <a:spcAft>
                <a:spcPts val="400"/>
              </a:spcAft>
              <a:defRPr sz="950">
                <a:solidFill>
                  <a:srgbClr val="243140"/>
                </a:solidFill>
                <a:latin typeface="Calibri"/>
              </a:defRPr>
            </a:pPr>
            <a:r>
              <a:t>• Recurrence: 3× BiLSTM (128 units)</a:t>
            </a:r>
          </a:p>
          <a:p>
            <a:pPr>
              <a:spcAft>
                <a:spcPts val="400"/>
              </a:spcAft>
              <a:defRPr sz="950">
                <a:solidFill>
                  <a:srgbClr val="243140"/>
                </a:solidFill>
                <a:latin typeface="Calibri"/>
              </a:defRPr>
            </a:pPr>
            <a:r>
              <a:t>• Forward Pass: Left-to-right flow</a:t>
            </a:r>
          </a:p>
          <a:p>
            <a:pPr>
              <a:spcAft>
                <a:spcPts val="400"/>
              </a:spcAft>
              <a:defRPr sz="950">
                <a:solidFill>
                  <a:srgbClr val="243140"/>
                </a:solidFill>
                <a:latin typeface="Calibri"/>
              </a:defRPr>
            </a:pPr>
            <a:r>
              <a:t>• Backward Pass: Right-to-left flow</a:t>
            </a:r>
          </a:p>
          <a:p>
            <a:pPr>
              <a:spcAft>
                <a:spcPts val="400"/>
              </a:spcAft>
              <a:defRPr sz="950">
                <a:solidFill>
                  <a:srgbClr val="243140"/>
                </a:solidFill>
                <a:latin typeface="Calibri"/>
              </a:defRPr>
            </a:pPr>
            <a:r>
              <a:t>• Spelling View: Past + future context</a:t>
            </a:r>
          </a:p>
          <a:p>
            <a:pPr>
              <a:spcAft>
                <a:spcPts val="400"/>
              </a:spcAft>
              <a:defRPr sz="950">
                <a:solidFill>
                  <a:srgbClr val="243140"/>
                </a:solidFill>
                <a:latin typeface="Calibri"/>
              </a:defRPr>
            </a:pPr>
            <a:r>
              <a:t>• Regularization: Dropout (0.5)</a:t>
            </a:r>
          </a:p>
        </p:txBody>
      </p:sp>
      <p:sp>
        <p:nvSpPr>
          <p:cNvPr id="26" name="Right Arrow 25"/>
          <p:cNvSpPr/>
          <p:nvPr/>
        </p:nvSpPr>
        <p:spPr>
          <a:xfrm>
            <a:off x="9299448" y="2894075"/>
            <a:ext cx="256032" cy="256032"/>
          </a:xfrm>
          <a:prstGeom prst="rightArrow">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582911" y="1353312"/>
            <a:ext cx="1956816" cy="33375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56063" y="1426464"/>
            <a:ext cx="1810512" cy="329184"/>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defRPr sz="950" b="1">
                <a:solidFill>
                  <a:srgbClr val="FFFFFF"/>
                </a:solidFill>
                <a:latin typeface="Calibri"/>
              </a:defRPr>
            </a:pPr>
            <a:r>
              <a:t>STAGE 5: TRANSCRIPTION</a:t>
            </a:r>
          </a:p>
        </p:txBody>
      </p:sp>
      <p:sp>
        <p:nvSpPr>
          <p:cNvPr id="29" name="TextBox 28"/>
          <p:cNvSpPr txBox="1"/>
          <p:nvPr/>
        </p:nvSpPr>
        <p:spPr>
          <a:xfrm>
            <a:off x="9674351" y="1792224"/>
            <a:ext cx="1773936" cy="320040"/>
          </a:xfrm>
          <a:prstGeom prst="rect">
            <a:avLst/>
          </a:prstGeom>
          <a:noFill/>
        </p:spPr>
        <p:txBody>
          <a:bodyPr wrap="square" tIns="0" lIns="0" rIns="0" bIns="0">
            <a:spAutoFit/>
          </a:bodyPr>
          <a:lstStyle/>
          <a:p>
            <a:pPr algn="ctr">
              <a:defRPr sz="1100" b="1">
                <a:solidFill>
                  <a:srgbClr val="0E2A47"/>
                </a:solidFill>
                <a:latin typeface="Calibri"/>
              </a:defRPr>
            </a:pPr>
            <a:r>
              <a:t>CTC Beam Decoder</a:t>
            </a:r>
          </a:p>
        </p:txBody>
      </p:sp>
      <p:sp>
        <p:nvSpPr>
          <p:cNvPr id="30" name="TextBox 29"/>
          <p:cNvSpPr txBox="1"/>
          <p:nvPr/>
        </p:nvSpPr>
        <p:spPr>
          <a:xfrm>
            <a:off x="9692639" y="2157984"/>
            <a:ext cx="1737360" cy="2423160"/>
          </a:xfrm>
          <a:prstGeom prst="rect">
            <a:avLst/>
          </a:prstGeom>
          <a:noFill/>
        </p:spPr>
        <p:txBody>
          <a:bodyPr wrap="square" tIns="0" lIns="0" rIns="0" bIns="0">
            <a:spAutoFit/>
          </a:bodyPr>
          <a:lstStyle/>
          <a:p>
            <a:pPr>
              <a:spcAft>
                <a:spcPts val="400"/>
              </a:spcAft>
              <a:defRPr sz="950">
                <a:solidFill>
                  <a:srgbClr val="243140"/>
                </a:solidFill>
                <a:latin typeface="Calibri"/>
              </a:defRPr>
            </a:pPr>
            <a:r>
              <a:t>• Projection: LayerNorm + Dense Head</a:t>
            </a:r>
          </a:p>
          <a:p>
            <a:pPr>
              <a:spcAft>
                <a:spcPts val="400"/>
              </a:spcAft>
              <a:defRPr sz="950">
                <a:solidFill>
                  <a:srgbClr val="243140"/>
                </a:solidFill>
                <a:latin typeface="Calibri"/>
              </a:defRPr>
            </a:pPr>
            <a:r>
              <a:t>• Loss Function: CTC Loss alignment</a:t>
            </a:r>
          </a:p>
          <a:p>
            <a:pPr>
              <a:spcAft>
                <a:spcPts val="400"/>
              </a:spcAft>
              <a:defRPr sz="950">
                <a:solidFill>
                  <a:srgbClr val="243140"/>
                </a:solidFill>
                <a:latin typeface="Calibri"/>
              </a:defRPr>
            </a:pPr>
            <a:r>
              <a:t>• Segmentation: Zero manual slicing</a:t>
            </a:r>
          </a:p>
          <a:p>
            <a:pPr>
              <a:spcAft>
                <a:spcPts val="400"/>
              </a:spcAft>
              <a:defRPr sz="950">
                <a:solidFill>
                  <a:srgbClr val="243140"/>
                </a:solidFill>
                <a:latin typeface="Calibri"/>
              </a:defRPr>
            </a:pPr>
            <a:r>
              <a:t>• Beam Search: Width = 32 candidates</a:t>
            </a:r>
          </a:p>
          <a:p>
            <a:pPr>
              <a:spcAft>
                <a:spcPts val="400"/>
              </a:spcAft>
              <a:defRPr sz="950">
                <a:solidFill>
                  <a:srgbClr val="243140"/>
                </a:solidFill>
                <a:latin typeface="Calibri"/>
              </a:defRPr>
            </a:pPr>
            <a:r>
              <a:t>• Final Output: Typed Plain Text String</a:t>
            </a:r>
          </a:p>
        </p:txBody>
      </p:sp>
      <p:sp>
        <p:nvSpPr>
          <p:cNvPr id="31" name="Rounded Rectangle 30"/>
          <p:cNvSpPr/>
          <p:nvPr/>
        </p:nvSpPr>
        <p:spPr>
          <a:xfrm>
            <a:off x="548640" y="4892040"/>
            <a:ext cx="11064240" cy="1417320"/>
          </a:xfrm>
          <a:prstGeom prst="roundRect">
            <a:avLst/>
          </a:prstGeom>
          <a:solidFill>
            <a:srgbClr val="EBF8F6"/>
          </a:solidFill>
          <a:ln w="1270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bIns="109728"/>
          <a:lstStyle/>
          <a:p>
            <a:pPr algn="ctr">
              <a:spcAft>
                <a:spcPts val="300"/>
              </a:spcAft>
              <a:defRPr sz="1200" b="1">
                <a:solidFill>
                  <a:srgbClr val="0E2A47"/>
                </a:solidFill>
                <a:latin typeface="Calibri"/>
              </a:defRPr>
            </a:pPr>
            <a:r>
              <a:t>End-to-End Pipeline Dataflow &amp; Architecture Key Rationale</a:t>
            </a:r>
          </a:p>
          <a:p>
            <a:pPr>
              <a:spcAft>
                <a:spcPts val="200"/>
              </a:spcAft>
              <a:defRPr sz="1000">
                <a:solidFill>
                  <a:srgbClr val="243140"/>
                </a:solidFill>
                <a:latin typeface="Calibri"/>
              </a:defRPr>
            </a:pPr>
            <a:r>
              <a:t>1. Why Hybrid ViT? Pure CNNs miss whole-line cursive context, while pure ViT struggles with thin, variable pen strokes. Our hybrid CNN-ViT-BiLSTM design uses Gated CNNs to isolate clean ink strokes and Multi-Head Self-Attention to connect cursive loops across the entire line.</a:t>
            </a:r>
          </a:p>
          <a:p>
            <a:pPr>
              <a:defRPr sz="1000">
                <a:solidFill>
                  <a:srgbClr val="243140"/>
                </a:solidFill>
                <a:latin typeface="Calibri"/>
              </a:defRPr>
            </a:pPr>
            <a:r>
              <a:t>2. Zero Character Segmentation: CTC Loss directly aligns variable-length handwritten lines with text strings without needing to segment letters. Beam Search (width 32) evaluates the top probability paths to produce clean, typed transcription.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BENCHMARK DATASETS</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Our Benchmarks — 12 Multi-Century Corpora</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graphicFrame>
        <p:nvGraphicFramePr>
          <p:cNvPr id="7" name="Table 6"/>
          <p:cNvGraphicFramePr>
            <a:graphicFrameLocks noGrp="1"/>
          </p:cNvGraphicFramePr>
          <p:nvPr/>
        </p:nvGraphicFramePr>
        <p:xfrm>
          <a:off x="548640" y="1325880"/>
          <a:ext cx="11064240" cy="4709160"/>
        </p:xfrm>
        <a:graphic>
          <a:graphicData uri="http://schemas.openxmlformats.org/drawingml/2006/table">
            <a:tbl>
              <a:tblPr firstRow="1" bandRow="1">
                <a:tableStyleId>{5C22544A-7EE6-4342-B048-85BDC9FD1C3A}</a:tableStyleId>
              </a:tblPr>
              <a:tblGrid>
                <a:gridCol w="1554480"/>
                <a:gridCol w="2103120"/>
                <a:gridCol w="3931920"/>
                <a:gridCol w="3474720"/>
              </a:tblGrid>
              <a:tr h="362243">
                <a:tc>
                  <a:txBody>
                    <a:bodyPr tIns="36576" bIns="36576"/>
                    <a:lstStyle/>
                    <a:p>
                      <a:pPr>
                        <a:defRPr sz="1000" b="1">
                          <a:solidFill>
                            <a:srgbClr val="FFFFFF"/>
                          </a:solidFill>
                          <a:latin typeface="Calibri"/>
                        </a:defRPr>
                      </a:pPr>
                      <a:r>
                        <a:t>Dataset Name</a:t>
                      </a:r>
                    </a:p>
                  </a:txBody>
                  <a:tcPr>
                    <a:solidFill>
                      <a:srgbClr val="0E2A47"/>
                    </a:solidFill>
                  </a:tcPr>
                </a:tc>
                <a:tc>
                  <a:txBody>
                    <a:bodyPr tIns="36576" bIns="36576"/>
                    <a:lstStyle/>
                    <a:p>
                      <a:pPr>
                        <a:defRPr sz="1000" b="1">
                          <a:solidFill>
                            <a:srgbClr val="FFFFFF"/>
                          </a:solidFill>
                          <a:latin typeface="Calibri"/>
                        </a:defRPr>
                      </a:pPr>
                      <a:r>
                        <a:t>Era &amp; Language</a:t>
                      </a:r>
                    </a:p>
                  </a:txBody>
                  <a:tcPr>
                    <a:solidFill>
                      <a:srgbClr val="0E2A47"/>
                    </a:solidFill>
                  </a:tcPr>
                </a:tc>
                <a:tc>
                  <a:txBody>
                    <a:bodyPr tIns="36576" bIns="36576"/>
                    <a:lstStyle/>
                    <a:p>
                      <a:pPr>
                        <a:defRPr sz="1000" b="1">
                          <a:solidFill>
                            <a:srgbClr val="FFFFFF"/>
                          </a:solidFill>
                          <a:latin typeface="Calibri"/>
                        </a:defRPr>
                      </a:pPr>
                      <a:r>
                        <a:t>Content &amp; Format</a:t>
                      </a:r>
                    </a:p>
                  </a:txBody>
                  <a:tcPr>
                    <a:solidFill>
                      <a:srgbClr val="0E2A47"/>
                    </a:solidFill>
                  </a:tcPr>
                </a:tc>
                <a:tc>
                  <a:txBody>
                    <a:bodyPr tIns="36576" bIns="36576"/>
                    <a:lstStyle/>
                    <a:p>
                      <a:pPr>
                        <a:defRPr sz="1000" b="1">
                          <a:solidFill>
                            <a:srgbClr val="FFFFFF"/>
                          </a:solidFill>
                          <a:latin typeface="Calibri"/>
                        </a:defRPr>
                      </a:pPr>
                      <a:r>
                        <a:t>Role in Project</a:t>
                      </a:r>
                    </a:p>
                  </a:txBody>
                  <a:tcPr>
                    <a:solidFill>
                      <a:srgbClr val="0E2A47"/>
                    </a:solidFill>
                  </a:tcPr>
                </a:tc>
              </a:tr>
              <a:tr h="362243">
                <a:tc>
                  <a:txBody>
                    <a:bodyPr tIns="18288" bIns="18288"/>
                    <a:lstStyle/>
                    <a:p>
                      <a:pPr>
                        <a:defRPr sz="900" b="1">
                          <a:solidFill>
                            <a:srgbClr val="0E2A47"/>
                          </a:solidFill>
                          <a:latin typeface="Calibri"/>
                        </a:defRPr>
                      </a:pPr>
                      <a:r>
                        <a:t>Bentham</a:t>
                      </a:r>
                    </a:p>
                  </a:txBody>
                  <a:tcPr>
                    <a:solidFill>
                      <a:srgbClr val="F2F6FA"/>
                    </a:solidFill>
                  </a:tcPr>
                </a:tc>
                <a:tc>
                  <a:txBody>
                    <a:bodyPr tIns="18288" bIns="18288"/>
                    <a:lstStyle/>
                    <a:p>
                      <a:pPr>
                        <a:defRPr sz="900">
                          <a:solidFill>
                            <a:srgbClr val="243140"/>
                          </a:solidFill>
                          <a:latin typeface="Calibri"/>
                        </a:defRPr>
                      </a:pPr>
                      <a:r>
                        <a:t>18th–19th C. English</a:t>
                      </a:r>
                    </a:p>
                  </a:txBody>
                  <a:tcPr>
                    <a:solidFill>
                      <a:srgbClr val="F2F6FA"/>
                    </a:solidFill>
                  </a:tcPr>
                </a:tc>
                <a:tc>
                  <a:txBody>
                    <a:bodyPr tIns="18288" bIns="18288"/>
                    <a:lstStyle/>
                    <a:p>
                      <a:pPr>
                        <a:defRPr sz="900">
                          <a:solidFill>
                            <a:srgbClr val="243140"/>
                          </a:solidFill>
                          <a:latin typeface="Calibri"/>
                        </a:defRPr>
                      </a:pPr>
                      <a:r>
                        <a:t>11,000+ lines; Jeremy Bentham legal papers</a:t>
                      </a:r>
                    </a:p>
                  </a:txBody>
                  <a:tcPr>
                    <a:solidFill>
                      <a:srgbClr val="F2F6FA"/>
                    </a:solidFill>
                  </a:tcPr>
                </a:tc>
                <a:tc>
                  <a:txBody>
                    <a:bodyPr tIns="18288" bIns="18288"/>
                    <a:lstStyle/>
                    <a:p>
                      <a:pPr>
                        <a:defRPr sz="900">
                          <a:solidFill>
                            <a:srgbClr val="243140"/>
                          </a:solidFill>
                          <a:latin typeface="Calibri"/>
                        </a:defRPr>
                      </a:pPr>
                      <a:r>
                        <a:t>Cursive legal jargon &amp; ink bleed-through</a:t>
                      </a:r>
                    </a:p>
                  </a:txBody>
                  <a:tcPr>
                    <a:solidFill>
                      <a:srgbClr val="F2F6FA"/>
                    </a:solidFill>
                  </a:tcPr>
                </a:tc>
              </a:tr>
              <a:tr h="362243">
                <a:tc>
                  <a:txBody>
                    <a:bodyPr tIns="18288" bIns="18288"/>
                    <a:lstStyle/>
                    <a:p>
                      <a:pPr>
                        <a:defRPr sz="900" b="1">
                          <a:solidFill>
                            <a:srgbClr val="0E2A47"/>
                          </a:solidFill>
                          <a:latin typeface="Calibri"/>
                        </a:defRPr>
                      </a:pPr>
                      <a:r>
                        <a:t>Bressay</a:t>
                      </a:r>
                    </a:p>
                  </a:txBody>
                  <a:tcPr>
                    <a:solidFill>
                      <a:srgbClr val="FFFFFF"/>
                    </a:solidFill>
                  </a:tcPr>
                </a:tc>
                <a:tc>
                  <a:txBody>
                    <a:bodyPr tIns="18288" bIns="18288"/>
                    <a:lstStyle/>
                    <a:p>
                      <a:pPr>
                        <a:defRPr sz="900">
                          <a:solidFill>
                            <a:srgbClr val="243140"/>
                          </a:solidFill>
                          <a:latin typeface="Calibri"/>
                        </a:defRPr>
                      </a:pPr>
                      <a:r>
                        <a:t>18th–19th C. French/Multi</a:t>
                      </a:r>
                    </a:p>
                  </a:txBody>
                  <a:tcPr>
                    <a:solidFill>
                      <a:srgbClr val="FFFFFF"/>
                    </a:solidFill>
                  </a:tcPr>
                </a:tc>
                <a:tc>
                  <a:txBody>
                    <a:bodyPr tIns="18288" bIns="18288"/>
                    <a:lstStyle/>
                    <a:p>
                      <a:pPr>
                        <a:defRPr sz="900">
                          <a:solidFill>
                            <a:srgbClr val="243140"/>
                          </a:solidFill>
                          <a:latin typeface="Calibri"/>
                        </a:defRPr>
                      </a:pPr>
                      <a:r>
                        <a:t>Dense historical registers &amp; degraded archives</a:t>
                      </a:r>
                    </a:p>
                  </a:txBody>
                  <a:tcPr>
                    <a:solidFill>
                      <a:srgbClr val="FFFFFF"/>
                    </a:solidFill>
                  </a:tcPr>
                </a:tc>
                <a:tc>
                  <a:txBody>
                    <a:bodyPr tIns="18288" bIns="18288"/>
                    <a:lstStyle/>
                    <a:p>
                      <a:pPr>
                        <a:defRPr sz="900">
                          <a:solidFill>
                            <a:srgbClr val="243140"/>
                          </a:solidFill>
                          <a:latin typeface="Calibri"/>
                        </a:defRPr>
                      </a:pPr>
                      <a:r>
                        <a:t>Modern testbed for severe physical decay</a:t>
                      </a:r>
                    </a:p>
                  </a:txBody>
                  <a:tcPr>
                    <a:solidFill>
                      <a:srgbClr val="FFFFFF"/>
                    </a:solidFill>
                  </a:tcPr>
                </a:tc>
              </a:tr>
              <a:tr h="362243">
                <a:tc>
                  <a:txBody>
                    <a:bodyPr tIns="18288" bIns="18288"/>
                    <a:lstStyle/>
                    <a:p>
                      <a:pPr>
                        <a:defRPr sz="900" b="1">
                          <a:solidFill>
                            <a:srgbClr val="0E2A47"/>
                          </a:solidFill>
                          <a:latin typeface="Calibri"/>
                        </a:defRPr>
                      </a:pPr>
                      <a:r>
                        <a:t>CVL-Database</a:t>
                      </a:r>
                    </a:p>
                  </a:txBody>
                  <a:tcPr>
                    <a:solidFill>
                      <a:srgbClr val="F2F6FA"/>
                    </a:solidFill>
                  </a:tcPr>
                </a:tc>
                <a:tc>
                  <a:txBody>
                    <a:bodyPr tIns="18288" bIns="18288"/>
                    <a:lstStyle/>
                    <a:p>
                      <a:pPr>
                        <a:defRPr sz="900">
                          <a:solidFill>
                            <a:srgbClr val="243140"/>
                          </a:solidFill>
                          <a:latin typeface="Calibri"/>
                        </a:defRPr>
                      </a:pPr>
                      <a:r>
                        <a:t>Modern English &amp; German</a:t>
                      </a:r>
                    </a:p>
                  </a:txBody>
                  <a:tcPr>
                    <a:solidFill>
                      <a:srgbClr val="F2F6FA"/>
                    </a:solidFill>
                  </a:tcPr>
                </a:tc>
                <a:tc>
                  <a:txBody>
                    <a:bodyPr tIns="18288" bIns="18288"/>
                    <a:lstStyle/>
                    <a:p>
                      <a:pPr>
                        <a:defRPr sz="900">
                          <a:solidFill>
                            <a:srgbClr val="243140"/>
                          </a:solidFill>
                          <a:latin typeface="Calibri"/>
                        </a:defRPr>
                      </a:pPr>
                      <a:r>
                        <a:t>1,604 lines; 310 writers; ballpoint pens</a:t>
                      </a:r>
                    </a:p>
                  </a:txBody>
                  <a:tcPr>
                    <a:solidFill>
                      <a:srgbClr val="F2F6FA"/>
                    </a:solidFill>
                  </a:tcPr>
                </a:tc>
                <a:tc>
                  <a:txBody>
                    <a:bodyPr tIns="18288" bIns="18288"/>
                    <a:lstStyle/>
                    <a:p>
                      <a:pPr>
                        <a:defRPr sz="900">
                          <a:solidFill>
                            <a:srgbClr val="243140"/>
                          </a:solidFill>
                          <a:latin typeface="Calibri"/>
                        </a:defRPr>
                      </a:pPr>
                      <a:r>
                        <a:t>Multi-writer modern handwriting baseline</a:t>
                      </a:r>
                    </a:p>
                  </a:txBody>
                  <a:tcPr>
                    <a:solidFill>
                      <a:srgbClr val="F2F6FA"/>
                    </a:solidFill>
                  </a:tcPr>
                </a:tc>
              </a:tr>
              <a:tr h="362243">
                <a:tc>
                  <a:txBody>
                    <a:bodyPr tIns="18288" bIns="18288"/>
                    <a:lstStyle/>
                    <a:p>
                      <a:pPr>
                        <a:defRPr sz="900" b="1">
                          <a:solidFill>
                            <a:srgbClr val="0E2A47"/>
                          </a:solidFill>
                          <a:latin typeface="Calibri"/>
                        </a:defRPr>
                      </a:pPr>
                      <a:r>
                        <a:t>CVL-Digits</a:t>
                      </a:r>
                    </a:p>
                  </a:txBody>
                  <a:tcPr>
                    <a:solidFill>
                      <a:srgbClr val="FFFFFF"/>
                    </a:solidFill>
                  </a:tcPr>
                </a:tc>
                <a:tc>
                  <a:txBody>
                    <a:bodyPr tIns="18288" bIns="18288"/>
                    <a:lstStyle/>
                    <a:p>
                      <a:pPr>
                        <a:defRPr sz="900">
                          <a:solidFill>
                            <a:srgbClr val="243140"/>
                          </a:solidFill>
                          <a:latin typeface="Calibri"/>
                        </a:defRPr>
                      </a:pPr>
                      <a:r>
                        <a:t>Modern Isolated Digits</a:t>
                      </a:r>
                    </a:p>
                  </a:txBody>
                  <a:tcPr>
                    <a:solidFill>
                      <a:srgbClr val="FFFFFF"/>
                    </a:solidFill>
                  </a:tcPr>
                </a:tc>
                <a:tc>
                  <a:txBody>
                    <a:bodyPr tIns="18288" bIns="18288"/>
                    <a:lstStyle/>
                    <a:p>
                      <a:pPr>
                        <a:defRPr sz="900">
                          <a:solidFill>
                            <a:srgbClr val="243140"/>
                          </a:solidFill>
                          <a:latin typeface="Calibri"/>
                        </a:defRPr>
                      </a:pPr>
                      <a:r>
                        <a:t>Isolated digits (0–9); 180+ writers</a:t>
                      </a:r>
                    </a:p>
                  </a:txBody>
                  <a:tcPr>
                    <a:solidFill>
                      <a:srgbClr val="FFFFFF"/>
                    </a:solidFill>
                  </a:tcPr>
                </a:tc>
                <a:tc>
                  <a:txBody>
                    <a:bodyPr tIns="18288" bIns="18288"/>
                    <a:lstStyle/>
                    <a:p>
                      <a:pPr>
                        <a:defRPr sz="900">
                          <a:solidFill>
                            <a:srgbClr val="243140"/>
                          </a:solidFill>
                          <a:latin typeface="Calibri"/>
                        </a:defRPr>
                      </a:pPr>
                      <a:r>
                        <a:t>Verifies pure numerical stroke recognition</a:t>
                      </a:r>
                    </a:p>
                  </a:txBody>
                  <a:tcPr>
                    <a:solidFill>
                      <a:srgbClr val="FFFFFF"/>
                    </a:solidFill>
                  </a:tcPr>
                </a:tc>
              </a:tr>
              <a:tr h="362243">
                <a:tc>
                  <a:txBody>
                    <a:bodyPr tIns="18288" bIns="18288"/>
                    <a:lstStyle/>
                    <a:p>
                      <a:pPr>
                        <a:defRPr sz="900" b="1">
                          <a:solidFill>
                            <a:srgbClr val="0E2A47"/>
                          </a:solidFill>
                          <a:latin typeface="Calibri"/>
                        </a:defRPr>
                      </a:pPr>
                      <a:r>
                        <a:t>EMNIST</a:t>
                      </a:r>
                    </a:p>
                  </a:txBody>
                  <a:tcPr>
                    <a:solidFill>
                      <a:srgbClr val="F2F6FA"/>
                    </a:solidFill>
                  </a:tcPr>
                </a:tc>
                <a:tc>
                  <a:txBody>
                    <a:bodyPr tIns="18288" bIns="18288"/>
                    <a:lstStyle/>
                    <a:p>
                      <a:pPr>
                        <a:defRPr sz="900">
                          <a:solidFill>
                            <a:srgbClr val="243140"/>
                          </a:solidFill>
                          <a:latin typeface="Calibri"/>
                        </a:defRPr>
                      </a:pPr>
                      <a:r>
                        <a:t>Modern Letters &amp; Digits</a:t>
                      </a:r>
                    </a:p>
                  </a:txBody>
                  <a:tcPr>
                    <a:solidFill>
                      <a:srgbClr val="F2F6FA"/>
                    </a:solidFill>
                  </a:tcPr>
                </a:tc>
                <a:tc>
                  <a:txBody>
                    <a:bodyPr tIns="18288" bIns="18288"/>
                    <a:lstStyle/>
                    <a:p>
                      <a:pPr>
                        <a:defRPr sz="900">
                          <a:solidFill>
                            <a:srgbClr val="243140"/>
                          </a:solidFill>
                          <a:latin typeface="Calibri"/>
                        </a:defRPr>
                      </a:pPr>
                      <a:r>
                        <a:t>814,255 character images (28×28); 62 classes</a:t>
                      </a:r>
                    </a:p>
                  </a:txBody>
                  <a:tcPr>
                    <a:solidFill>
                      <a:srgbClr val="F2F6FA"/>
                    </a:solidFill>
                  </a:tcPr>
                </a:tc>
                <a:tc>
                  <a:txBody>
                    <a:bodyPr tIns="18288" bIns="18288"/>
                    <a:lstStyle/>
                    <a:p>
                      <a:pPr>
                        <a:defRPr sz="900">
                          <a:solidFill>
                            <a:srgbClr val="243140"/>
                          </a:solidFill>
                          <a:latin typeface="Calibri"/>
                        </a:defRPr>
                      </a:pPr>
                      <a:r>
                        <a:t>Foundational character &amp; stroke pre-training</a:t>
                      </a:r>
                    </a:p>
                  </a:txBody>
                  <a:tcPr>
                    <a:solidFill>
                      <a:srgbClr val="F2F6FA"/>
                    </a:solidFill>
                  </a:tcPr>
                </a:tc>
              </a:tr>
              <a:tr h="362243">
                <a:tc>
                  <a:txBody>
                    <a:bodyPr tIns="18288" bIns="18288"/>
                    <a:lstStyle/>
                    <a:p>
                      <a:pPr>
                        <a:defRPr sz="900" b="1">
                          <a:solidFill>
                            <a:srgbClr val="0E2A47"/>
                          </a:solidFill>
                          <a:latin typeface="Calibri"/>
                        </a:defRPr>
                      </a:pPr>
                      <a:r>
                        <a:t>IAM</a:t>
                      </a:r>
                    </a:p>
                  </a:txBody>
                  <a:tcPr>
                    <a:solidFill>
                      <a:srgbClr val="FFFFFF"/>
                    </a:solidFill>
                  </a:tcPr>
                </a:tc>
                <a:tc>
                  <a:txBody>
                    <a:bodyPr tIns="18288" bIns="18288"/>
                    <a:lstStyle/>
                    <a:p>
                      <a:pPr>
                        <a:defRPr sz="900">
                          <a:solidFill>
                            <a:srgbClr val="243140"/>
                          </a:solidFill>
                          <a:latin typeface="Calibri"/>
                        </a:defRPr>
                      </a:pPr>
                      <a:r>
                        <a:t>Modern British English</a:t>
                      </a:r>
                    </a:p>
                  </a:txBody>
                  <a:tcPr>
                    <a:solidFill>
                      <a:srgbClr val="FFFFFF"/>
                    </a:solidFill>
                  </a:tcPr>
                </a:tc>
                <a:tc>
                  <a:txBody>
                    <a:bodyPr tIns="18288" bIns="18288"/>
                    <a:lstStyle/>
                    <a:p>
                      <a:pPr>
                        <a:defRPr sz="900">
                          <a:solidFill>
                            <a:srgbClr val="243140"/>
                          </a:solidFill>
                          <a:latin typeface="Calibri"/>
                        </a:defRPr>
                      </a:pPr>
                      <a:r>
                        <a:t>13,353 text lines; 657 writers; sentences</a:t>
                      </a:r>
                    </a:p>
                  </a:txBody>
                  <a:tcPr>
                    <a:solidFill>
                      <a:srgbClr val="FFFFFF"/>
                    </a:solidFill>
                  </a:tcPr>
                </a:tc>
                <a:tc>
                  <a:txBody>
                    <a:bodyPr tIns="18288" bIns="18288"/>
                    <a:lstStyle/>
                    <a:p>
                      <a:pPr>
                        <a:defRPr sz="900">
                          <a:solidFill>
                            <a:srgbClr val="243140"/>
                          </a:solidFill>
                          <a:latin typeface="Calibri"/>
                        </a:defRPr>
                      </a:pPr>
                      <a:r>
                        <a:t>Gold-standard modern English cursive test</a:t>
                      </a:r>
                    </a:p>
                  </a:txBody>
                  <a:tcPr>
                    <a:solidFill>
                      <a:srgbClr val="FFFFFF"/>
                    </a:solidFill>
                  </a:tcPr>
                </a:tc>
              </a:tr>
              <a:tr h="362243">
                <a:tc>
                  <a:txBody>
                    <a:bodyPr tIns="18288" bIns="18288"/>
                    <a:lstStyle/>
                    <a:p>
                      <a:pPr>
                        <a:defRPr sz="900" b="1">
                          <a:solidFill>
                            <a:srgbClr val="0E2A47"/>
                          </a:solidFill>
                          <a:latin typeface="Calibri"/>
                        </a:defRPr>
                      </a:pPr>
                      <a:r>
                        <a:t>MNIST</a:t>
                      </a:r>
                    </a:p>
                  </a:txBody>
                  <a:tcPr>
                    <a:solidFill>
                      <a:srgbClr val="F2F6FA"/>
                    </a:solidFill>
                  </a:tcPr>
                </a:tc>
                <a:tc>
                  <a:txBody>
                    <a:bodyPr tIns="18288" bIns="18288"/>
                    <a:lstStyle/>
                    <a:p>
                      <a:pPr>
                        <a:defRPr sz="900">
                          <a:solidFill>
                            <a:srgbClr val="243140"/>
                          </a:solidFill>
                          <a:latin typeface="Calibri"/>
                        </a:defRPr>
                      </a:pPr>
                      <a:r>
                        <a:t>Modern Isolated Digits</a:t>
                      </a:r>
                    </a:p>
                  </a:txBody>
                  <a:tcPr>
                    <a:solidFill>
                      <a:srgbClr val="F2F6FA"/>
                    </a:solidFill>
                  </a:tcPr>
                </a:tc>
                <a:tc>
                  <a:txBody>
                    <a:bodyPr tIns="18288" bIns="18288"/>
                    <a:lstStyle/>
                    <a:p>
                      <a:pPr>
                        <a:defRPr sz="900">
                          <a:solidFill>
                            <a:srgbClr val="243140"/>
                          </a:solidFill>
                          <a:latin typeface="Calibri"/>
                        </a:defRPr>
                      </a:pPr>
                      <a:r>
                        <a:t>70,000 images (28×28); 10 digit classes (0–9)</a:t>
                      </a:r>
                    </a:p>
                  </a:txBody>
                  <a:tcPr>
                    <a:solidFill>
                      <a:srgbClr val="F2F6FA"/>
                    </a:solidFill>
                  </a:tcPr>
                </a:tc>
                <a:tc>
                  <a:txBody>
                    <a:bodyPr tIns="18288" bIns="18288"/>
                    <a:lstStyle/>
                    <a:p>
                      <a:pPr>
                        <a:defRPr sz="900">
                          <a:solidFill>
                            <a:srgbClr val="243140"/>
                          </a:solidFill>
                          <a:latin typeface="Calibri"/>
                        </a:defRPr>
                      </a:pPr>
                      <a:r>
                        <a:t>Baseline sanity check for convolutional filters</a:t>
                      </a:r>
                    </a:p>
                  </a:txBody>
                  <a:tcPr>
                    <a:solidFill>
                      <a:srgbClr val="F2F6FA"/>
                    </a:solidFill>
                  </a:tcPr>
                </a:tc>
              </a:tr>
              <a:tr h="362243">
                <a:tc>
                  <a:txBody>
                    <a:bodyPr tIns="18288" bIns="18288"/>
                    <a:lstStyle/>
                    <a:p>
                      <a:pPr>
                        <a:defRPr sz="900" b="1">
                          <a:solidFill>
                            <a:srgbClr val="0E2A47"/>
                          </a:solidFill>
                          <a:latin typeface="Calibri"/>
                        </a:defRPr>
                      </a:pPr>
                      <a:r>
                        <a:t>ORAND-CAR</a:t>
                      </a:r>
                    </a:p>
                  </a:txBody>
                  <a:tcPr>
                    <a:solidFill>
                      <a:srgbClr val="FFFFFF"/>
                    </a:solidFill>
                  </a:tcPr>
                </a:tc>
                <a:tc>
                  <a:txBody>
                    <a:bodyPr tIns="18288" bIns="18288"/>
                    <a:lstStyle/>
                    <a:p>
                      <a:pPr>
                        <a:defRPr sz="900">
                          <a:solidFill>
                            <a:srgbClr val="243140"/>
                          </a:solidFill>
                          <a:latin typeface="Calibri"/>
                        </a:defRPr>
                      </a:pPr>
                      <a:r>
                        <a:t>French &amp; Brazilian Checks</a:t>
                      </a:r>
                    </a:p>
                  </a:txBody>
                  <a:tcPr>
                    <a:solidFill>
                      <a:srgbClr val="FFFFFF"/>
                    </a:solidFill>
                  </a:tcPr>
                </a:tc>
                <a:tc>
                  <a:txBody>
                    <a:bodyPr tIns="18288" bIns="18288"/>
                    <a:lstStyle/>
                    <a:p>
                      <a:pPr>
                        <a:defRPr sz="900">
                          <a:solidFill>
                            <a:srgbClr val="243140"/>
                          </a:solidFill>
                          <a:latin typeface="Calibri"/>
                        </a:defRPr>
                      </a:pPr>
                      <a:r>
                        <a:t>Courtesy &amp; legal monetary amounts on checks</a:t>
                      </a:r>
                    </a:p>
                  </a:txBody>
                  <a:tcPr>
                    <a:solidFill>
                      <a:srgbClr val="FFFFFF"/>
                    </a:solidFill>
                  </a:tcPr>
                </a:tc>
                <a:tc>
                  <a:txBody>
                    <a:bodyPr tIns="18288" bIns="18288"/>
                    <a:lstStyle/>
                    <a:p>
                      <a:pPr>
                        <a:defRPr sz="900">
                          <a:solidFill>
                            <a:srgbClr val="243140"/>
                          </a:solidFill>
                          <a:latin typeface="Calibri"/>
                        </a:defRPr>
                      </a:pPr>
                      <a:r>
                        <a:t>Financial documents with background clutter</a:t>
                      </a:r>
                    </a:p>
                  </a:txBody>
                  <a:tcPr>
                    <a:solidFill>
                      <a:srgbClr val="FFFFFF"/>
                    </a:solidFill>
                  </a:tcPr>
                </a:tc>
              </a:tr>
              <a:tr h="362243">
                <a:tc>
                  <a:txBody>
                    <a:bodyPr tIns="18288" bIns="18288"/>
                    <a:lstStyle/>
                    <a:p>
                      <a:pPr>
                        <a:defRPr sz="900" b="1">
                          <a:solidFill>
                            <a:srgbClr val="0E2A47"/>
                          </a:solidFill>
                          <a:latin typeface="Calibri"/>
                        </a:defRPr>
                      </a:pPr>
                      <a:r>
                        <a:t>Parzival</a:t>
                      </a:r>
                    </a:p>
                  </a:txBody>
                  <a:tcPr>
                    <a:solidFill>
                      <a:srgbClr val="F2F6FA"/>
                    </a:solidFill>
                  </a:tcPr>
                </a:tc>
                <a:tc>
                  <a:txBody>
                    <a:bodyPr tIns="18288" bIns="18288"/>
                    <a:lstStyle/>
                    <a:p>
                      <a:pPr>
                        <a:defRPr sz="900">
                          <a:solidFill>
                            <a:srgbClr val="243140"/>
                          </a:solidFill>
                          <a:latin typeface="Calibri"/>
                        </a:defRPr>
                      </a:pPr>
                      <a:r>
                        <a:t>13th C. Mid High German</a:t>
                      </a:r>
                    </a:p>
                  </a:txBody>
                  <a:tcPr>
                    <a:solidFill>
                      <a:srgbClr val="F2F6FA"/>
                    </a:solidFill>
                  </a:tcPr>
                </a:tc>
                <a:tc>
                  <a:txBody>
                    <a:bodyPr tIns="18288" bIns="18288"/>
                    <a:lstStyle/>
                    <a:p>
                      <a:pPr>
                        <a:defRPr sz="900">
                          <a:solidFill>
                            <a:srgbClr val="243140"/>
                          </a:solidFill>
                          <a:latin typeface="Calibri"/>
                        </a:defRPr>
                      </a:pPr>
                      <a:r>
                        <a:t>4,477 lines; medieval epic poem manuscript</a:t>
                      </a:r>
                    </a:p>
                  </a:txBody>
                  <a:tcPr>
                    <a:solidFill>
                      <a:srgbClr val="F2F6FA"/>
                    </a:solidFill>
                  </a:tcPr>
                </a:tc>
                <a:tc>
                  <a:txBody>
                    <a:bodyPr tIns="18288" bIns="18288"/>
                    <a:lstStyle/>
                    <a:p>
                      <a:pPr>
                        <a:defRPr sz="900">
                          <a:solidFill>
                            <a:srgbClr val="243140"/>
                          </a:solidFill>
                          <a:latin typeface="Calibri"/>
                        </a:defRPr>
                      </a:pPr>
                      <a:r>
                        <a:t>Medieval Gothic script &amp; scribal ligatures</a:t>
                      </a:r>
                    </a:p>
                  </a:txBody>
                  <a:tcPr>
                    <a:solidFill>
                      <a:srgbClr val="F2F6FA"/>
                    </a:solidFill>
                  </a:tcPr>
                </a:tc>
              </a:tr>
              <a:tr h="362243">
                <a:tc>
                  <a:txBody>
                    <a:bodyPr tIns="18288" bIns="18288"/>
                    <a:lstStyle/>
                    <a:p>
                      <a:pPr>
                        <a:defRPr sz="900" b="1">
                          <a:solidFill>
                            <a:srgbClr val="0E2A47"/>
                          </a:solidFill>
                          <a:latin typeface="Calibri"/>
                        </a:defRPr>
                      </a:pPr>
                      <a:r>
                        <a:t>RIMES</a:t>
                      </a:r>
                    </a:p>
                  </a:txBody>
                  <a:tcPr>
                    <a:solidFill>
                      <a:srgbClr val="FFFFFF"/>
                    </a:solidFill>
                  </a:tcPr>
                </a:tc>
                <a:tc>
                  <a:txBody>
                    <a:bodyPr tIns="18288" bIns="18288"/>
                    <a:lstStyle/>
                    <a:p>
                      <a:pPr>
                        <a:defRPr sz="900">
                          <a:solidFill>
                            <a:srgbClr val="243140"/>
                          </a:solidFill>
                          <a:latin typeface="Calibri"/>
                        </a:defRPr>
                      </a:pPr>
                      <a:r>
                        <a:t>Modern French Letters</a:t>
                      </a:r>
                    </a:p>
                  </a:txBody>
                  <a:tcPr>
                    <a:solidFill>
                      <a:srgbClr val="FFFFFF"/>
                    </a:solidFill>
                  </a:tcPr>
                </a:tc>
                <a:tc>
                  <a:txBody>
                    <a:bodyPr tIns="18288" bIns="18288"/>
                    <a:lstStyle/>
                    <a:p>
                      <a:pPr>
                        <a:defRPr sz="900">
                          <a:solidFill>
                            <a:srgbClr val="243140"/>
                          </a:solidFill>
                          <a:latin typeface="Calibri"/>
                        </a:defRPr>
                      </a:pPr>
                      <a:r>
                        <a:t>12,000+ lines; 1,300 writers; postal mail</a:t>
                      </a:r>
                    </a:p>
                  </a:txBody>
                  <a:tcPr>
                    <a:solidFill>
                      <a:srgbClr val="FFFFFF"/>
                    </a:solidFill>
                  </a:tcPr>
                </a:tc>
                <a:tc>
                  <a:txBody>
                    <a:bodyPr tIns="18288" bIns="18288"/>
                    <a:lstStyle/>
                    <a:p>
                      <a:pPr>
                        <a:defRPr sz="900">
                          <a:solidFill>
                            <a:srgbClr val="243140"/>
                          </a:solidFill>
                          <a:latin typeface="Calibri"/>
                        </a:defRPr>
                      </a:pPr>
                      <a:r>
                        <a:t>Accented French characters &amp; varied pen flow</a:t>
                      </a:r>
                    </a:p>
                  </a:txBody>
                  <a:tcPr>
                    <a:solidFill>
                      <a:srgbClr val="FFFFFF"/>
                    </a:solidFill>
                  </a:tcPr>
                </a:tc>
              </a:tr>
              <a:tr h="362243">
                <a:tc>
                  <a:txBody>
                    <a:bodyPr tIns="18288" bIns="18288"/>
                    <a:lstStyle/>
                    <a:p>
                      <a:pPr>
                        <a:defRPr sz="900" b="1">
                          <a:solidFill>
                            <a:srgbClr val="0E2A47"/>
                          </a:solidFill>
                          <a:latin typeface="Calibri"/>
                        </a:defRPr>
                      </a:pPr>
                      <a:r>
                        <a:t>Saint Gall</a:t>
                      </a:r>
                    </a:p>
                  </a:txBody>
                  <a:tcPr>
                    <a:solidFill>
                      <a:srgbClr val="F2F6FA"/>
                    </a:solidFill>
                  </a:tcPr>
                </a:tc>
                <a:tc>
                  <a:txBody>
                    <a:bodyPr tIns="18288" bIns="18288"/>
                    <a:lstStyle/>
                    <a:p>
                      <a:pPr>
                        <a:defRPr sz="900">
                          <a:solidFill>
                            <a:srgbClr val="243140"/>
                          </a:solidFill>
                          <a:latin typeface="Calibri"/>
                        </a:defRPr>
                      </a:pPr>
                      <a:r>
                        <a:t>9th C. Carolingian Latin</a:t>
                      </a:r>
                    </a:p>
                  </a:txBody>
                  <a:tcPr>
                    <a:solidFill>
                      <a:srgbClr val="F2F6FA"/>
                    </a:solidFill>
                  </a:tcPr>
                </a:tc>
                <a:tc>
                  <a:txBody>
                    <a:bodyPr tIns="18288" bIns="18288"/>
                    <a:lstStyle/>
                    <a:p>
                      <a:pPr>
                        <a:defRPr sz="900">
                          <a:solidFill>
                            <a:srgbClr val="243140"/>
                          </a:solidFill>
                          <a:latin typeface="Calibri"/>
                        </a:defRPr>
                      </a:pPr>
                      <a:r>
                        <a:t>1,410 lines; 60 pages; 900+ years old</a:t>
                      </a:r>
                    </a:p>
                  </a:txBody>
                  <a:tcPr>
                    <a:solidFill>
                      <a:srgbClr val="F2F6FA"/>
                    </a:solidFill>
                  </a:tcPr>
                </a:tc>
                <a:tc>
                  <a:txBody>
                    <a:bodyPr tIns="18288" bIns="18288"/>
                    <a:lstStyle/>
                    <a:p>
                      <a:pPr>
                        <a:defRPr sz="900">
                          <a:solidFill>
                            <a:srgbClr val="243140"/>
                          </a:solidFill>
                          <a:latin typeface="Calibri"/>
                        </a:defRPr>
                      </a:pPr>
                      <a:r>
                        <a:t>Ancient parchment &amp; medieval abbreviations</a:t>
                      </a:r>
                    </a:p>
                  </a:txBody>
                  <a:tcPr>
                    <a:solidFill>
                      <a:srgbClr val="F2F6FA"/>
                    </a:solidFill>
                  </a:tcPr>
                </a:tc>
              </a:tr>
              <a:tr h="362244">
                <a:tc>
                  <a:txBody>
                    <a:bodyPr tIns="18288" bIns="18288"/>
                    <a:lstStyle/>
                    <a:p>
                      <a:pPr>
                        <a:defRPr sz="900" b="1">
                          <a:solidFill>
                            <a:srgbClr val="0E2A47"/>
                          </a:solidFill>
                          <a:latin typeface="Calibri"/>
                        </a:defRPr>
                      </a:pPr>
                      <a:r>
                        <a:t>Washington</a:t>
                      </a:r>
                    </a:p>
                  </a:txBody>
                  <a:tcPr>
                    <a:solidFill>
                      <a:srgbClr val="FFFFFF"/>
                    </a:solidFill>
                  </a:tcPr>
                </a:tc>
                <a:tc>
                  <a:txBody>
                    <a:bodyPr tIns="18288" bIns="18288"/>
                    <a:lstStyle/>
                    <a:p>
                      <a:pPr>
                        <a:defRPr sz="900">
                          <a:solidFill>
                            <a:srgbClr val="243140"/>
                          </a:solidFill>
                          <a:latin typeface="Calibri"/>
                        </a:defRPr>
                      </a:pPr>
                      <a:r>
                        <a:t>18th C. American English</a:t>
                      </a:r>
                    </a:p>
                  </a:txBody>
                  <a:tcPr>
                    <a:solidFill>
                      <a:srgbClr val="FFFFFF"/>
                    </a:solidFill>
                  </a:tcPr>
                </a:tc>
                <a:tc>
                  <a:txBody>
                    <a:bodyPr tIns="18288" bIns="18288"/>
                    <a:lstStyle/>
                    <a:p>
                      <a:pPr>
                        <a:defRPr sz="900">
                          <a:solidFill>
                            <a:srgbClr val="243140"/>
                          </a:solidFill>
                          <a:latin typeface="Calibri"/>
                        </a:defRPr>
                      </a:pPr>
                      <a:r>
                        <a:t>656 lines; George Washington correspondence</a:t>
                      </a:r>
                    </a:p>
                  </a:txBody>
                  <a:tcPr>
                    <a:solidFill>
                      <a:srgbClr val="FFFFFF"/>
                    </a:solidFill>
                  </a:tcPr>
                </a:tc>
                <a:tc>
                  <a:txBody>
                    <a:bodyPr tIns="18288" bIns="18288"/>
                    <a:lstStyle/>
                    <a:p>
                      <a:pPr>
                        <a:defRPr sz="900">
                          <a:solidFill>
                            <a:srgbClr val="243140"/>
                          </a:solidFill>
                          <a:latin typeface="Calibri"/>
                        </a:defRPr>
                      </a:pPr>
                      <a:r>
                        <a:t>Early American cursive &amp; historical ink</a:t>
                      </a:r>
                    </a:p>
                  </a:txBody>
                  <a:tcPr>
                    <a:solidFill>
                      <a:srgbClr val="FFFFFF"/>
                    </a:solidFill>
                  </a:tcPr>
                </a:tc>
              </a:tr>
            </a:tbl>
          </a:graphicData>
        </a:graphic>
      </p:graphicFrame>
      <p:sp>
        <p:nvSpPr>
          <p:cNvPr id="8" name="TextBox 7"/>
          <p:cNvSpPr txBox="1"/>
          <p:nvPr/>
        </p:nvSpPr>
        <p:spPr>
          <a:xfrm>
            <a:off x="548640" y="6126480"/>
            <a:ext cx="11064240" cy="320040"/>
          </a:xfrm>
          <a:prstGeom prst="rect">
            <a:avLst/>
          </a:prstGeom>
          <a:noFill/>
        </p:spPr>
        <p:txBody>
          <a:bodyPr wrap="square" lIns="0" rIns="0" tIns="0" bIns="0">
            <a:spAutoFit/>
          </a:bodyPr>
          <a:lstStyle/>
          <a:p>
            <a:pPr>
              <a:defRPr sz="1000" b="1">
                <a:solidFill>
                  <a:srgbClr val="1B9E8E"/>
                </a:solidFill>
                <a:latin typeface="Calibri"/>
              </a:defRPr>
            </a:pPr>
            <a:r>
              <a:t>Universal Pipeline: All 12 datasets are auto-discovered from datasets/ and processed uniformly at (64, 1024, 1) resolution.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WHY EACH ONE</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Dataset Breakdown — From Digits to Ancient Parchment</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53312"/>
            <a:ext cx="3566160" cy="484632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200"/>
              </a:spcAft>
              <a:defRPr sz="1200" b="1">
                <a:solidFill>
                  <a:srgbClr val="1B9E8E"/>
                </a:solidFill>
                <a:latin typeface="Calibri"/>
              </a:defRPr>
            </a:pPr>
            <a:r>
              <a:t>1. Foundation &amp; Digit Baselines</a:t>
            </a:r>
          </a:p>
          <a:p>
            <a:pPr>
              <a:spcAft>
                <a:spcPts val="600"/>
              </a:spcAft>
              <a:defRPr sz="950" b="1">
                <a:solidFill>
                  <a:srgbClr val="5A6B7C"/>
                </a:solidFill>
                <a:latin typeface="Calibri"/>
              </a:defRPr>
            </a:pPr>
            <a:r>
              <a:t>Validates Edge &amp; Stroke Feature Extraction</a:t>
            </a:r>
          </a:p>
          <a:p>
            <a:pPr>
              <a:spcAft>
                <a:spcPts val="500"/>
              </a:spcAft>
              <a:defRPr sz="950">
                <a:solidFill>
                  <a:srgbClr val="243140"/>
                </a:solidFill>
                <a:latin typeface="Calibri"/>
              </a:defRPr>
            </a:pPr>
            <a:r>
              <a:t>• MNIST &amp; EMNIST: Tests fundamental stroke detection on 880,000+ character images without relying on language modeling. Confirms the CNN cleanly discriminates '0' vs 'O', '1' vs 'l'.</a:t>
            </a:r>
          </a:p>
          <a:p>
            <a:pPr>
              <a:spcAft>
                <a:spcPts val="500"/>
              </a:spcAft>
              <a:defRPr sz="950">
                <a:solidFill>
                  <a:srgbClr val="243140"/>
                </a:solidFill>
                <a:latin typeface="Calibri"/>
              </a:defRPr>
            </a:pPr>
            <a:r>
              <a:t>• CVL-Digits: Verifies pure numerical recognition across 180+ writers without dictionary assistance.</a:t>
            </a:r>
          </a:p>
          <a:p>
            <a:pPr>
              <a:spcAft>
                <a:spcPts val="500"/>
              </a:spcAft>
              <a:defRPr sz="950">
                <a:solidFill>
                  <a:srgbClr val="243140"/>
                </a:solidFill>
                <a:latin typeface="Calibri"/>
              </a:defRPr>
            </a:pPr>
            <a:r>
              <a:t>• ORAND-CAR (A &amp; B): Real-world financial checks with intense background watermarks, stamps, and noise.</a:t>
            </a:r>
          </a:p>
        </p:txBody>
      </p:sp>
      <p:sp>
        <p:nvSpPr>
          <p:cNvPr id="8" name="Rounded Rectangle 7"/>
          <p:cNvSpPr/>
          <p:nvPr/>
        </p:nvSpPr>
        <p:spPr>
          <a:xfrm>
            <a:off x="4297679" y="1353312"/>
            <a:ext cx="3566160" cy="4846320"/>
          </a:xfrm>
          <a:prstGeom prst="roundRect">
            <a:avLst/>
          </a:prstGeom>
          <a:solidFill>
            <a:srgbClr val="F8FAFC"/>
          </a:solidFill>
          <a:ln w="1905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200"/>
              </a:spcAft>
              <a:defRPr sz="1200" b="1">
                <a:solidFill>
                  <a:srgbClr val="184C78"/>
                </a:solidFill>
                <a:latin typeface="Calibri"/>
              </a:defRPr>
            </a:pPr>
            <a:r>
              <a:t>2. Modern Multi-Writer Handwriting</a:t>
            </a:r>
          </a:p>
          <a:p>
            <a:pPr>
              <a:spcAft>
                <a:spcPts val="600"/>
              </a:spcAft>
              <a:defRPr sz="950" b="1">
                <a:solidFill>
                  <a:srgbClr val="5A6B7C"/>
                </a:solidFill>
                <a:latin typeface="Calibri"/>
              </a:defRPr>
            </a:pPr>
            <a:r>
              <a:t>Tests Generalization Across Living Writers</a:t>
            </a:r>
          </a:p>
          <a:p>
            <a:pPr>
              <a:spcAft>
                <a:spcPts val="500"/>
              </a:spcAft>
              <a:defRPr sz="950">
                <a:solidFill>
                  <a:srgbClr val="243140"/>
                </a:solidFill>
                <a:latin typeface="Calibri"/>
              </a:defRPr>
            </a:pPr>
            <a:r>
              <a:t>• IAM Handwriting: The gold-standard English benchmark (657 writers). Tests diverse slants, loops, cursive connections, and vocabulary across real-world British English prose.</a:t>
            </a:r>
          </a:p>
          <a:p>
            <a:pPr>
              <a:spcAft>
                <a:spcPts val="500"/>
              </a:spcAft>
              <a:defRPr sz="950">
                <a:solidFill>
                  <a:srgbClr val="243140"/>
                </a:solidFill>
                <a:latin typeface="Calibri"/>
              </a:defRPr>
            </a:pPr>
            <a:r>
              <a:t>• CVL-Database: 310 writers using standard modern ballpoint pens in English and German.</a:t>
            </a:r>
          </a:p>
          <a:p>
            <a:pPr>
              <a:spcAft>
                <a:spcPts val="500"/>
              </a:spcAft>
              <a:defRPr sz="950">
                <a:solidFill>
                  <a:srgbClr val="243140"/>
                </a:solidFill>
                <a:latin typeface="Calibri"/>
              </a:defRPr>
            </a:pPr>
            <a:r>
              <a:t>• RIMES Database: Over 1,300 writers of French postal letters; rigorously evaluates handling of accented Latin characters (é, è, à, ç) and natural mail layout variances.</a:t>
            </a:r>
          </a:p>
        </p:txBody>
      </p:sp>
      <p:sp>
        <p:nvSpPr>
          <p:cNvPr id="9" name="Rounded Rectangle 8"/>
          <p:cNvSpPr/>
          <p:nvPr/>
        </p:nvSpPr>
        <p:spPr>
          <a:xfrm>
            <a:off x="8046719" y="1353312"/>
            <a:ext cx="3566160" cy="4846320"/>
          </a:xfrm>
          <a:prstGeom prst="roundRect">
            <a:avLst/>
          </a:prstGeom>
          <a:solidFill>
            <a:srgbClr val="F8FAFC"/>
          </a:solidFill>
          <a:ln w="19050">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200"/>
              </a:spcAft>
              <a:defRPr sz="1200" b="1">
                <a:solidFill>
                  <a:srgbClr val="0E2A47"/>
                </a:solidFill>
                <a:latin typeface="Calibri"/>
              </a:defRPr>
            </a:pPr>
            <a:r>
              <a:t>3. Historical Manuscripts &amp; Archives</a:t>
            </a:r>
          </a:p>
          <a:p>
            <a:pPr>
              <a:spcAft>
                <a:spcPts val="600"/>
              </a:spcAft>
              <a:defRPr sz="950" b="1">
                <a:solidFill>
                  <a:srgbClr val="5A6B7C"/>
                </a:solidFill>
                <a:latin typeface="Calibri"/>
              </a:defRPr>
            </a:pPr>
            <a:r>
              <a:t>The Ultimate Test: Cultural Heritage Digitization</a:t>
            </a:r>
          </a:p>
          <a:p>
            <a:pPr>
              <a:spcAft>
                <a:spcPts val="500"/>
              </a:spcAft>
              <a:defRPr sz="950">
                <a:solidFill>
                  <a:srgbClr val="243140"/>
                </a:solidFill>
                <a:latin typeface="Calibri"/>
              </a:defRPr>
            </a:pPr>
            <a:r>
              <a:t>• Washington (18th C.): Early American cursive letters with archaic vocabulary, long 's' (ſ), and 18th-century ink.</a:t>
            </a:r>
          </a:p>
          <a:p>
            <a:pPr>
              <a:spcAft>
                <a:spcPts val="500"/>
              </a:spcAft>
              <a:defRPr sz="950">
                <a:solidFill>
                  <a:srgbClr val="243140"/>
                </a:solidFill>
                <a:latin typeface="Calibri"/>
              </a:defRPr>
            </a:pPr>
            <a:r>
              <a:t>• Bentham (18th–19th C.): 11,000+ lines of legal philosophy with extreme bleed-through and scribal revisions.</a:t>
            </a:r>
          </a:p>
          <a:p>
            <a:pPr>
              <a:spcAft>
                <a:spcPts val="500"/>
              </a:spcAft>
              <a:defRPr sz="950">
                <a:solidFill>
                  <a:srgbClr val="243140"/>
                </a:solidFill>
                <a:latin typeface="Calibri"/>
              </a:defRPr>
            </a:pPr>
            <a:r>
              <a:t>• Saint Gall (9th C.): 900-year-old Carolingian Latin parchment; severe ink fading and medieval ligatures.</a:t>
            </a:r>
          </a:p>
          <a:p>
            <a:pPr>
              <a:spcAft>
                <a:spcPts val="500"/>
              </a:spcAft>
              <a:defRPr sz="950">
                <a:solidFill>
                  <a:srgbClr val="243140"/>
                </a:solidFill>
                <a:latin typeface="Calibri"/>
              </a:defRPr>
            </a:pPr>
            <a:r>
              <a:t>• Parzival (13th C.): Middle High German Gothic cursive manuscript with complex historical ligatures.</a:t>
            </a:r>
          </a:p>
          <a:p>
            <a:pPr>
              <a:spcAft>
                <a:spcPts val="500"/>
              </a:spcAft>
              <a:defRPr sz="950">
                <a:solidFill>
                  <a:srgbClr val="243140"/>
                </a:solidFill>
                <a:latin typeface="Calibri"/>
              </a:defRPr>
            </a:pPr>
            <a:r>
              <a:t>• Bressay (2024): State-of-the-art benchmark for degraded multi-century institutional documents.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SUMMARY</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Conclusion &amp; Future Work</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53312"/>
            <a:ext cx="5413248" cy="40233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spcAft>
                <a:spcPts val="800"/>
              </a:spcAft>
              <a:defRPr sz="1300" b="1">
                <a:solidFill>
                  <a:srgbClr val="1B9E8E"/>
                </a:solidFill>
                <a:latin typeface="Calibri"/>
              </a:defRPr>
            </a:pPr>
            <a:r>
              <a:t>What We Have Done So Far</a:t>
            </a:r>
          </a:p>
          <a:p>
            <a:pPr>
              <a:spcAft>
                <a:spcPts val="600"/>
              </a:spcAft>
              <a:defRPr sz="1000">
                <a:solidFill>
                  <a:srgbClr val="243140"/>
                </a:solidFill>
                <a:latin typeface="Calibri"/>
              </a:defRPr>
            </a:pPr>
            <a:r>
              <a:t>• Studied and surveyed modern handwriting recognition methods from 2023–2026 (TrOCR, Decoded-ViT, HTR-VT).</a:t>
            </a:r>
          </a:p>
          <a:p>
            <a:pPr>
              <a:spcAft>
                <a:spcPts val="600"/>
              </a:spcAft>
              <a:defRPr sz="1000">
                <a:solidFill>
                  <a:srgbClr val="243140"/>
                </a:solidFill>
                <a:latin typeface="Calibri"/>
              </a:defRPr>
            </a:pPr>
            <a:r>
              <a:t>• Selected and organized 12 public datasets covering 1,100 years of handwritten documents.</a:t>
            </a:r>
          </a:p>
          <a:p>
            <a:pPr>
              <a:spcAft>
                <a:spcPts val="600"/>
              </a:spcAft>
              <a:defRPr sz="1000">
                <a:solidFill>
                  <a:srgbClr val="243140"/>
                </a:solidFill>
                <a:latin typeface="Calibri"/>
              </a:defRPr>
            </a:pPr>
            <a:r>
              <a:t>• Built an end-to-end deep learning architecture combining Residual Gated CNN, Multi-Head Self-Attention (ViT), and Stacked BiLSTMs.</a:t>
            </a:r>
          </a:p>
          <a:p>
            <a:pPr>
              <a:spcAft>
                <a:spcPts val="600"/>
              </a:spcAft>
              <a:defRPr sz="1000">
                <a:solidFill>
                  <a:srgbClr val="243140"/>
                </a:solidFill>
                <a:latin typeface="Calibri"/>
              </a:defRPr>
            </a:pPr>
            <a:r>
              <a:t>• Configured robust training settings (AdamW, lr 1e-3, beam width 32, seed 42) with CER &amp; WER evaluation metrics.</a:t>
            </a:r>
          </a:p>
          <a:p>
            <a:pPr>
              <a:spcAft>
                <a:spcPts val="600"/>
              </a:spcAft>
              <a:defRPr sz="1000">
                <a:solidFill>
                  <a:srgbClr val="243140"/>
                </a:solidFill>
                <a:latin typeface="Calibri"/>
              </a:defRPr>
            </a:pPr>
            <a:r>
              <a:t>• Created unified data pipeline modules ('all-english', 'all-in-one') with automated preprocessing and online augmentation.</a:t>
            </a:r>
          </a:p>
        </p:txBody>
      </p:sp>
      <p:sp>
        <p:nvSpPr>
          <p:cNvPr id="8" name="Rounded Rectangle 7"/>
          <p:cNvSpPr/>
          <p:nvPr/>
        </p:nvSpPr>
        <p:spPr>
          <a:xfrm>
            <a:off x="6199632" y="1353312"/>
            <a:ext cx="5413248" cy="4023360"/>
          </a:xfrm>
          <a:prstGeom prst="roundRect">
            <a:avLst/>
          </a:prstGeom>
          <a:solidFill>
            <a:srgbClr val="F8FAFC"/>
          </a:solidFill>
          <a:ln w="19050">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spcAft>
                <a:spcPts val="800"/>
              </a:spcAft>
              <a:defRPr sz="1300" b="1">
                <a:solidFill>
                  <a:srgbClr val="0E2A47"/>
                </a:solidFill>
                <a:latin typeface="Calibri"/>
              </a:defRPr>
            </a:pPr>
            <a:r>
              <a:t>What Is Next</a:t>
            </a:r>
          </a:p>
          <a:p>
            <a:pPr>
              <a:spcAft>
                <a:spcPts val="600"/>
              </a:spcAft>
              <a:defRPr sz="1000">
                <a:solidFill>
                  <a:srgbClr val="243140"/>
                </a:solidFill>
                <a:latin typeface="Calibri"/>
              </a:defRPr>
            </a:pPr>
            <a:r>
              <a:t>• Train and fine-tune the Vision Transformer model across the full historical benchmark sets on GPU.</a:t>
            </a:r>
          </a:p>
          <a:p>
            <a:pPr>
              <a:spcAft>
                <a:spcPts val="600"/>
              </a:spcAft>
              <a:defRPr sz="1000">
                <a:solidFill>
                  <a:srgbClr val="243140"/>
                </a:solidFill>
                <a:latin typeface="Calibri"/>
              </a:defRPr>
            </a:pPr>
            <a:r>
              <a:t>• Conduct thorough error analysis on character confusions (CER) and word substitutions (WER).</a:t>
            </a:r>
          </a:p>
          <a:p>
            <a:pPr>
              <a:spcAft>
                <a:spcPts val="600"/>
              </a:spcAft>
              <a:defRPr sz="1000">
                <a:solidFill>
                  <a:srgbClr val="243140"/>
                </a:solidFill>
                <a:latin typeface="Calibri"/>
              </a:defRPr>
            </a:pPr>
            <a:r>
              <a:t>• Perform empirical benchmark comparison against legacy CRNN and heavy TrOCR baselines.</a:t>
            </a:r>
          </a:p>
          <a:p>
            <a:pPr>
              <a:spcAft>
                <a:spcPts val="600"/>
              </a:spcAft>
              <a:defRPr sz="1000">
                <a:solidFill>
                  <a:srgbClr val="243140"/>
                </a:solidFill>
                <a:latin typeface="Calibri"/>
              </a:defRPr>
            </a:pPr>
            <a:r>
              <a:t>• Deploy the pipeline as an accessible web/CLI transcription tool for archive preservation and paleographers.</a:t>
            </a:r>
          </a:p>
          <a:p>
            <a:pPr>
              <a:spcAft>
                <a:spcPts val="600"/>
              </a:spcAft>
              <a:defRPr sz="1000">
                <a:solidFill>
                  <a:srgbClr val="243140"/>
                </a:solidFill>
                <a:latin typeface="Calibri"/>
              </a:defRPr>
            </a:pPr>
            <a:r>
              <a:t>• Publish and maintain all models, checkpoints, and notebooks on GitHub: https://github.com/Balaji268268/HandwrittenTextRecognition</a:t>
            </a:r>
          </a:p>
        </p:txBody>
      </p:sp>
      <p:sp>
        <p:nvSpPr>
          <p:cNvPr id="9" name="Rounded Rectangle 8"/>
          <p:cNvSpPr/>
          <p:nvPr/>
        </p:nvSpPr>
        <p:spPr>
          <a:xfrm>
            <a:off x="548640" y="5532120"/>
            <a:ext cx="11064240" cy="777240"/>
          </a:xfrm>
          <a:prstGeom prst="roundRect">
            <a:avLst/>
          </a:prstGeom>
          <a:solidFill>
            <a:srgbClr val="EBF8F6"/>
          </a:solidFill>
          <a:ln w="1270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000" b="1">
                <a:solidFill>
                  <a:srgbClr val="0E2A47"/>
                </a:solidFill>
                <a:latin typeface="Calibri"/>
              </a:defRPr>
            </a:pPr>
            <a:r>
              <a:t>Official Open-Source Project Repository:</a:t>
            </a:r>
          </a:p>
          <a:p>
            <a:pPr>
              <a:defRPr sz="1100" b="1">
                <a:solidFill>
                  <a:srgbClr val="1B9E8E"/>
                </a:solidFill>
                <a:latin typeface="Calibri"/>
              </a:defRPr>
            </a:pPr>
            <a:r>
              <a:t>https://github.com/Balaji268268/HandwrittenTextRecognition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KEY SOURCES</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References &amp; Literature Sources (2023 – 2026)</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53312"/>
            <a:ext cx="5413248" cy="484632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1B9E8E"/>
                </a:solidFill>
                <a:latin typeface="Calibri"/>
              </a:defRPr>
            </a:pPr>
            <a:r>
              <a:t>Recent Literature Sources (2023 – 2026)</a:t>
            </a:r>
          </a:p>
          <a:p>
            <a:pPr>
              <a:spcAft>
                <a:spcPts val="400"/>
              </a:spcAft>
              <a:defRPr sz="950">
                <a:solidFill>
                  <a:srgbClr val="243140"/>
                </a:solidFill>
                <a:latin typeface="Calibri"/>
              </a:defRPr>
            </a:pPr>
            <a:r>
              <a:t>• Li et al. (AAAI 2023) — TrOCR: Transformer-based Optical Character Recognition with Pre-trained Models. AAAI Conference on Artificial Intelligence.</a:t>
            </a:r>
          </a:p>
          <a:p>
            <a:pPr>
              <a:spcAft>
                <a:spcPts val="400"/>
              </a:spcAft>
              <a:defRPr sz="950">
                <a:solidFill>
                  <a:srgbClr val="243140"/>
                </a:solidFill>
                <a:latin typeface="Calibri"/>
              </a:defRPr>
            </a:pPr>
            <a:r>
              <a:t>• Blecher et al. (Meta AI 2023) — Nougat: Neural Optical Understanding for Academic Documents. Meta AI Research, arXiv:2308.13418.</a:t>
            </a:r>
          </a:p>
          <a:p>
            <a:pPr>
              <a:spcAft>
                <a:spcPts val="400"/>
              </a:spcAft>
              <a:defRPr sz="950">
                <a:solidFill>
                  <a:srgbClr val="243140"/>
                </a:solidFill>
                <a:latin typeface="Calibri"/>
              </a:defRPr>
            </a:pPr>
            <a:r>
              <a:t>• Zhang et al. (ICDAR 2024) — Decoded-ViT: Vision Transformer with CTC Beam Search for Historical Document Transcription. ICDAR 2024.</a:t>
            </a:r>
          </a:p>
          <a:p>
            <a:pPr>
              <a:spcAft>
                <a:spcPts val="400"/>
              </a:spcAft>
              <a:defRPr sz="950">
                <a:solidFill>
                  <a:srgbClr val="243140"/>
                </a:solidFill>
                <a:latin typeface="Calibri"/>
              </a:defRPr>
            </a:pPr>
            <a:r>
              <a:t>• Kang et al. (Pattern Recognition 2025) — HTR-VT: Handwritten Text Recognition with Vision Transformers and Sharpness-Aware Minimization. Pattern Recognition, Vol. 158.</a:t>
            </a:r>
          </a:p>
          <a:p>
            <a:pPr>
              <a:spcAft>
                <a:spcPts val="400"/>
              </a:spcAft>
              <a:defRPr sz="950">
                <a:solidFill>
                  <a:srgbClr val="243140"/>
                </a:solidFill>
                <a:latin typeface="Calibri"/>
              </a:defRPr>
            </a:pPr>
            <a:r>
              <a:t>• Chen et al. (IEEE TPAMI / CVPR 2025) — Deformable DETR for Distorted Historical Text-Line Extraction and Recognition. IEEE Transactions on PAMI.</a:t>
            </a:r>
          </a:p>
          <a:p>
            <a:pPr>
              <a:spcAft>
                <a:spcPts val="400"/>
              </a:spcAft>
              <a:defRPr sz="950">
                <a:solidFill>
                  <a:srgbClr val="243140"/>
                </a:solidFill>
                <a:latin typeface="Calibri"/>
              </a:defRPr>
            </a:pPr>
            <a:r>
              <a:t>• Müller et al. (Nature MI 2026) — Universal Multi-Script Vision Transformers for Historical Manuscript Paleography. Nature Machine Intelligence / ACL 2026.</a:t>
            </a:r>
          </a:p>
        </p:txBody>
      </p:sp>
      <p:sp>
        <p:nvSpPr>
          <p:cNvPr id="8" name="Rounded Rectangle 7"/>
          <p:cNvSpPr/>
          <p:nvPr/>
        </p:nvSpPr>
        <p:spPr>
          <a:xfrm>
            <a:off x="6199632" y="1353312"/>
            <a:ext cx="5413248" cy="4846320"/>
          </a:xfrm>
          <a:prstGeom prst="roundRect">
            <a:avLst/>
          </a:prstGeom>
          <a:solidFill>
            <a:srgbClr val="F8FAFC"/>
          </a:solidFill>
          <a:ln w="19050">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0E2A47"/>
                </a:solidFill>
                <a:latin typeface="Calibri"/>
              </a:defRPr>
            </a:pPr>
            <a:r>
              <a:t>Benchmark Datasets &amp; Core Framework</a:t>
            </a:r>
          </a:p>
          <a:p>
            <a:pPr>
              <a:spcAft>
                <a:spcPts val="400"/>
              </a:spcAft>
              <a:defRPr sz="950">
                <a:solidFill>
                  <a:srgbClr val="243140"/>
                </a:solidFill>
                <a:latin typeface="Calibri"/>
              </a:defRPr>
            </a:pPr>
            <a:r>
              <a:t>• IAM Database — Marti &amp; Bunke, 'The IAM-database: An English handwriting database,' International Journal on Document Analysis and Recognition (IJDAR).</a:t>
            </a:r>
          </a:p>
          <a:p>
            <a:pPr>
              <a:spcAft>
                <a:spcPts val="400"/>
              </a:spcAft>
              <a:defRPr sz="950">
                <a:solidFill>
                  <a:srgbClr val="243140"/>
                </a:solidFill>
                <a:latin typeface="Calibri"/>
              </a:defRPr>
            </a:pPr>
            <a:r>
              <a:t>• Saint Gall &amp; Parzival — Fischer et al., 'A Ground Truth Bilingual Database for Medieval Manuscript Recognition,' ACM DL 2011.</a:t>
            </a:r>
          </a:p>
          <a:p>
            <a:pPr>
              <a:spcAft>
                <a:spcPts val="400"/>
              </a:spcAft>
              <a:defRPr sz="950">
                <a:solidFill>
                  <a:srgbClr val="243140"/>
                </a:solidFill>
                <a:latin typeface="Calibri"/>
              </a:defRPr>
            </a:pPr>
            <a:r>
              <a:t>• Washington Database — Fischer et al., 'Lexicon-Free Handwritten Text Recognition Using HMMs,' Pattern Recognition Letters (PRL 2012).</a:t>
            </a:r>
          </a:p>
          <a:p>
            <a:pPr>
              <a:spcAft>
                <a:spcPts val="400"/>
              </a:spcAft>
              <a:defRPr sz="950">
                <a:solidFill>
                  <a:srgbClr val="243140"/>
                </a:solidFill>
                <a:latin typeface="Calibri"/>
              </a:defRPr>
            </a:pPr>
            <a:r>
              <a:t>• Bentham Manuscripts — Sanchez et al., 'Handwritten Text Recognition for the Transcribe Bentham Initiative,' DAS 2014.</a:t>
            </a:r>
          </a:p>
          <a:p>
            <a:pPr>
              <a:spcAft>
                <a:spcPts val="400"/>
              </a:spcAft>
              <a:defRPr sz="950">
                <a:solidFill>
                  <a:srgbClr val="243140"/>
                </a:solidFill>
                <a:latin typeface="Calibri"/>
              </a:defRPr>
            </a:pPr>
            <a:r>
              <a:t>• Bressay Benchmark — Large-Scale Degradation Benchmark for Historical Documents, IPAD / ICDAR 2023/2024.</a:t>
            </a:r>
          </a:p>
          <a:p>
            <a:pPr>
              <a:spcAft>
                <a:spcPts val="400"/>
              </a:spcAft>
              <a:defRPr sz="950">
                <a:solidFill>
                  <a:srgbClr val="243140"/>
                </a:solidFill>
                <a:latin typeface="Calibri"/>
              </a:defRPr>
            </a:pPr>
            <a:r>
              <a:t>• EMNIST &amp; MNIST — Cohen et al. (IJCNN 2017) &amp; LeCun et al. (IEEE 1998) digit/character reference benchmarks.</a:t>
            </a:r>
          </a:p>
          <a:p>
            <a:pPr>
              <a:spcAft>
                <a:spcPts val="400"/>
              </a:spcAft>
              <a:defRPr sz="950">
                <a:solidFill>
                  <a:srgbClr val="243140"/>
                </a:solidFill>
                <a:latin typeface="Calibri"/>
              </a:defRPr>
            </a:pPr>
            <a:r>
              <a:t>• Project Codebase — Balaji268268, 'HandwrittenTextRecognition', https://github.com/Balaji268268/HandwrittenTextRecognition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645920"/>
            <a:ext cx="11064240" cy="1097280"/>
          </a:xfrm>
          <a:prstGeom prst="rect">
            <a:avLst/>
          </a:prstGeom>
          <a:noFill/>
        </p:spPr>
        <p:txBody>
          <a:bodyPr wrap="square">
            <a:spAutoFit/>
          </a:bodyPr>
          <a:lstStyle/>
          <a:p>
            <a:pPr algn="ctr">
              <a:defRPr sz="5400" b="1">
                <a:solidFill>
                  <a:srgbClr val="0E2A47"/>
                </a:solidFill>
                <a:latin typeface="Calibri"/>
              </a:defRPr>
            </a:pPr>
            <a:r>
              <a:t>Thank You!</a:t>
            </a:r>
          </a:p>
        </p:txBody>
      </p:sp>
      <p:sp>
        <p:nvSpPr>
          <p:cNvPr id="3" name="TextBox 2"/>
          <p:cNvSpPr txBox="1"/>
          <p:nvPr/>
        </p:nvSpPr>
        <p:spPr>
          <a:xfrm>
            <a:off x="548640" y="2926080"/>
            <a:ext cx="11064240" cy="731520"/>
          </a:xfrm>
          <a:prstGeom prst="rect">
            <a:avLst/>
          </a:prstGeom>
          <a:noFill/>
        </p:spPr>
        <p:txBody>
          <a:bodyPr wrap="none">
            <a:spAutoFit/>
          </a:bodyPr>
          <a:lstStyle/>
          <a:p>
            <a:pPr algn="ctr">
              <a:defRPr sz="2000" b="1">
                <a:solidFill>
                  <a:srgbClr val="1B9E8E"/>
                </a:solidFill>
                <a:latin typeface="Calibri"/>
              </a:defRPr>
            </a:pPr>
            <a:r>
              <a:t>A Venkata Balaji   ·   Reg. No: 23BCE20336</a:t>
            </a:r>
          </a:p>
          <a:p>
            <a:pPr algn="ctr">
              <a:defRPr sz="1500">
                <a:solidFill>
                  <a:srgbClr val="243140"/>
                </a:solidFill>
                <a:latin typeface="Calibri"/>
              </a:defRPr>
            </a:pPr>
            <a:r>
              <a:t>Handwritten Manuscript Recognition using Vision Transformers</a:t>
            </a:r>
          </a:p>
        </p:txBody>
      </p:sp>
      <p:sp>
        <p:nvSpPr>
          <p:cNvPr id="4" name="Rounded Rectangle 3"/>
          <p:cNvSpPr/>
          <p:nvPr/>
        </p:nvSpPr>
        <p:spPr>
          <a:xfrm>
            <a:off x="2889504" y="4114800"/>
            <a:ext cx="6400800" cy="914400"/>
          </a:xfrm>
          <a:prstGeom prst="roundRect">
            <a:avLst/>
          </a:prstGeom>
          <a:solidFill>
            <a:srgbClr val="EBF8F6"/>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1100">
                <a:solidFill>
                  <a:srgbClr val="0E2A47"/>
                </a:solidFill>
                <a:latin typeface="Calibri"/>
              </a:defRPr>
            </a:pPr>
            <a:r>
              <a:t>Explore the Open-Source Repository &amp; Colab Notebooks:</a:t>
            </a:r>
          </a:p>
          <a:p>
            <a:pPr algn="ctr">
              <a:defRPr sz="1300" b="1">
                <a:solidFill>
                  <a:srgbClr val="1B9E8E"/>
                </a:solidFill>
                <a:latin typeface="Calibri"/>
              </a:defRPr>
            </a:pPr>
            <a:r>
              <a:t>https://github.com/Balaji268268/HandwrittenTextRecognition</a:t>
            </a:r>
          </a:p>
        </p:txBody>
      </p:sp>
      <p:sp>
        <p:nvSpPr>
          <p:cNvPr id="5" name="TextBox 4"/>
          <p:cNvSpPr txBox="1"/>
          <p:nvPr/>
        </p:nvSpPr>
        <p:spPr>
          <a:xfrm>
            <a:off x="548640" y="5394960"/>
            <a:ext cx="11064240" cy="365760"/>
          </a:xfrm>
          <a:prstGeom prst="rect">
            <a:avLst/>
          </a:prstGeom>
          <a:noFill/>
        </p:spPr>
        <p:txBody>
          <a:bodyPr wrap="none">
            <a:spAutoFit/>
          </a:bodyPr>
          <a:lstStyle/>
          <a:p>
            <a:pPr algn="ctr">
              <a:defRPr sz="1200">
                <a:solidFill>
                  <a:srgbClr val="5A6B7C"/>
                </a:solidFill>
                <a:latin typeface="Calibri"/>
              </a:defRPr>
            </a:pPr>
            <a:r>
              <a:t>ViT Model  ·  12 Benchmark Datasets  ·  Image In, Text Out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CORE CONCEPTS EXPLAINED SIMPLY</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How the Architecture Works — Step-by-Step</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53312"/>
            <a:ext cx="5413248" cy="24231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09728"/>
          <a:lstStyle/>
          <a:p>
            <a:pPr algn="ctr">
              <a:spcAft>
                <a:spcPts val="400"/>
              </a:spcAft>
              <a:defRPr sz="1200" b="1">
                <a:solidFill>
                  <a:srgbClr val="1B9E8E"/>
                </a:solidFill>
                <a:latin typeface="Calibri"/>
              </a:defRPr>
            </a:pPr>
            <a:r>
              <a:t>1. Residual Gated CNN — 'The Smart Ink Filter'</a:t>
            </a:r>
          </a:p>
          <a:p>
            <a:pPr>
              <a:spcAft>
                <a:spcPts val="300"/>
              </a:spcAft>
              <a:defRPr sz="950">
                <a:solidFill>
                  <a:srgbClr val="243140"/>
                </a:solidFill>
                <a:latin typeface="Calibri"/>
              </a:defRPr>
            </a:pPr>
            <a:r>
              <a:t>• The Problem: Historical manuscripts are covered with age spots, parchment stains, ink bleeding through from the opposite page, and faded strokes.</a:t>
            </a:r>
          </a:p>
          <a:p>
            <a:pPr>
              <a:spcAft>
                <a:spcPts val="300"/>
              </a:spcAft>
              <a:defRPr sz="950">
                <a:solidFill>
                  <a:srgbClr val="243140"/>
                </a:solidFill>
                <a:latin typeface="Calibri"/>
              </a:defRPr>
            </a:pPr>
            <a:r>
              <a:t>• How It Works: Unlike standard CNNs that treat all pixels equally, Gated Convolutions (GatedConv2D) act like intelligent gates. They detect whether a pixel is dirt/stain or genuine pen stroke. The gate closes on background noise and opens only for real ink.</a:t>
            </a:r>
          </a:p>
          <a:p>
            <a:pPr>
              <a:spcAft>
                <a:spcPts val="300"/>
              </a:spcAft>
              <a:defRPr sz="950">
                <a:solidFill>
                  <a:srgbClr val="243140"/>
                </a:solidFill>
                <a:latin typeface="Calibri"/>
              </a:defRPr>
            </a:pPr>
            <a:r>
              <a:t>• Impact: Delivers ultra-clean feature maps to the attention layers even from 900-year-old degraded manuscripts.</a:t>
            </a:r>
          </a:p>
        </p:txBody>
      </p:sp>
      <p:sp>
        <p:nvSpPr>
          <p:cNvPr id="8" name="Rounded Rectangle 7"/>
          <p:cNvSpPr/>
          <p:nvPr/>
        </p:nvSpPr>
        <p:spPr>
          <a:xfrm>
            <a:off x="6199632" y="1353312"/>
            <a:ext cx="5413248" cy="2423160"/>
          </a:xfrm>
          <a:prstGeom prst="roundRect">
            <a:avLst/>
          </a:prstGeom>
          <a:solidFill>
            <a:srgbClr val="F8FAFC"/>
          </a:solidFill>
          <a:ln w="1905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09728"/>
          <a:lstStyle/>
          <a:p>
            <a:pPr algn="ctr">
              <a:spcAft>
                <a:spcPts val="400"/>
              </a:spcAft>
              <a:defRPr sz="1200" b="1">
                <a:solidFill>
                  <a:srgbClr val="184C78"/>
                </a:solidFill>
                <a:latin typeface="Calibri"/>
              </a:defRPr>
            </a:pPr>
            <a:r>
              <a:t>2. Multi-Head Self-Attention (ViT) — 'Global Vision'</a:t>
            </a:r>
          </a:p>
          <a:p>
            <a:pPr>
              <a:spcAft>
                <a:spcPts val="300"/>
              </a:spcAft>
              <a:defRPr sz="950">
                <a:solidFill>
                  <a:srgbClr val="243140"/>
                </a:solidFill>
                <a:latin typeface="Calibri"/>
              </a:defRPr>
            </a:pPr>
            <a:r>
              <a:t>• The Problem: In cursive handwriting, letters are physically joined by long flowing ligatures, flourishes, and extended pen strokes that stretch across words.</a:t>
            </a:r>
          </a:p>
          <a:p>
            <a:pPr>
              <a:spcAft>
                <a:spcPts val="300"/>
              </a:spcAft>
              <a:defRPr sz="950">
                <a:solidFill>
                  <a:srgbClr val="243140"/>
                </a:solidFill>
                <a:latin typeface="Calibri"/>
              </a:defRPr>
            </a:pPr>
            <a:r>
              <a:t>• How It Works: Old models read through tiny local windows. Self-attention allows every character position to 'talk' to all other positions across the entire line simultaneously. A letter at the end of a word can directly reference the start of the word.</a:t>
            </a:r>
          </a:p>
          <a:p>
            <a:pPr>
              <a:spcAft>
                <a:spcPts val="300"/>
              </a:spcAft>
              <a:defRPr sz="950">
                <a:solidFill>
                  <a:srgbClr val="243140"/>
                </a:solidFill>
                <a:latin typeface="Calibri"/>
              </a:defRPr>
            </a:pPr>
            <a:r>
              <a:t>• Impact: Recognizes full cursive words as cohesive semantic units rather than disconnected letter fragments.</a:t>
            </a:r>
          </a:p>
        </p:txBody>
      </p:sp>
      <p:sp>
        <p:nvSpPr>
          <p:cNvPr id="9" name="Rounded Rectangle 8"/>
          <p:cNvSpPr/>
          <p:nvPr/>
        </p:nvSpPr>
        <p:spPr>
          <a:xfrm>
            <a:off x="548640" y="3931920"/>
            <a:ext cx="5413248" cy="2423160"/>
          </a:xfrm>
          <a:prstGeom prst="roundRect">
            <a:avLst/>
          </a:prstGeom>
          <a:solidFill>
            <a:srgbClr val="F8FAFC"/>
          </a:solidFill>
          <a:ln w="19050">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09728"/>
          <a:lstStyle/>
          <a:p>
            <a:pPr algn="ctr">
              <a:spcAft>
                <a:spcPts val="400"/>
              </a:spcAft>
              <a:defRPr sz="1200" b="1">
                <a:solidFill>
                  <a:srgbClr val="0E2A47"/>
                </a:solidFill>
                <a:latin typeface="Calibri"/>
              </a:defRPr>
            </a:pPr>
            <a:r>
              <a:t>3. Bidirectional LSTM — 'Reading Forward &amp; Backward'</a:t>
            </a:r>
          </a:p>
          <a:p>
            <a:pPr>
              <a:spcAft>
                <a:spcPts val="300"/>
              </a:spcAft>
              <a:defRPr sz="950">
                <a:solidFill>
                  <a:srgbClr val="243140"/>
                </a:solidFill>
                <a:latin typeface="Calibri"/>
              </a:defRPr>
            </a:pPr>
            <a:r>
              <a:t>• The Problem: Handwritten characters are often ambiguous when viewed in isolation (e.g., distinguishing 'u' from 'n', or 'cl' from 'd').</a:t>
            </a:r>
          </a:p>
          <a:p>
            <a:pPr>
              <a:spcAft>
                <a:spcPts val="300"/>
              </a:spcAft>
              <a:defRPr sz="950">
                <a:solidFill>
                  <a:srgbClr val="243140"/>
                </a:solidFill>
                <a:latin typeface="Calibri"/>
              </a:defRPr>
            </a:pPr>
            <a:r>
              <a:t>• How It Works: Just like a human reader uses whole-word context to decipher a messy letter, the BiLSTM runs two simultaneous sweeps: forward (left-to-right past context) and backward (right-to-left future context). Both streams merge at each position.</a:t>
            </a:r>
          </a:p>
          <a:p>
            <a:pPr>
              <a:spcAft>
                <a:spcPts val="300"/>
              </a:spcAft>
              <a:defRPr sz="950">
                <a:solidFill>
                  <a:srgbClr val="243140"/>
                </a:solidFill>
                <a:latin typeface="Calibri"/>
              </a:defRPr>
            </a:pPr>
            <a:r>
              <a:t>• Impact: Guarantees grammatically and contextually correct spelling even when individual characters are messy.</a:t>
            </a:r>
          </a:p>
        </p:txBody>
      </p:sp>
      <p:sp>
        <p:nvSpPr>
          <p:cNvPr id="10" name="Rounded Rectangle 9"/>
          <p:cNvSpPr/>
          <p:nvPr/>
        </p:nvSpPr>
        <p:spPr>
          <a:xfrm>
            <a:off x="6199632" y="3931920"/>
            <a:ext cx="5413248" cy="24231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bIns="109728"/>
          <a:lstStyle/>
          <a:p>
            <a:pPr algn="ctr">
              <a:spcAft>
                <a:spcPts val="400"/>
              </a:spcAft>
              <a:defRPr sz="1200" b="1">
                <a:solidFill>
                  <a:srgbClr val="1B9E8E"/>
                </a:solidFill>
                <a:latin typeface="Calibri"/>
              </a:defRPr>
            </a:pPr>
            <a:r>
              <a:t>4. CTC Loss &amp; Beam Search — 'Direct Line Transcription'</a:t>
            </a:r>
          </a:p>
          <a:p>
            <a:pPr>
              <a:spcAft>
                <a:spcPts val="300"/>
              </a:spcAft>
              <a:defRPr sz="950">
                <a:solidFill>
                  <a:srgbClr val="243140"/>
                </a:solidFill>
                <a:latin typeface="Calibri"/>
              </a:defRPr>
            </a:pPr>
            <a:r>
              <a:t>• The Problem: Manual character segmentation is impossible for cursive writing because letters continuously overlap and blend into one another.</a:t>
            </a:r>
          </a:p>
          <a:p>
            <a:pPr>
              <a:spcAft>
                <a:spcPts val="300"/>
              </a:spcAft>
              <a:defRPr sz="950">
                <a:solidFill>
                  <a:srgbClr val="243140"/>
                </a:solidFill>
                <a:latin typeface="Calibri"/>
              </a:defRPr>
            </a:pPr>
            <a:r>
              <a:t>• How It Works: Connectionist Temporal Classification (CTC) maps the continuous visual stroke stream directly to character sequences. During inference, Beam Search tracks the top 32 spelling hypotheses across time steps, picking the global maximum.</a:t>
            </a:r>
          </a:p>
          <a:p>
            <a:pPr>
              <a:spcAft>
                <a:spcPts val="300"/>
              </a:spcAft>
              <a:defRPr sz="950">
                <a:solidFill>
                  <a:srgbClr val="243140"/>
                </a:solidFill>
                <a:latin typeface="Calibri"/>
              </a:defRPr>
            </a:pPr>
            <a:r>
              <a:t>• Impact: Full-line transcription directly from raw image pixels to typed text with zero human letter-slicing required.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0515600" cy="274320"/>
          </a:xfrm>
          <a:prstGeom prst="rect">
            <a:avLst/>
          </a:prstGeom>
          <a:noFill/>
        </p:spPr>
        <p:txBody>
          <a:bodyPr wrap="square" lIns="0" rIns="0" tIns="0" bIns="0">
            <a:spAutoFit/>
          </a:bodyPr>
          <a:lstStyle/>
          <a:p>
            <a:pPr>
              <a:defRPr sz="1100" b="1">
                <a:solidFill>
                  <a:srgbClr val="1B9E8E"/>
                </a:solidFill>
                <a:latin typeface="Calibri"/>
              </a:defRPr>
            </a:pPr>
            <a:r>
              <a:t>IMPLEMENTATION PIPELINE</a:t>
            </a:r>
          </a:p>
        </p:txBody>
      </p:sp>
      <p:sp>
        <p:nvSpPr>
          <p:cNvPr id="3" name="TextBox 2"/>
          <p:cNvSpPr txBox="1"/>
          <p:nvPr/>
        </p:nvSpPr>
        <p:spPr>
          <a:xfrm>
            <a:off x="548640" y="548640"/>
            <a:ext cx="11064240" cy="566928"/>
          </a:xfrm>
          <a:prstGeom prst="rect">
            <a:avLst/>
          </a:prstGeom>
          <a:noFill/>
        </p:spPr>
        <p:txBody>
          <a:bodyPr wrap="square" lIns="0" rIns="0" tIns="0" bIns="0">
            <a:spAutoFit/>
          </a:bodyPr>
          <a:lstStyle/>
          <a:p>
            <a:pPr>
              <a:defRPr sz="2600" b="1">
                <a:solidFill>
                  <a:srgbClr val="0E2A47"/>
                </a:solidFill>
                <a:latin typeface="Calibri"/>
              </a:defRPr>
            </a:pPr>
            <a:r>
              <a:t>How the Datasets are Implemented in Code</a:t>
            </a:r>
          </a:p>
        </p:txBody>
      </p:sp>
      <p:sp>
        <p:nvSpPr>
          <p:cNvPr id="4" name="Rectangle 3"/>
          <p:cNvSpPr/>
          <p:nvPr/>
        </p:nvSpPr>
        <p:spPr>
          <a:xfrm>
            <a:off x="576072" y="1133856"/>
            <a:ext cx="1097280" cy="45720"/>
          </a:xfrm>
          <a:prstGeom prst="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28816"/>
            <a:ext cx="8229600" cy="274320"/>
          </a:xfrm>
          <a:prstGeom prst="rect">
            <a:avLst/>
          </a:prstGeom>
          <a:noFill/>
        </p:spPr>
        <p:txBody>
          <a:bodyPr wrap="none" lIns="0" rIns="0" tIns="0" bIns="0">
            <a:spAutoFit/>
          </a:bodyPr>
          <a:lstStyle/>
          <a:p>
            <a:pPr>
              <a:defRPr sz="1000">
                <a:solidFill>
                  <a:srgbClr val="5A6B7C"/>
                </a:solidFill>
                <a:latin typeface="Calibri"/>
              </a:defRPr>
            </a:pPr>
            <a:r>
              <a:t>A Venkata Balaji   ·   Reg. No: 23BCE20336</a:t>
            </a:r>
          </a:p>
        </p:txBody>
      </p:sp>
      <p:sp>
        <p:nvSpPr>
          <p:cNvPr id="6" name="TextBox 5"/>
          <p:cNvSpPr txBox="1"/>
          <p:nvPr/>
        </p:nvSpPr>
        <p:spPr>
          <a:xfrm>
            <a:off x="8961120" y="6528816"/>
            <a:ext cx="2651760" cy="274320"/>
          </a:xfrm>
          <a:prstGeom prst="rect">
            <a:avLst/>
          </a:prstGeom>
          <a:noFill/>
        </p:spPr>
        <p:txBody>
          <a:bodyPr wrap="none" lIns="0" rIns="0" tIns="0" bIns="0">
            <a:spAutoFit/>
          </a:bodyPr>
          <a:lstStyle/>
          <a:p>
            <a:pPr algn="r">
              <a:defRPr sz="1000">
                <a:solidFill>
                  <a:srgbClr val="5A6B7C"/>
                </a:solidFill>
                <a:latin typeface="Calibri"/>
              </a:defRPr>
            </a:pPr>
            <a:r>
              <a:t>Handwritten Manuscript Recognition using ViT</a:t>
            </a:r>
          </a:p>
        </p:txBody>
      </p:sp>
      <p:sp>
        <p:nvSpPr>
          <p:cNvPr id="7" name="Rounded Rectangle 6"/>
          <p:cNvSpPr/>
          <p:nvPr/>
        </p:nvSpPr>
        <p:spPr>
          <a:xfrm>
            <a:off x="548640" y="1353312"/>
            <a:ext cx="2103120" cy="33375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 y="1426464"/>
            <a:ext cx="1956815" cy="457200"/>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000" b="1">
                <a:solidFill>
                  <a:srgbClr val="FFFFFF"/>
                </a:solidFill>
                <a:latin typeface="Calibri"/>
              </a:defRPr>
            </a:pPr>
            <a:r>
              <a:t>1. Data Ingestion</a:t>
            </a:r>
          </a:p>
          <a:p>
            <a:pPr algn="ctr">
              <a:defRPr sz="850">
                <a:solidFill>
                  <a:srgbClr val="FFFFFF"/>
                </a:solidFill>
                <a:latin typeface="Calibri"/>
              </a:defRPr>
            </a:pPr>
            <a:r>
              <a:t>Source.fetch_data()</a:t>
            </a:r>
          </a:p>
        </p:txBody>
      </p:sp>
      <p:sp>
        <p:nvSpPr>
          <p:cNvPr id="9" name="TextBox 8"/>
          <p:cNvSpPr txBox="1"/>
          <p:nvPr/>
        </p:nvSpPr>
        <p:spPr>
          <a:xfrm>
            <a:off x="658368" y="1975104"/>
            <a:ext cx="1883663" cy="2606040"/>
          </a:xfrm>
          <a:prstGeom prst="rect">
            <a:avLst/>
          </a:prstGeom>
          <a:noFill/>
        </p:spPr>
        <p:txBody>
          <a:bodyPr wrap="square" tIns="0" lIns="0" rIns="0" bIns="0">
            <a:spAutoFit/>
          </a:bodyPr>
          <a:lstStyle/>
          <a:p>
            <a:pPr>
              <a:spcAft>
                <a:spcPts val="400"/>
              </a:spcAft>
              <a:defRPr sz="950">
                <a:solidFill>
                  <a:srgbClr val="243140"/>
                </a:solidFill>
                <a:latin typeface="Calibri"/>
              </a:defRPr>
            </a:pPr>
            <a:r>
              <a:t>• Auto-Discovery: Scans datasets/&lt;name&gt;/ automatically.</a:t>
            </a:r>
          </a:p>
          <a:p>
            <a:pPr>
              <a:spcAft>
                <a:spcPts val="400"/>
              </a:spcAft>
              <a:defRPr sz="950">
                <a:solidFill>
                  <a:srgbClr val="243140"/>
                </a:solidFill>
                <a:latin typeface="Calibri"/>
              </a:defRPr>
            </a:pPr>
            <a:r>
              <a:t>• Metadata Parsing: Parses XML Page format, JSON, or text files.</a:t>
            </a:r>
          </a:p>
          <a:p>
            <a:pPr>
              <a:spcAft>
                <a:spcPts val="400"/>
              </a:spcAft>
              <a:defRPr sz="950">
                <a:solidFill>
                  <a:srgbClr val="243140"/>
                </a:solidFill>
                <a:latin typeface="Calibri"/>
              </a:defRPr>
            </a:pPr>
            <a:r>
              <a:t>• Split Extraction: Generates train, valid, and test partitions.</a:t>
            </a:r>
          </a:p>
          <a:p>
            <a:pPr>
              <a:spcAft>
                <a:spcPts val="400"/>
              </a:spcAft>
              <a:defRPr sz="950">
                <a:solidFill>
                  <a:srgbClr val="243140"/>
                </a:solidFill>
                <a:latin typeface="Calibri"/>
              </a:defRPr>
            </a:pPr>
            <a:r>
              <a:t>• Tuple Packaging: Extracts image path, bbox, text, and writer ID.</a:t>
            </a:r>
          </a:p>
        </p:txBody>
      </p:sp>
      <p:sp>
        <p:nvSpPr>
          <p:cNvPr id="10" name="Rounded Rectangle 9"/>
          <p:cNvSpPr/>
          <p:nvPr/>
        </p:nvSpPr>
        <p:spPr>
          <a:xfrm>
            <a:off x="2788920" y="1353312"/>
            <a:ext cx="2103120" cy="3337560"/>
          </a:xfrm>
          <a:prstGeom prst="roundRect">
            <a:avLst/>
          </a:prstGeom>
          <a:solidFill>
            <a:srgbClr val="F8FAFC"/>
          </a:solidFill>
          <a:ln w="1905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62072" y="1426464"/>
            <a:ext cx="1956815" cy="457200"/>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000" b="1">
                <a:solidFill>
                  <a:srgbClr val="FFFFFF"/>
                </a:solidFill>
                <a:latin typeface="Calibri"/>
              </a:defRPr>
            </a:pPr>
            <a:r>
              <a:t>2. Image Standardizer</a:t>
            </a:r>
          </a:p>
          <a:p>
            <a:pPr algn="ctr">
              <a:defRPr sz="850">
                <a:solidFill>
                  <a:srgbClr val="FFFFFF"/>
                </a:solidFill>
                <a:latin typeface="Calibri"/>
              </a:defRPr>
            </a:pPr>
            <a:r>
              <a:t>sarah/data/dataset.py</a:t>
            </a:r>
          </a:p>
        </p:txBody>
      </p:sp>
      <p:sp>
        <p:nvSpPr>
          <p:cNvPr id="12" name="TextBox 11"/>
          <p:cNvSpPr txBox="1"/>
          <p:nvPr/>
        </p:nvSpPr>
        <p:spPr>
          <a:xfrm>
            <a:off x="2898648" y="1975104"/>
            <a:ext cx="1883663" cy="2606040"/>
          </a:xfrm>
          <a:prstGeom prst="rect">
            <a:avLst/>
          </a:prstGeom>
          <a:noFill/>
        </p:spPr>
        <p:txBody>
          <a:bodyPr wrap="square" tIns="0" lIns="0" rIns="0" bIns="0">
            <a:spAutoFit/>
          </a:bodyPr>
          <a:lstStyle/>
          <a:p>
            <a:pPr>
              <a:spcAft>
                <a:spcPts val="400"/>
              </a:spcAft>
              <a:defRPr sz="950">
                <a:solidFill>
                  <a:srgbClr val="243140"/>
                </a:solidFill>
                <a:latin typeface="Calibri"/>
              </a:defRPr>
            </a:pPr>
            <a:r>
              <a:t>• Aspect Resize: Scales height to 64px keeping aspect ratio.</a:t>
            </a:r>
          </a:p>
          <a:p>
            <a:pPr>
              <a:spcAft>
                <a:spcPts val="400"/>
              </a:spcAft>
              <a:defRPr sz="950">
                <a:solidFill>
                  <a:srgbClr val="243140"/>
                </a:solidFill>
                <a:latin typeface="Calibri"/>
              </a:defRPr>
            </a:pPr>
            <a:r>
              <a:t>• Width Padding: Pads horizontally up to 1024px width.</a:t>
            </a:r>
          </a:p>
          <a:p>
            <a:pPr>
              <a:spcAft>
                <a:spcPts val="400"/>
              </a:spcAft>
              <a:defRPr sz="950">
                <a:solidFill>
                  <a:srgbClr val="243140"/>
                </a:solidFill>
                <a:latin typeface="Calibri"/>
              </a:defRPr>
            </a:pPr>
            <a:r>
              <a:t>• Illumination: Corrects uneven historical lighting gradients.</a:t>
            </a:r>
          </a:p>
          <a:p>
            <a:pPr>
              <a:spcAft>
                <a:spcPts val="400"/>
              </a:spcAft>
              <a:defRPr sz="950">
                <a:solidFill>
                  <a:srgbClr val="243140"/>
                </a:solidFill>
                <a:latin typeface="Calibri"/>
              </a:defRPr>
            </a:pPr>
            <a:r>
              <a:t>• Grayscale Float: Normalizes pixel values cleanly to [0.0, 1.0].</a:t>
            </a:r>
          </a:p>
        </p:txBody>
      </p:sp>
      <p:sp>
        <p:nvSpPr>
          <p:cNvPr id="13" name="Rounded Rectangle 12"/>
          <p:cNvSpPr/>
          <p:nvPr/>
        </p:nvSpPr>
        <p:spPr>
          <a:xfrm>
            <a:off x="5029199" y="1353312"/>
            <a:ext cx="2103120" cy="3337560"/>
          </a:xfrm>
          <a:prstGeom prst="roundRect">
            <a:avLst/>
          </a:prstGeom>
          <a:solidFill>
            <a:srgbClr val="F8FAFC"/>
          </a:solidFill>
          <a:ln w="19050">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02351" y="1426464"/>
            <a:ext cx="1956815" cy="457200"/>
          </a:xfrm>
          <a:prstGeom prst="round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000" b="1">
                <a:solidFill>
                  <a:srgbClr val="FFFFFF"/>
                </a:solidFill>
                <a:latin typeface="Calibri"/>
              </a:defRPr>
            </a:pPr>
            <a:r>
              <a:t>3. Data Augmentation</a:t>
            </a:r>
          </a:p>
          <a:p>
            <a:pPr algn="ctr">
              <a:defRPr sz="850">
                <a:solidFill>
                  <a:srgbClr val="FFFFFF"/>
                </a:solidFill>
                <a:latin typeface="Calibri"/>
              </a:defRPr>
            </a:pPr>
            <a:r>
              <a:t>Online Training Jitter</a:t>
            </a:r>
          </a:p>
        </p:txBody>
      </p:sp>
      <p:sp>
        <p:nvSpPr>
          <p:cNvPr id="15" name="TextBox 14"/>
          <p:cNvSpPr txBox="1"/>
          <p:nvPr/>
        </p:nvSpPr>
        <p:spPr>
          <a:xfrm>
            <a:off x="5138927" y="1975104"/>
            <a:ext cx="1883663" cy="2606040"/>
          </a:xfrm>
          <a:prstGeom prst="rect">
            <a:avLst/>
          </a:prstGeom>
          <a:noFill/>
        </p:spPr>
        <p:txBody>
          <a:bodyPr wrap="square" tIns="0" lIns="0" rIns="0" bIns="0">
            <a:spAutoFit/>
          </a:bodyPr>
          <a:lstStyle/>
          <a:p>
            <a:pPr>
              <a:spcAft>
                <a:spcPts val="400"/>
              </a:spcAft>
              <a:defRPr sz="950">
                <a:solidFill>
                  <a:srgbClr val="243140"/>
                </a:solidFill>
                <a:latin typeface="Calibri"/>
              </a:defRPr>
            </a:pPr>
            <a:r>
              <a:t>• Slant &amp; Tilt: Applies random shear (±5°) &amp; slight rotation.</a:t>
            </a:r>
          </a:p>
          <a:p>
            <a:pPr>
              <a:spcAft>
                <a:spcPts val="400"/>
              </a:spcAft>
              <a:defRPr sz="950">
                <a:solidFill>
                  <a:srgbClr val="243140"/>
                </a:solidFill>
                <a:latin typeface="Calibri"/>
              </a:defRPr>
            </a:pPr>
            <a:r>
              <a:t>• Scale Jitter: Random zoom/stretch simulates handwriting size.</a:t>
            </a:r>
          </a:p>
          <a:p>
            <a:pPr>
              <a:spcAft>
                <a:spcPts val="400"/>
              </a:spcAft>
              <a:defRPr sz="950">
                <a:solidFill>
                  <a:srgbClr val="243140"/>
                </a:solidFill>
                <a:latin typeface="Calibri"/>
              </a:defRPr>
            </a:pPr>
            <a:r>
              <a:t>• Parchment Noise: Adds Gaussian &amp; speckle noise for ink fading.</a:t>
            </a:r>
          </a:p>
          <a:p>
            <a:pPr>
              <a:spcAft>
                <a:spcPts val="400"/>
              </a:spcAft>
              <a:defRPr sz="950">
                <a:solidFill>
                  <a:srgbClr val="243140"/>
                </a:solidFill>
                <a:latin typeface="Calibri"/>
              </a:defRPr>
            </a:pPr>
            <a:r>
              <a:t>• Generalization: Prevents model from memorizing specific pens.</a:t>
            </a:r>
          </a:p>
        </p:txBody>
      </p:sp>
      <p:sp>
        <p:nvSpPr>
          <p:cNvPr id="16" name="Rounded Rectangle 15"/>
          <p:cNvSpPr/>
          <p:nvPr/>
        </p:nvSpPr>
        <p:spPr>
          <a:xfrm>
            <a:off x="7269479" y="1353312"/>
            <a:ext cx="2103120" cy="3337560"/>
          </a:xfrm>
          <a:prstGeom prst="roundRect">
            <a:avLst/>
          </a:prstGeom>
          <a:solidFill>
            <a:srgbClr val="F8FAFC"/>
          </a:solidFill>
          <a:ln w="19050">
            <a:solidFill>
              <a:srgbClr val="184C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42631" y="1426464"/>
            <a:ext cx="1956815" cy="457200"/>
          </a:xfrm>
          <a:prstGeom prst="roundRect">
            <a:avLst/>
          </a:prstGeom>
          <a:solidFill>
            <a:srgbClr val="184C78"/>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000" b="1">
                <a:solidFill>
                  <a:srgbClr val="FFFFFF"/>
                </a:solidFill>
                <a:latin typeface="Calibri"/>
              </a:defRPr>
            </a:pPr>
            <a:r>
              <a:t>4. Tokenizer Engine</a:t>
            </a:r>
          </a:p>
          <a:p>
            <a:pPr algn="ctr">
              <a:defRPr sz="850">
                <a:solidFill>
                  <a:srgbClr val="FFFFFF"/>
                </a:solidFill>
                <a:latin typeface="Calibri"/>
              </a:defRPr>
            </a:pPr>
            <a:r>
              <a:t>sarah/data/tokenizer.py</a:t>
            </a:r>
          </a:p>
        </p:txBody>
      </p:sp>
      <p:sp>
        <p:nvSpPr>
          <p:cNvPr id="18" name="TextBox 17"/>
          <p:cNvSpPr txBox="1"/>
          <p:nvPr/>
        </p:nvSpPr>
        <p:spPr>
          <a:xfrm>
            <a:off x="7379207" y="1975104"/>
            <a:ext cx="1883663" cy="2606040"/>
          </a:xfrm>
          <a:prstGeom prst="rect">
            <a:avLst/>
          </a:prstGeom>
          <a:noFill/>
        </p:spPr>
        <p:txBody>
          <a:bodyPr wrap="square" tIns="0" lIns="0" rIns="0" bIns="0">
            <a:spAutoFit/>
          </a:bodyPr>
          <a:lstStyle/>
          <a:p>
            <a:pPr>
              <a:spcAft>
                <a:spcPts val="400"/>
              </a:spcAft>
              <a:defRPr sz="950">
                <a:solidFill>
                  <a:srgbClr val="243140"/>
                </a:solidFill>
                <a:latin typeface="Calibri"/>
              </a:defRPr>
            </a:pPr>
            <a:r>
              <a:t>• Character Mapping: Maps unique characters to integer token IDs.</a:t>
            </a:r>
          </a:p>
          <a:p>
            <a:pPr>
              <a:spcAft>
                <a:spcPts val="400"/>
              </a:spcAft>
              <a:defRPr sz="950">
                <a:solidFill>
                  <a:srgbClr val="243140"/>
                </a:solidFill>
                <a:latin typeface="Calibri"/>
              </a:defRPr>
            </a:pPr>
            <a:r>
              <a:t>• CTC Blank Token: Reserves index 0 as blank for CTC alignment.</a:t>
            </a:r>
          </a:p>
          <a:p>
            <a:pPr>
              <a:spcAft>
                <a:spcPts val="400"/>
              </a:spcAft>
              <a:defRPr sz="950">
                <a:solidFill>
                  <a:srgbClr val="243140"/>
                </a:solidFill>
                <a:latin typeface="Calibri"/>
              </a:defRPr>
            </a:pPr>
            <a:r>
              <a:t>• Multilingual Support: Handles Latin accents, digits, and symbols.</a:t>
            </a:r>
          </a:p>
          <a:p>
            <a:pPr>
              <a:spcAft>
                <a:spcPts val="400"/>
              </a:spcAft>
              <a:defRPr sz="950">
                <a:solidFill>
                  <a:srgbClr val="243140"/>
                </a:solidFill>
                <a:latin typeface="Calibri"/>
              </a:defRPr>
            </a:pPr>
            <a:r>
              <a:t>• Dynamic Vocab: Adapts lexicon shape based on chosen dataset.</a:t>
            </a:r>
          </a:p>
        </p:txBody>
      </p:sp>
      <p:sp>
        <p:nvSpPr>
          <p:cNvPr id="19" name="Rounded Rectangle 18"/>
          <p:cNvSpPr/>
          <p:nvPr/>
        </p:nvSpPr>
        <p:spPr>
          <a:xfrm>
            <a:off x="9509759" y="1353312"/>
            <a:ext cx="2103120" cy="3337560"/>
          </a:xfrm>
          <a:prstGeom prst="roundRect">
            <a:avLst/>
          </a:prstGeom>
          <a:solidFill>
            <a:srgbClr val="F8FAFC"/>
          </a:solidFill>
          <a:ln w="19050">
            <a:solidFill>
              <a:srgbClr val="1B9E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582911" y="1426464"/>
            <a:ext cx="1956815" cy="457200"/>
          </a:xfrm>
          <a:prstGeom prst="roundRect">
            <a:avLst/>
          </a:prstGeom>
          <a:solidFill>
            <a:srgbClr val="1B9E8E"/>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000" b="1">
                <a:solidFill>
                  <a:srgbClr val="FFFFFF"/>
                </a:solidFill>
                <a:latin typeface="Calibri"/>
              </a:defRPr>
            </a:pPr>
            <a:r>
              <a:t>5. Batch Generator</a:t>
            </a:r>
          </a:p>
          <a:p>
            <a:pPr algn="ctr">
              <a:defRPr sz="850">
                <a:solidFill>
                  <a:srgbClr val="FFFFFF"/>
                </a:solidFill>
                <a:latin typeface="Calibri"/>
              </a:defRPr>
            </a:pPr>
            <a:r>
              <a:t>dataset.get_generator()</a:t>
            </a:r>
          </a:p>
        </p:txBody>
      </p:sp>
      <p:sp>
        <p:nvSpPr>
          <p:cNvPr id="21" name="TextBox 20"/>
          <p:cNvSpPr txBox="1"/>
          <p:nvPr/>
        </p:nvSpPr>
        <p:spPr>
          <a:xfrm>
            <a:off x="9619487" y="1975104"/>
            <a:ext cx="1883663" cy="2606040"/>
          </a:xfrm>
          <a:prstGeom prst="rect">
            <a:avLst/>
          </a:prstGeom>
          <a:noFill/>
        </p:spPr>
        <p:txBody>
          <a:bodyPr wrap="square" tIns="0" lIns="0" rIns="0" bIns="0">
            <a:spAutoFit/>
          </a:bodyPr>
          <a:lstStyle/>
          <a:p>
            <a:pPr>
              <a:spcAft>
                <a:spcPts val="400"/>
              </a:spcAft>
              <a:defRPr sz="950">
                <a:solidFill>
                  <a:srgbClr val="243140"/>
                </a:solidFill>
                <a:latin typeface="Calibri"/>
              </a:defRPr>
            </a:pPr>
            <a:r>
              <a:t>• Parallel Prefetch: Uses multiprocessing background worker threads.</a:t>
            </a:r>
          </a:p>
          <a:p>
            <a:pPr>
              <a:spcAft>
                <a:spcPts val="400"/>
              </a:spcAft>
              <a:defRPr sz="950">
                <a:solidFill>
                  <a:srgbClr val="243140"/>
                </a:solidFill>
                <a:latin typeface="Calibri"/>
              </a:defRPr>
            </a:pPr>
            <a:r>
              <a:t>• Tensor Batching: Yields (Batch_Size, 64, 1024, 1) input tensors.</a:t>
            </a:r>
          </a:p>
          <a:p>
            <a:pPr>
              <a:spcAft>
                <a:spcPts val="400"/>
              </a:spcAft>
              <a:defRPr sz="950">
                <a:solidFill>
                  <a:srgbClr val="243140"/>
                </a:solidFill>
                <a:latin typeface="Calibri"/>
              </a:defRPr>
            </a:pPr>
            <a:r>
              <a:t>• Ground Truth: Packages encoded integer labels &amp; lengths.</a:t>
            </a:r>
          </a:p>
          <a:p>
            <a:pPr>
              <a:spcAft>
                <a:spcPts val="400"/>
              </a:spcAft>
              <a:defRPr sz="950">
                <a:solidFill>
                  <a:srgbClr val="243140"/>
                </a:solidFill>
                <a:latin typeface="Calibri"/>
              </a:defRPr>
            </a:pPr>
            <a:r>
              <a:t>• Flexible Modes: Supports single-source, all-english, or all-in-one.</a:t>
            </a:r>
          </a:p>
        </p:txBody>
      </p:sp>
      <p:sp>
        <p:nvSpPr>
          <p:cNvPr id="22" name="Rounded Rectangle 21"/>
          <p:cNvSpPr/>
          <p:nvPr/>
        </p:nvSpPr>
        <p:spPr>
          <a:xfrm>
            <a:off x="548640" y="4892040"/>
            <a:ext cx="11064240" cy="1417320"/>
          </a:xfrm>
          <a:prstGeom prst="round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spcAft>
                <a:spcPts val="200"/>
              </a:spcAft>
              <a:defRPr sz="1100" b="1">
                <a:solidFill>
                  <a:srgbClr val="1B9E8E"/>
                </a:solidFill>
                <a:latin typeface="Calibri"/>
              </a:defRPr>
            </a:pPr>
            <a:r>
              <a:t>Python Execution Pipeline  |  Repository: https://github.com/Balaji268268/HandwrittenTextRecognition</a:t>
            </a:r>
          </a:p>
          <a:p>
            <a:pPr>
              <a:defRPr sz="950">
                <a:solidFill>
                  <a:srgbClr val="FFFFFF"/>
                </a:solidFill>
                <a:latin typeface="Consolas"/>
              </a:defRPr>
            </a:pPr>
            <a:r>
              <a:t>dataset = Dataset(source='all-english', text_level='line', image_shape=(64, 1024, 1))</a:t>
            </a:r>
            <a:br/>
            <a:r>
              <a:t>compose = Compose(recognition='flor', image_shape=(64, 1024, 1), tokenizer=dataset.tokenizer)</a:t>
            </a:r>
            <a:br/>
            <a:r>
              <a:t>compose.fit(training_generator=train_gen, validation_generator=val_gen, epochs=1000, batch_size=8)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