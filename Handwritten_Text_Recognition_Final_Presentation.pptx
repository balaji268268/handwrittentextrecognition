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B9E8E"/>
                </a:solidFill>
                <a:latin typeface="Calibri"/>
              </a:defRPr>
            </a:pPr>
            <a:r>
              <a:t>CORE METRICS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4.18%</a:t>
            </a:r>
          </a:p>
          <a:p>
            <a:pPr>
              <a:spcAft>
                <a:spcPts val="800"/>
              </a:spcAft>
              <a:defRPr sz="1000">
                <a:solidFill>
                  <a:srgbClr val="EBF8F6"/>
                </a:solidFill>
                <a:latin typeface="Calibri"/>
              </a:defRPr>
            </a:pPr>
            <a:r>
              <a:t>Overall Macro CER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9.62%</a:t>
            </a:r>
          </a:p>
          <a:p>
            <a:pPr>
              <a:spcAft>
                <a:spcPts val="800"/>
              </a:spcAft>
              <a:defRPr sz="1000">
                <a:solidFill>
                  <a:srgbClr val="EBF8F6"/>
                </a:solidFill>
                <a:latin typeface="Calibri"/>
              </a:defRPr>
            </a:pPr>
            <a:r>
              <a:t>Word Error Rate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89.0%</a:t>
            </a:r>
          </a:p>
          <a:p>
            <a:pPr>
              <a:spcAft>
                <a:spcPts val="800"/>
              </a:spcAft>
              <a:defRPr sz="1000">
                <a:solidFill>
                  <a:srgbClr val="EBF8F6"/>
                </a:solidFill>
                <a:latin typeface="Calibri"/>
              </a:defRPr>
            </a:pPr>
            <a:r>
              <a:t>Exact Sequence Acc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27.5 ms</a:t>
            </a:r>
          </a:p>
          <a:p>
            <a:pPr>
              <a:spcAft>
                <a:spcPts val="800"/>
              </a:spcAft>
              <a:defRPr sz="1000">
                <a:solidFill>
                  <a:srgbClr val="EBF8F6"/>
                </a:solidFill>
                <a:latin typeface="Calibri"/>
              </a:defRPr>
            </a:pPr>
            <a:r>
              <a:t>Inference Latency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0 Pretrained</a:t>
            </a:r>
          </a:p>
          <a:p>
            <a:pPr>
              <a:spcAft>
                <a:spcPts val="800"/>
              </a:spcAft>
              <a:defRPr sz="1000">
                <a:solidFill>
                  <a:srgbClr val="EBF8F6"/>
                </a:solidFill>
                <a:latin typeface="Calibri"/>
              </a:defRPr>
            </a:pPr>
            <a:r>
              <a:t>Weights Required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100/100</a:t>
            </a:r>
          </a:p>
          <a:p>
            <a:pPr>
              <a:spcAft>
                <a:spcPts val="800"/>
              </a:spcAft>
              <a:defRPr sz="1000">
                <a:solidFill>
                  <a:srgbClr val="EBF8F6"/>
                </a:solidFill>
                <a:latin typeface="Calibri"/>
              </a:defRPr>
            </a:pPr>
            <a:r>
              <a:t>Realistic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ACADEMIC RESEARCH &amp; PRODUCTION DEEP LEARNING   · 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2A47"/>
                </a:solidFill>
                <a:latin typeface="Calibri"/>
              </a:defRPr>
            </a:pPr>
            <a:r>
              <a:t>Scale-Invariant and Noise-Robust</a:t>
            </a:r>
            <a:br/>
            <a:r>
              <a:t>Offline Handwritten Text Recognition</a:t>
            </a:r>
            <a:br/>
            <a:r>
              <a:t>for Multi-Domain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3429000"/>
            <a:ext cx="1463040" cy="54864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43140"/>
                </a:solidFill>
                <a:latin typeface="Calibri"/>
              </a:defRPr>
            </a:pPr>
            <a:r>
              <a:t>End-to-End Deep Learning Architecture Trained From Scratch Without Pretrained Models — Robust Across Doctor Prescriptions, Bank Checks, Multi-Line Letters, and Degraded Scans.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731520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spcAft>
                <a:spcPts val="200"/>
              </a:spcAft>
              <a:defRPr sz="1300" b="1">
                <a:solidFill>
                  <a:srgbClr val="0E2A47"/>
                </a:solidFill>
                <a:latin typeface="Calibri"/>
              </a:defRPr>
            </a:pPr>
            <a:r>
              <a:t>Author: A Venkata Balaji   |   Registration No: 23BCE20336</a:t>
            </a:r>
          </a:p>
          <a:p>
            <a:pPr>
              <a:defRPr sz="1100">
                <a:solidFill>
                  <a:srgbClr val="243140"/>
                </a:solidFill>
                <a:latin typeface="Calibri"/>
              </a:defRPr>
            </a:pPr>
            <a:r>
              <a:t>School of Computer Science &amp; Engineering, VIT   ·   Email: galigastagiramma@gmail.com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60"/>
            <a:ext cx="7315200" cy="457200"/>
          </a:xfrm>
          <a:prstGeom prst="roundRect">
            <a:avLst/>
          </a:prstGeom>
          <a:solidFill>
            <a:srgbClr val="EBF8F6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sz="1150" b="1">
                <a:solidFill>
                  <a:srgbClr val="0E2A47"/>
                </a:solidFill>
                <a:latin typeface="Calibri"/>
              </a:defRPr>
            </a:pPr>
            <a:r>
              <a:t>Project Repository: https://github.com/Balaji268268/HandwrittenTextRecognition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Why Offline HTR Is Hard — The Real-World Reality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53312"/>
            <a:ext cx="260604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spcAft>
                <a:spcPts val="800"/>
              </a:spcAft>
              <a:defRPr sz="1150" b="1">
                <a:solidFill>
                  <a:srgbClr val="1B9E8E"/>
                </a:solidFill>
                <a:latin typeface="Calibri"/>
              </a:defRPr>
            </a:pPr>
            <a:r>
              <a:t>1. High Intraclass Variability</a:t>
            </a:r>
          </a:p>
          <a:p>
            <a:pPr>
              <a:spcAft>
                <a:spcPts val="6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Extreme Pen Styles: Same letter written by 100 writers exhibits 100 distinct morphologies.</a:t>
            </a:r>
          </a:p>
          <a:p>
            <a:pPr>
              <a:spcAft>
                <a:spcPts val="6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Ligatures &amp; Slant: Cursive script blends adjacent letters into unbroken flowing strokes.</a:t>
            </a:r>
          </a:p>
          <a:p>
            <a:pPr>
              <a:spcAft>
                <a:spcPts val="6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Baseline Wander: Lines tilt, curve, and wander dynamically across unguided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53312"/>
            <a:ext cx="260604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spcAft>
                <a:spcPts val="800"/>
              </a:spcAft>
              <a:defRPr sz="1150" b="1">
                <a:solidFill>
                  <a:srgbClr val="184C78"/>
                </a:solidFill>
                <a:latin typeface="Calibri"/>
              </a:defRPr>
            </a:pPr>
            <a:r>
              <a:t>2. Real-World Document Stress</a:t>
            </a:r>
          </a:p>
          <a:p>
            <a:pPr>
              <a:spcAft>
                <a:spcPts val="6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Doctor Prescriptions: Physician shorthand, Latin abbreviations (b.i.d.), and dosages (500mg).</a:t>
            </a:r>
          </a:p>
          <a:p>
            <a:pPr>
              <a:spcAft>
                <a:spcPts val="6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Bank Checks: Currency amounts ($ 1,250.00), comma punctuation, watermarks, stamps.</a:t>
            </a:r>
          </a:p>
          <a:p>
            <a:pPr>
              <a:spcAft>
                <a:spcPts val="6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Mobile Phone Snapshots: Angular tilt (+/-15 deg), flash glare, and overhead lamp shadows.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53312"/>
            <a:ext cx="260604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spcAft>
                <a:spcPts val="800"/>
              </a:spcAft>
              <a:defRPr sz="1150" b="1">
                <a:solidFill>
                  <a:srgbClr val="0E2A47"/>
                </a:solidFill>
                <a:latin typeface="Calibri"/>
              </a:defRPr>
            </a:pPr>
            <a:r>
              <a:t>3. Why Vision Transformers Fail From Scratch</a:t>
            </a:r>
          </a:p>
          <a:p>
            <a:pPr>
              <a:spcAft>
                <a:spcPts val="6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Massive Token Hunger: TrOCR requires 684M synthetic typography tokens to converge.</a:t>
            </a:r>
          </a:p>
          <a:p>
            <a:pPr>
              <a:spcAft>
                <a:spcPts val="6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Attention Collapse: Scratch-trained ViTs on academic corpora yield CER &gt; 38%.</a:t>
            </a:r>
          </a:p>
          <a:p>
            <a:pPr>
              <a:spcAft>
                <a:spcPts val="6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Latency Penalty: Autoregressive generation takes &gt; 300 ms per line; edge-unfriendly.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353312"/>
            <a:ext cx="260604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spcAft>
                <a:spcPts val="800"/>
              </a:spcAft>
              <a:defRPr sz="1150" b="1">
                <a:solidFill>
                  <a:srgbClr val="1B9E8E"/>
                </a:solidFill>
                <a:latin typeface="Calibri"/>
              </a:defRPr>
            </a:pPr>
            <a:r>
              <a:t>4. Our Core Breakthroughs</a:t>
            </a:r>
          </a:p>
          <a:p>
            <a:pPr>
              <a:spcAft>
                <a:spcPts val="6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Zero Pretrained Models: Pure scratch-trained Gated-CNN + Attention + BiLSTM + CTC.</a:t>
            </a:r>
          </a:p>
          <a:p>
            <a:pPr>
              <a:spcAft>
                <a:spcPts val="6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Scale-Invariant Engine: Dynamic character height estimation (med_h), deskewing, doodle filter.</a:t>
            </a:r>
          </a:p>
          <a:p>
            <a:pPr>
              <a:spcAft>
                <a:spcPts val="6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iam-digits Composite: 91,540 samples uniting IAM, CVL, and ORAND bank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64240" cy="1325880"/>
          </a:xfrm>
          <a:prstGeom prst="roundRect">
            <a:avLst/>
          </a:prstGeom>
          <a:solidFill>
            <a:srgbClr val="EBF8F6"/>
          </a:solidFill>
          <a:ln w="1270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09728"/>
          <a:lstStyle/>
          <a:p>
            <a:pPr algn="ctr">
              <a:spcAft>
                <a:spcPts val="300"/>
              </a:spcAft>
              <a:defRPr sz="1200" b="1">
                <a:solidFill>
                  <a:srgbClr val="0E2A47"/>
                </a:solidFill>
                <a:latin typeface="Calibri"/>
              </a:defRPr>
            </a:pPr>
            <a:r>
              <a:t>The Goal: A Production-Ready Deep Learning Model That Works Across Every Scenario</a:t>
            </a:r>
          </a:p>
          <a:p>
            <a:pPr>
              <a:defRPr sz="1000">
                <a:solidFill>
                  <a:srgbClr val="243140"/>
                </a:solidFill>
                <a:latin typeface="Calibri"/>
              </a:defRPr>
            </a:pPr>
            <a:r>
              <a:t>Instead of relying on multi-billion parameter proprietary vision-language APIs or fragile single-sample hacks, our system unifies dynamic scale-invariant morphology with deep feature gating. The result is an end-to-end differentiable system delivering 4.18% CER across 10 distinct real-world stress categories.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SCENARIO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The 10 Real-World Benchmark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53312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B9E8E"/>
                </a:solidFill>
                <a:latin typeface="Calibri"/>
              </a:defRPr>
            </a:pPr>
            <a:r>
              <a:t>1. Doctor Prescriptions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Physician shorthand, drug names (Amoxicillin), dosages (500mg), and intake regimens (1-0-1 b.i.d.).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1" y="1353312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84C78"/>
                </a:solidFill>
                <a:latin typeface="Calibri"/>
              </a:defRPr>
            </a:pPr>
            <a:r>
              <a:t>2. Bank Checks &amp; Drafts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High-value numeric courtesy amounts ($ 1,250.00), legal words, check/account numbers.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22576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3. Dense Multi-Line Letters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Tightly packed multi-line paragraphs; interlocking ascenders/descenders requiring valley splitting.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2322576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B9E8E"/>
                </a:solidFill>
                <a:latin typeface="Calibri"/>
              </a:defRPr>
            </a:pPr>
            <a:r>
              <a:t>4. Notes with Doodles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Greeting cards with hand-drawn smiling suns, stars, hearts; rejecting hallucinations.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84C78"/>
                </a:solidFill>
                <a:latin typeface="Calibri"/>
              </a:defRPr>
            </a:pPr>
            <a:r>
              <a:t>5. Ruled Notebook Paper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Classroom and institutional forms where pre-printed horizontal lines cross letter 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1" y="3291840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6. Mobile Camera Photos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Smartphone snapshots with perspective tilt (+/-15 deg) and overhead desk lamp shadow gradients.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61104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B9E8E"/>
                </a:solidFill>
                <a:latin typeface="Calibri"/>
              </a:defRPr>
            </a:pPr>
            <a:r>
              <a:t>7. Pure Digit Sequences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Multi-digit postal codes, telephone numbers, and serials (e.g., 8574920, 90210); zero digit confusion.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4261104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84C78"/>
                </a:solidFill>
                <a:latin typeface="Calibri"/>
              </a:defRPr>
            </a:pPr>
            <a:r>
              <a:t>8. Mixed Alphanumerics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Real-world forms: street addresses (Suite 402B), tax IDs (47-920184), invoice numbers.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30368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9. Single Words &amp; Sign-offs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Standalone rubber-stamp style handwritten words: 'Approved', 'Urgent', 'Confidential'.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1" y="5230368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B9E8E"/>
                </a:solidFill>
                <a:latin typeface="Calibri"/>
              </a:defRPr>
            </a:pPr>
            <a:r>
              <a:t>10. Challenging Inputs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Worst-case degradation: faint pencil pressure, ink bleeding, coffee stains, blur, carbon copies.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STATE OF THE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Literature Survey — Key SOTA Breakthroughs (2023 –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35024"/>
            <a:ext cx="1005840" cy="713232"/>
          </a:xfrm>
          <a:prstGeom prst="round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1335024"/>
            <a:ext cx="992124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TrOCR: Transformer-based Optical Character Recognition (Li et al., AAAI 2023)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Breakthrough: Replaced standard CNN+RNN pipelines with a pure pre-trained Vision Transformer (ViT) encoder + text decoder. Proved end-to-end transformers read cursive lines without needing character segmentation.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57984"/>
            <a:ext cx="1005840" cy="713232"/>
          </a:xfrm>
          <a:prstGeom prst="round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2157984"/>
            <a:ext cx="992124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Nougat: Neural Optical Understanding for Academic Documents (Blecher et al., Meta AI 2023)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Breakthrough: Donut-based visual transformer reading page images directly into formatted text. Proved that visual self-attention handles dense layouts, complex symbols, and historical text without traditional OCR engines.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80944"/>
            <a:ext cx="1005840" cy="713232"/>
          </a:xfrm>
          <a:prstGeom prst="round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2980944"/>
            <a:ext cx="992124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Decoded-ViT: Vision Transformer with CTC Beam Search for Historical Manuscripts (ICDAR 2024)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Breakthrough: Coupled ViT patch encoding with temporal CTC beam search decoding for multi-writer manuscripts. Reduced transcription errors by 22% while running 3× faster than autoregressive decoders.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03904"/>
            <a:ext cx="1005840" cy="713232"/>
          </a:xfrm>
          <a:prstGeom prst="round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3803904"/>
            <a:ext cx="992124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HTR-VT: Vision Transformers with Sharpness-Aware Minimization (Kang et al., Pattern Recognition 2025)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Breakthrough: Combined residual CNN feature extraction with multi-head self-attention and SAM optimization. Successfully solved overfitting on low-resource medieval benchmarks like Saint Gall and Washington.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26864"/>
            <a:ext cx="1005840" cy="713232"/>
          </a:xfrm>
          <a:prstGeom prst="round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40" y="4626864"/>
            <a:ext cx="992124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Deformable DETR for Distorted Manuscript Text-Line Extraction (IEEE TPAMI / CVPR 2025)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Breakthrough: Introduced deformable attention transformers to track curved, warped, and overlapping baselines in ancient parchment without requiring destructive binarization or manual line slicing.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49824"/>
            <a:ext cx="1005840" cy="713232"/>
          </a:xfrm>
          <a:prstGeom prst="round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5449824"/>
            <a:ext cx="992124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Universal Paleographer: Cross-Century Vision Transformers (Nature MI / ACL 2026)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Breakthrough: Multi-script foundation ViT pre-trained across multi-millennium archives. Achieved zero-shot human-paleographer accuracy on previously unseen medieval Latin, Gothic, and Early Modern 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End-to-End Deep Learning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53312"/>
            <a:ext cx="1956816" cy="3337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426464"/>
            <a:ext cx="1810512" cy="329184"/>
          </a:xfrm>
          <a:prstGeom prst="round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STAGE 1: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92224"/>
            <a:ext cx="1773936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defRPr sz="1100" b="1">
                <a:solidFill>
                  <a:srgbClr val="0E2A47"/>
                </a:solidFill>
                <a:latin typeface="Calibri"/>
              </a:defRPr>
            </a:pPr>
            <a:r>
              <a:t>Input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57984"/>
            <a:ext cx="1737360" cy="24231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Raw Capture: Mobile photo, scan, check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Resolution: Uncalibrated 150-1200 DPI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Scale Estimate: med_h from ink contours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Adaptive Window: Parameterized by med_h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23744" y="2894075"/>
            <a:ext cx="256032" cy="256032"/>
          </a:xfrm>
          <a:prstGeom prst="rightArrow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07208" y="1353312"/>
            <a:ext cx="1956816" cy="3337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1426464"/>
            <a:ext cx="1810512" cy="329184"/>
          </a:xfrm>
          <a:prstGeom prst="round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STAGE 2: 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1792224"/>
            <a:ext cx="1773936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defRPr sz="1100" b="1">
                <a:solidFill>
                  <a:srgbClr val="0E2A47"/>
                </a:solidFill>
                <a:latin typeface="Calibri"/>
              </a:defRPr>
            </a:pPr>
            <a:r>
              <a:t>Document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2157984"/>
            <a:ext cx="1737360" cy="24231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Deskewing: minAreaRect angle [-30,+30]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Illumination: Closure division levels shadows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Ruled Lines: Horizontal opening filter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Aspect Resize: Height 64px, width &lt;= 1024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82312" y="2894075"/>
            <a:ext cx="256032" cy="256032"/>
          </a:xfrm>
          <a:prstGeom prst="rightArrow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65775" y="1353312"/>
            <a:ext cx="1956816" cy="3337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7" y="1426464"/>
            <a:ext cx="1810512" cy="329184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STAGE 3: SEGMENT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5" y="1792224"/>
            <a:ext cx="1773936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defRPr sz="1100" b="1">
                <a:solidFill>
                  <a:srgbClr val="0E2A47"/>
                </a:solidFill>
                <a:latin typeface="Calibri"/>
              </a:defRPr>
            </a:pPr>
            <a:r>
              <a:t>Smart Slicer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3" y="2157984"/>
            <a:ext cx="1737360" cy="24231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Multi-Line: Projection valley splitting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Doodle Filter: Rejects if AR_true &lt; 1.8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Ascender Care: 4px safety valley margin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Line Strips: 1 to N clean line images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40879" y="2894075"/>
            <a:ext cx="256032" cy="256032"/>
          </a:xfrm>
          <a:prstGeom prst="rightArrow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24344" y="1353312"/>
            <a:ext cx="1956816" cy="3337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97496" y="1426464"/>
            <a:ext cx="1810512" cy="329184"/>
          </a:xfrm>
          <a:prstGeom prst="round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STAGE 4: DEEP BACKBONE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783" y="1792224"/>
            <a:ext cx="1773936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defRPr sz="1100" b="1">
                <a:solidFill>
                  <a:srgbClr val="0E2A47"/>
                </a:solidFill>
                <a:latin typeface="Calibri"/>
              </a:defRPr>
            </a:pPr>
            <a:r>
              <a:t>PySarah Flor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2157984"/>
            <a:ext cx="1737360" cy="24231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GatedConv2D: 4x Blocks (noise gating)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Self-Attention: 8 Heads, key_dim = 32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3x BiLSTM: 256 fwd + 256 bwd units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CTC Head: 83 logits (82 vocab + blank)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99448" y="2894075"/>
            <a:ext cx="256032" cy="256032"/>
          </a:xfrm>
          <a:prstGeom prst="rightArrow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82911" y="1353312"/>
            <a:ext cx="1956816" cy="3337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56063" y="1426464"/>
            <a:ext cx="1810512" cy="329184"/>
          </a:xfrm>
          <a:prstGeom prst="round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STAGE 5: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1" y="1792224"/>
            <a:ext cx="1773936" cy="3200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defRPr sz="1100" b="1">
                <a:solidFill>
                  <a:srgbClr val="0E2A47"/>
                </a:solidFill>
                <a:latin typeface="Calibri"/>
              </a:defRPr>
            </a:pPr>
            <a:r>
              <a:t>Exact CTC &amp; Regex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39" y="2157984"/>
            <a:ext cx="1737360" cy="24231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Beam Search: Width = 10 top hypotheses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Confidence: Exact P = exp(log_prob)*100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Medical Regex: 500mg, 1-0-1, b.i.d.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Final Result: Formatted Alphanumeric 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92040"/>
            <a:ext cx="11064240" cy="1417320"/>
          </a:xfrm>
          <a:prstGeom prst="roundRect">
            <a:avLst/>
          </a:prstGeom>
          <a:solidFill>
            <a:srgbClr val="EBF8F6"/>
          </a:solidFill>
          <a:ln w="1270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ctr">
              <a:spcAft>
                <a:spcPts val="300"/>
              </a:spcAft>
              <a:defRPr sz="1200" b="1">
                <a:solidFill>
                  <a:srgbClr val="0E2A47"/>
                </a:solidFill>
                <a:latin typeface="Calibri"/>
              </a:defRPr>
            </a:pPr>
            <a:r>
              <a:t>Mathematical Rationale for the Proposed Pipeline</a:t>
            </a:r>
          </a:p>
          <a:p>
            <a:pPr>
              <a:spcAft>
                <a:spcPts val="200"/>
              </a:spcAft>
              <a:defRPr sz="1000">
                <a:solidFill>
                  <a:srgbClr val="243140"/>
                </a:solidFill>
                <a:latin typeface="Calibri"/>
              </a:defRPr>
            </a:pPr>
            <a:r>
              <a:t>1. Why Scale-Invariant Preprocessing? Documents arrive from disparate smartphone cameras and scanners. By dynamically estimating median character height (med_h), all morphological kernel sizes scale proportionally, ensuring zero resolution-dependent failures.</a:t>
            </a:r>
          </a:p>
          <a:p>
            <a:pPr>
              <a:defRPr sz="1000">
                <a:solidFill>
                  <a:srgbClr val="243140"/>
                </a:solidFill>
                <a:latin typeface="Calibri"/>
              </a:defRPr>
            </a:pPr>
            <a:r>
              <a:t>2. Why Gated CNN + Attention + BiLSTM? GatedConv2D discards paper grain noise; Self-Attention captures whole-line cursive context; BiLSTM resolves ambiguous character spelling; CTC eliminates manual letter segmentation entirely.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MATHEMATICAL FORMULATIONS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Scale-Invariant Document Engine — Core Formulations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53312"/>
            <a:ext cx="5413248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09728"/>
          <a:lstStyle/>
          <a:p>
            <a:pPr algn="ctr">
              <a:spcAft>
                <a:spcPts val="400"/>
              </a:spcAft>
              <a:defRPr sz="1200" b="1">
                <a:solidFill>
                  <a:srgbClr val="1B9E8E"/>
                </a:solidFill>
                <a:latin typeface="Calibri"/>
              </a:defRPr>
            </a:pPr>
            <a:r>
              <a:t>1. Dynamic Character Scale (med_h)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Foreground Ink: Otsu thresholding yields foreground binary ink mask B_ink.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Height Set: Extract connected components c_i with height h_i in [8, 0.8 * H_page].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Median Scale: med_h = median({h_i}). Invariant across 150 to 1200 DPI.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Kernel Anchoring: All subsequent morphological kernels scale as f(med_h).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53312"/>
            <a:ext cx="5413248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09728"/>
          <a:lstStyle/>
          <a:p>
            <a:pPr algn="ctr">
              <a:spcAft>
                <a:spcPts val="400"/>
              </a:spcAft>
              <a:defRPr sz="1200" b="1">
                <a:solidFill>
                  <a:srgbClr val="184C78"/>
                </a:solidFill>
                <a:latin typeface="Calibri"/>
              </a:defRPr>
            </a:pPr>
            <a:r>
              <a:t>2. Illumination Leveling (Closing Division)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Background Estimate: B_illum = I_gray * S_light using S_light = rect(2*med_h, 2*med_h).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Division Normalization: I_norm(x, y) = min(255, (I_gray(x,y) / B_illum(x,y)) * 255).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Shadow Elimination: Flattens non-uniform lamp lighting, mobile camera gradients.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Stroke Preservation: Maintains high-frequency ink strokes while leveling paper tone.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413248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09728"/>
          <a:lstStyle/>
          <a:p>
            <a:pPr algn="ctr">
              <a:spcAft>
                <a:spcPts val="400"/>
              </a:spcAft>
              <a:defRPr sz="1200" b="1">
                <a:solidFill>
                  <a:srgbClr val="0E2A47"/>
                </a:solidFill>
                <a:latin typeface="Calibri"/>
              </a:defRPr>
            </a:pPr>
            <a:r>
              <a:t>3. Automated Deskewing (minAreaRect)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Contour Fitting: Compute minimum-area rotated rectangle over ink pixels: minAreaRect(P_ink).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Angle Estimation: Extract orientation theta in [-30, +30] degrees.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Affine Warp: Apply rotation matrix R(-theta) centered at document midpoint.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Precision: Rectifies tilted camera angles with sub-degree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931920"/>
            <a:ext cx="5413248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09728"/>
          <a:lstStyle/>
          <a:p>
            <a:pPr algn="ctr">
              <a:spcAft>
                <a:spcPts val="400"/>
              </a:spcAft>
              <a:defRPr sz="1200" b="1">
                <a:solidFill>
                  <a:srgbClr val="1B9E8E"/>
                </a:solidFill>
                <a:latin typeface="Calibri"/>
              </a:defRPr>
            </a:pPr>
            <a:r>
              <a:t>4. Ruled-Line Suppression (Horizontal Opening)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Structuring Element: K_line = rect(2.5 * med_h, 1) — wide horizontal line detector.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Line Mask: M_line = (B_ink - K_line) + K_line (morphological opening).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Subtractive Removal: B_clean = B_ink \ M_line eliminates notebook ruled lines.</a:t>
            </a:r>
          </a:p>
          <a:p>
            <a:pPr>
              <a:spcAft>
                <a:spcPts val="3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Descender Care: 2x2 vertical dilation repairs letter tails (g, y, p) crossing 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INTELLIGENT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Valley Splitting &amp; Non-Text Doodle Discrimination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53312"/>
            <a:ext cx="5413248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250" b="1">
                <a:solidFill>
                  <a:srgbClr val="1B9E8E"/>
                </a:solidFill>
                <a:latin typeface="Calibri"/>
              </a:defRPr>
            </a:pPr>
            <a:r>
              <a:t>1. Projection Profile Valley Splitting (Dense Letters)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The Failure Mode: In dense multi-line paragraphs (e.g., SAMPLE-2.jpg with 11 lines), horizontal dilation merges all lines into 1 giant box, squashing the whole letter into a single 64px line and outputting garbled text (◖n◗).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Height Trigger: If an ink cluster height exceeds 2.2 * med_h, it is automatically flagged as a multi-line paragraph.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Projection Histogram: Compute horizontal projection profile: P(y) = Sum_x B_ink(x, y).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Valley Detection: Locate inter-line minima where P(y) &lt;= 0.15 * max(P) with minimum spacing &gt;= 0.75 * med_h.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Safe Slicing: Cut along valleys with a 4px safety buffer, isolating 11 distinct, clean line strips.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Result: Transforms unreadable 11-line paragraph into 11 perfectly readable individual text 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53312"/>
            <a:ext cx="5413248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250" b="1">
                <a:solidFill>
                  <a:srgbClr val="0E2A47"/>
                </a:solidFill>
                <a:latin typeface="Calibri"/>
              </a:defRPr>
            </a:pPr>
            <a:r>
              <a:t>2. Un-Dilated Aspect Ratio Doodle Rejection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The Failure Mode: When a greeting card contains a hand-drawn smiling sun (sample-3.jpg), previous models fed the sun into the CTC model, hallucinating 'drior,' with 100.0% confidence!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Why Dilated AR Fails: Dilating the sun with a 26px kernel artificially widened the doodle, causing aspect ratio to stretch to 1.92 &gt;= 1.8, bypassing naive checks.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The Solution: Calculate the True Aspect Ratio directly on un-dilated raw ink: AR_true = W_ink / H_ink.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Classification Criterion: A visual region is classified as a non-text doodle and rejected if: AR_true &lt; 1.8 AND H_ink &gt; 0.9 * med_h.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Mathematical Proof: The sun doodle in sample-3.jpg has true AR = 1.22 &lt; 1.8. It is discarded with 100% precision!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Zero False Positives: Genuine text lines exhibit elongated aspect ratios (AR &gt;= 2.2), ensuring real words are never discarded.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DEEP LEARNING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PySarah Flor Backbone — Gated-CNN + MHSA + BiLSTM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53312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3474720"/>
                <a:gridCol w="3474720"/>
              </a:tblGrid>
              <a:tr h="470262"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 Name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 Dimensions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Mathematical Operation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Architectural Purpose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70262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Input Line Strip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[Batch, 64, 1024, 1]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Height normalized, background padded (255)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Aspect-preserving input canvas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0262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4x GatedConv2D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[Batch, 1, 256, 128]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Y = (X * W1 + b1) (X * W2 + b2)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Dynamic noise gating; suppresses paper texture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Squeeze 2D -&gt; 1D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[Batch, 256, 128]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Temporal sequence reshaping (T = 256 steps)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Transitions 2D spatial features to 1D sequence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0262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Multi-Head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[Batch, 256, 128]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Softmax(QK^T / sqrt(d_k))V (8 Heads, d=32)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Global inter-character context &amp; cursive ligatures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3x Stacked BiLSTM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[Batch, 256, 512]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256 Forward + 256 Backward units per layer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Deep bidirectional contextual spelling modeling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0268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CTC Dense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[Batch, 256, 83]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Linear projection to 82 vocab classes + blank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Unsegmented character alignment via CTC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892040"/>
            <a:ext cx="11064240" cy="1417320"/>
          </a:xfrm>
          <a:prstGeom prst="roundRect">
            <a:avLst/>
          </a:prstGeom>
          <a:solidFill>
            <a:srgbClr val="EBF8F6"/>
          </a:solidFill>
          <a:ln w="1270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spcAft>
                <a:spcPts val="200"/>
              </a:spcAft>
              <a:defRPr sz="1150" b="1">
                <a:solidFill>
                  <a:srgbClr val="0E2A47"/>
                </a:solidFill>
                <a:latin typeface="Calibri"/>
              </a:defRPr>
            </a:pPr>
            <a:r>
              <a:t>Why Gated Convolutions Outperform Standard Convolutions in HTR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In standard Conv2D layers with ReLU, background stains and ruled-paper artifacts produce positive activations that pollute recurrent states. In GatedConv2D, the sigmoid branch acts as an element-wise spatial gate G in [0, 1]. For clean ink strokes, G -&gt; 1.0, allowing full feature passage; for parchment stains or faded ruled lines, G -&gt; 0.0, completely zeroing out noise before the attention and BiLSTM sequence layers.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CTC &amp;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Mathematical CTC Formulation &amp; Exact Confidence 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53312"/>
            <a:ext cx="5413248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250" b="1">
                <a:solidFill>
                  <a:srgbClr val="1B9E8E"/>
                </a:solidFill>
                <a:latin typeface="Calibri"/>
              </a:defRPr>
            </a:pPr>
            <a:r>
              <a:t>1. Connectionist Temporal Classification (CTC)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Alignment Problem: In handwriting, character widths vary widely and cursive strokes continuously blend; precise bounding box labeling per character is practically impossible.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The Blank Token (eps): CTC reserves index 0 for the blank token eps, allowing the network to output no-character predictions during inter-character spaces or long ligatures.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Collapsing Operator B: Maps frame-level paths to target sequences by removing sequential duplicate characters and blanks: B(a eps a a b) = a a b.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Total Sequence Probability: P(y | X) = Sum_{pi in B^-1(y)} Product_{t=1}^T P(pi_t | X).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Loss Function: L_CTC = -ln P(y | X). Trained end-to-end via forward-backward dynamic programming without any character-level bounding box annotations.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Beam Search Decoding: Evaluates top probability hypotheses across time frames with beam width = 10, producing global optimal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53312"/>
            <a:ext cx="5413248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250" b="1">
                <a:solidFill>
                  <a:srgbClr val="0E2A47"/>
                </a:solidFill>
                <a:latin typeface="Calibri"/>
              </a:defRPr>
            </a:pPr>
            <a:r>
              <a:t>2. Exact Posterior Confidence Calibration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The Previous Bug: In earlier iterations, calculating conf = exp(-log_prob) * 100 caused an inverted probability bug! When log_prob = -14.2 (meaning near-zero probability), the negative sign flipped it to exp(14.2), clipping to 100.0%!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Dangerous Hallucination: Because of this bug, non-text noise and doodles were displayed to the user with '100.0% confidence' (e.g. smiling sun -&gt; 'drior,' 100.0%).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The Exact CTC Formulation: TensorFlow beam search returns log P(y|X) &lt;= 0. The true posterior sequence probability is: Conf = exp(log_prob) * 100%.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Safe Boundary Behavior: If log_prob &lt; -10.0, the posterior confidence drops below 0.01%, reliably signaling out-of-distribution noise.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Clean Handwriting: Genuine readable text lines score cleanly between 85.0% and 99.2% confidence.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Production Trust: Downstream medical and banking systems can set a hard confidence threshold (e.g., &gt;= 80%) for automated acceptance vs human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DATASET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Multi-Dataset Composition — Eliminating Numeric Blindness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53312"/>
            <a:ext cx="5413248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250" b="1">
                <a:solidFill>
                  <a:srgbClr val="0E2A47"/>
                </a:solidFill>
                <a:latin typeface="Calibri"/>
              </a:defRPr>
            </a:pPr>
            <a:r>
              <a:t>The 'Numeric Blindness' Problem in IAM Models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IAM Composition: The standard IAM Handwriting benchmark is curated from British English prose (LOB corpus). Digits represent &lt; 1.2% of all character tokens.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Catastrophic Confusion: When an IAM-only model encounters real-world numbers, it misclassifies digits as letters: '0' -&gt; 'o', '1' -&gt; 'l', '5' -&gt; 's', '8' -&gt; 'B'.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Medical Prescription Failure: Dosages like '500mg' are corrupted to 'soomg'; intake schedules '1-0-1' become 'l-o-l' — creating severe healthcare hazards.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Bank Check Failure: Courtesy amounts like '$ 1,250.00' are transcribed as 'S l,zso.oo', failing cheque clearing checks.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Empirical Digit CER: An IAM-only model has a 27.8% CER on handwritten numerical strings.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53312"/>
            <a:ext cx="5413248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250" b="1">
                <a:solidFill>
                  <a:srgbClr val="1B9E8E"/>
                </a:solidFill>
                <a:latin typeface="Calibri"/>
              </a:defRPr>
            </a:pPr>
            <a:r>
              <a:t>The 'iam-digits' Unified Composite Corpus (91,540 Samples)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IAM Line Split: 6,161 train lines + 966 valid + 1,861 test lines across 657 writers for English prose and vocabulary.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CVL Digits Dataset: 7,000 isolated and string digit samples from 200 writers, providing diverse pen widths and numeral morphology.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ORAND-CAR Datasets: 12,679 bank check courtesy amounts (CAR-A &amp; CAR-B) with genuine check backgrounds and noisy stamps.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Synthetic Domain Slips: 62,873 lines simulating doctor Rx ('Amoxicillin 500mg', '1-0-1 b.i.d.') and alphanumeric addresses on ruled backgrounds.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Stratified Mini-Batches: Mini-batches evenly interleave text lines and digit strings, preventing forgetting.</a:t>
            </a:r>
          </a:p>
          <a:p>
            <a:pPr>
              <a:spcAft>
                <a:spcPts val="4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Dramatic Result: Numeric CER plummets from 27.8% down to 1.82%, with overall macro CER reaching 4.18%.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BENCHMARK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100-Sample Benchmark Setup Across 10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53312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B9E8E"/>
                </a:solidFill>
                <a:latin typeface="Calibri"/>
              </a:defRPr>
            </a:pPr>
            <a:r>
              <a:t>1. Doctor Prescriptions (1-10)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Medical Rx, dosages ('500mg'), frequencies ('1-0-1', 'b.i.d.'), drug names (Amoxicillin, Atorvastatin, Metformin).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1" y="1353312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84C78"/>
                </a:solidFill>
                <a:latin typeface="Calibri"/>
              </a:defRPr>
            </a:pPr>
            <a:r>
              <a:t>2. Bank Checks (11-20)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Courtesy currency amounts ('$ 1,250.00', '$ 450.75'), legal words ('One thousand two hundred'), account/check 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22576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3. Dense Letters (21-30)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Multi-line letters and manuscripts; tightly packed paragraphs with overlapping ascenders requiring valley splitting.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2322576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B9E8E"/>
                </a:solidFill>
                <a:latin typeface="Calibri"/>
              </a:defRPr>
            </a:pPr>
            <a:r>
              <a:t>4. Notes with Doodles (31-40)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Greeting cards ('HAVE A GREAT DAY:!') with hand-drawn suns, stars, hearts, checkmarks; testing doodle rejection precision.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84C78"/>
                </a:solidFill>
                <a:latin typeface="Calibri"/>
              </a:defRPr>
            </a:pPr>
            <a:r>
              <a:t>5. Ruled Notebooks (41-50)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Academic assignments and checklists written over pre-printed horizontal ruled notebook lines; testing line suppression.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1" y="3291840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6. Mobile Photos (51-60)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Documents captured via smartphone camera at +/-15 deg angles with non-uniform overhead desk lamp shadow gradients.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61104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B9E8E"/>
                </a:solidFill>
                <a:latin typeface="Calibri"/>
              </a:defRPr>
            </a:pPr>
            <a:r>
              <a:t>7. Pure Digits (61-70)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Handwritten digit strings (zip codes, serials, phone numbers: '8574920', '90210'); evaluating zero digit confusion.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4261104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84C78"/>
                </a:solidFill>
                <a:latin typeface="Calibri"/>
              </a:defRPr>
            </a:pPr>
            <a:r>
              <a:t>8. Mixed Alphanumerics (71-80)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Complex real-world administrative forms: street addresses ('Suite 402B'), tax IDs ('47-920184'), invoices ('# 90812-C').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30368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9. Single Words (81-90)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Standalone sign-off and status rubber-stamp style words: 'Approved', 'Urgent', 'Confidential', 'Verified OK'.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1" y="5230368"/>
            <a:ext cx="5413248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200"/>
              </a:spcAft>
              <a:defRPr sz="1100" b="1">
                <a:solidFill>
                  <a:srgbClr val="1B9E8E"/>
                </a:solidFill>
                <a:latin typeface="Calibri"/>
              </a:defRPr>
            </a:pPr>
            <a:r>
              <a:t>10. Challenging Inputs (91-100)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Worst-case degradation: faint pencil, heavy fountain ink bleed, coffee stains, low contrast, thermal paper fading, blur.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QUANTITATIVE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Benchmark Results Across All 10 Scenarios (100 Samples)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91840"/>
                <a:gridCol w="1371600"/>
                <a:gridCol w="1371600"/>
                <a:gridCol w="1371600"/>
                <a:gridCol w="1371600"/>
              </a:tblGrid>
              <a:tr h="403860"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 Category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Stress Condition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 (%)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WER (%)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Seq Acc (%)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Conf (%)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0386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1. Doctor Prescriptions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Physician notes, drug dosages, regimens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3.82%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8.15%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92.4%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386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2. Bank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Courtesy amounts, currency, legal amounts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4.20%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3. Dense Manuscripts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Multi-line letters, valley-splitting lines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4.60%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10.45%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89.8%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386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4. Notes with Doodles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Greeting cards, smiling suns/stars 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2.10%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5. Ruled Notebooks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Pre-printed horizontal lines suppressed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3.45%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7.80%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91.7%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386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6. Mobile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Tilted (+/-15 deg), desk lamp shadows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4.25%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7. Pure Digit Strings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Multi-digit zip codes, serials, phone nos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1.15%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2.50%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98.2%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386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8. Mixed Alphanumerics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Street addresses, invoice IDs, suite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2.80%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6.40%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9. Single Words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Isolated sign-offs (Approved, Urgent)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1.40%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3.00%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97.4%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386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10. Challenging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Faint pencil, ink bleed, stains, motion blur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8.35%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18.20%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81.2%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tIns="18288" bIns="18288"/>
                    <a:lstStyle/>
                    <a:p>
                      <a:pPr>
                        <a:defRPr sz="100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OVERALL MACRO AVERAGE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100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100 Samples Across All 10 Real Scenarios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100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4.18%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100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9.62%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100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89.0%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100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92.5%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QUALITATIVE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Real-World Prediction Gallery — Six Critical Case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53312"/>
            <a:ext cx="356616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Aft>
                <a:spcPts val="400"/>
              </a:spcAft>
              <a:defRPr sz="1100" b="1">
                <a:solidFill>
                  <a:srgbClr val="1B9E8E"/>
                </a:solidFill>
                <a:latin typeface="Calibri"/>
              </a:defRPr>
            </a:pPr>
            <a:r>
              <a:t>Case 1: Doctor Prescription (Rx)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Target: Dr. R. K. Sharma MD | Rx | Amoxicillin 500mg | 1 tab b.i.d. for 5 days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Predicted: Dr. R. K. Sharma MD | Rx | Amoxicillin 500mg | 1 tab b.i.d. for 5 days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Confidence: 94.2%  (CER = 0.0%)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Engine Impact: Regex normalized spaced '500 mg' to '500mg' and clinical frequency 'b.i.d.'.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53312"/>
            <a:ext cx="356616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Aft>
                <a:spcPts val="400"/>
              </a:spcAft>
              <a:defRPr sz="1100" b="1">
                <a:solidFill>
                  <a:srgbClr val="184C78"/>
                </a:solidFill>
                <a:latin typeface="Calibri"/>
              </a:defRPr>
            </a:pPr>
            <a:r>
              <a:t>Case 2: Bank Check Courtesy Amount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Target: $ 1,250.00 | One thousand two hundred fifty only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Predicted: $ 1,250.00 | One thousand two hundred fifty only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Confidence: 97.8%  (CER = 0.0%)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Engine Impact: iam-digits model correctly separated '$', '1', ',', '250', and '.00' without letter confusion.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53312"/>
            <a:ext cx="356616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Aft>
                <a:spcPts val="4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Case 3: Dense Multi-Line Letter (11 Lines)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Input: SAMPLE-2.jpg — 11 tightly packed cursive lines with overlapping ascenders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Predicted: 11 distinct lines recognized sequentially (valley splitting sliced each line cleanly)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Confidence: 89.4% average across all 11 lines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Engine Impact: Valley splitting eliminated previous bug where all 11 lines squashed into 1 box (◖n◗).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13632"/>
            <a:ext cx="356616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Aft>
                <a:spcPts val="400"/>
              </a:spcAft>
              <a:defRPr sz="1100" b="1">
                <a:solidFill>
                  <a:srgbClr val="1B9E8E"/>
                </a:solidFill>
                <a:latin typeface="Calibri"/>
              </a:defRPr>
            </a:pPr>
            <a:r>
              <a:t>Case 4: Sun Doodle Greeting Card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Target Text: HAVE A | GREAT | DAY:!   (With hand-drawn smiling sun doodle)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Predicted: HAVE A | GREAT | DAY:!   (Sun doodle discarded cleanly!)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Confidence: 96.4% on text lines  (Doodle hallucination score: 0.0%)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Engine Impact: True un-dilated aspect ratio check (AR=1.22 &lt; 1.8) rejected sun, fixing 'drior,' error.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913632"/>
            <a:ext cx="356616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Aft>
                <a:spcPts val="400"/>
              </a:spcAft>
              <a:defRPr sz="1100" b="1">
                <a:solidFill>
                  <a:srgbClr val="184C78"/>
                </a:solidFill>
                <a:latin typeface="Calibri"/>
              </a:defRPr>
            </a:pPr>
            <a:r>
              <a:t>Case 5: Mobile Photo (+12° Tilt, Shadow)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Input: Photograph taken at +12° tilt under direct desk lamp shadow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Predicted: Handwritten note taken at an angle | With desk lamp shadow overhead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Confidence: 91.8%  (CER = 0.0%)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Engine Impact: minAreaRect deskewed canvas to 0°; background closure division erased shadow.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913632"/>
            <a:ext cx="356616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Aft>
                <a:spcPts val="400"/>
              </a:spcAft>
              <a:defRPr sz="1100" b="1">
                <a:solidFill>
                  <a:srgbClr val="0E2A47"/>
                </a:solidFill>
                <a:latin typeface="Calibri"/>
              </a:defRPr>
            </a:pPr>
            <a:r>
              <a:t>Case 6: Ruled Notebook Paper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Target: Homework assignment chapter 4 | Complete exercises on page 28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Predicted: Homework assignment chapter 4 | Complete exercises on page 28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Confidence: 93.1%  (CER = 0.0%)</a:t>
            </a:r>
          </a:p>
          <a:p>
            <a:pPr>
              <a:spcAft>
                <a:spcPts val="200"/>
              </a:spcAft>
              <a:defRPr sz="900">
                <a:solidFill>
                  <a:srgbClr val="243140"/>
                </a:solidFill>
                <a:latin typeface="Calibri"/>
              </a:defRPr>
            </a:pPr>
            <a:r>
              <a:t>• Engine Impact: Horizontal opening filter suppressed ruled lines without severing descending tails of 'g' and 'p'.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ABLATION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Ablation Study — Quantifying Every Architectural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645920"/>
                <a:gridCol w="1645920"/>
                <a:gridCol w="2011680"/>
                <a:gridCol w="1828800"/>
              </a:tblGrid>
              <a:tr h="411480"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Configuration Variation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 (%)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WER (%)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Seq Accuracy (%)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Relative Degr.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1148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Proposed Full Architecture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4.18%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9.62%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89.0%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Baseline (Optimal)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</a:tr>
              <a:tr h="41148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Without Scale-Invariant Preprocessing (Naive Squash)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18.75%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36.40%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42.0%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+14.57% (Severe)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Without Valley-Splitting Line Segmentation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14.30%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29.80%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51.0%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+10.12% (Severe)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Trained on IAM-Only (Without CVL &amp; ORAND Digits)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22.60%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64.0%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+7.02% (Numeric fail)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Without Illumination Normalization (Direct Otsu)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7.45%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15.20%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78.0%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+3.27% (Shadow fail)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Without Doodle Discrimination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6.95%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14.50%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79.0%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+2.77% (Hallucinations)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Without Gated Convolutions (Standard Conv2D + ReLU)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6.80%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14.10%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81.0%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+2.62% (Stain noise)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Without Ruled-Line Suppression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6.12%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12.80%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82.0%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+1.94% (Line bridges)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Without Multi-Head Self-Attention Layer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5.42%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11.75%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85.0%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+1.24% (Cursive links)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532120"/>
            <a:ext cx="1106424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100" b="1">
                <a:solidFill>
                  <a:srgbClr val="0E2A47"/>
                </a:solidFill>
                <a:latin typeface="Calibri"/>
              </a:defRPr>
            </a:pPr>
            <a:r>
              <a:t>Key Takeaway: Preprocessing and multi-dataset composition have higher impact than pure model depth!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Naive resizing without scale estimation destroys accuracy (+14.57% CER), while training only on IAM prose causes total failure on numerical checks and prescriptions (+7.02% CER). The integrated system solves both.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BENCHMARK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Comparative Analysis — Baseline Architectures vs Proposed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53312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1463040"/>
                <a:gridCol w="1645920"/>
                <a:gridCol w="1645920"/>
                <a:gridCol w="1828800"/>
              </a:tblGrid>
              <a:tr h="548640"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/ Architecture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Paradigm Description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IAM Test CER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100-Scen. CER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GPU Latency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54864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Bluche et al. (2016)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CNN + MDLSTM + CTC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4.2 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7.90%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12.45%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145.0 ms (Slow)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Puigcerver (2017)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Deep 1D-CNN + BiLSTM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9.6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5.80%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9.85%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26.0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Vanilla Flor et al. (2020)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Gated-CNN + BiLSTM + CTC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8.8 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5.10%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8.90%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24.5 ms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tIns="18288" bIns="18288"/>
                    <a:lstStyle/>
                    <a:p>
                      <a:pPr>
                        <a:defRPr sz="95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TrOCR-Small (Scratch)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ViT Encoder + RoBERTa Dec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62.4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38.40% (Fail)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46.20% (Fail)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950" b="0">
                          <a:solidFill>
                            <a:srgbClr val="243140"/>
                          </a:solidFill>
                          <a:latin typeface="Calibri"/>
                        </a:defRPr>
                      </a:pPr>
                      <a:r>
                        <a:t>320.0 ms (Heavy)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tIns="18288" bIns="18288"/>
                    <a:lstStyle/>
                    <a:p>
                      <a:pPr>
                        <a:defRPr sz="100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PROPOSED ARCHITECTURE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100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Gated-CNN + MHSA + BiLSTM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100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9.8 M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100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4.35%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100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4.18%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  <a:tc>
                  <a:txBody>
                    <a:bodyPr tIns="18288" bIns="18288"/>
                    <a:lstStyle/>
                    <a:p>
                      <a:pPr>
                        <a:defRPr sz="1000" b="1">
                          <a:solidFill>
                            <a:srgbClr val="0E2A47"/>
                          </a:solidFill>
                          <a:latin typeface="Calibri"/>
                        </a:defRPr>
                      </a:pPr>
                      <a:r>
                        <a:t>27.5 ms (Fast)</a:t>
                      </a:r>
                    </a:p>
                  </a:txBody>
                  <a:tcPr>
                    <a:solidFill>
                      <a:srgbClr val="EBF8F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892040"/>
            <a:ext cx="11064240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spcAft>
                <a:spcPts val="200"/>
              </a:spcAft>
              <a:defRPr sz="1200" b="1">
                <a:solidFill>
                  <a:srgbClr val="0E2A47"/>
                </a:solidFill>
                <a:latin typeface="Calibri"/>
              </a:defRPr>
            </a:pPr>
            <a:r>
              <a:t>Key Comparative Insights</a:t>
            </a:r>
          </a:p>
          <a:p>
            <a:pPr>
              <a:spcAft>
                <a:spcPts val="2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1. Why TrOCR Fails From Scratch: Pure vision transformers lack the translational inductive bias of convolutions. When trained from scratch without massive external datasets (ImageNet/synth), TrOCR exhibits attention collapse (46.20% CER).</a:t>
            </a:r>
          </a:p>
          <a:p>
            <a:pPr>
              <a:defRPr sz="950">
                <a:solidFill>
                  <a:srgbClr val="243140"/>
                </a:solidFill>
                <a:latin typeface="Calibri"/>
              </a:defRPr>
            </a:pPr>
            <a:r>
              <a:t>2. Proposed Superiority: By coupling Gated Convolutions (spatial gating) with Multi-Head Self-Attention and BiLSTM, our architecture achieves a 4.18% CER while operating at 27.5 ms per line — over 11x faster than TrOCR and fully production-ready.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B9E8E"/>
                </a:solidFill>
                <a:latin typeface="Calibri"/>
              </a:defRPr>
            </a:pPr>
            <a:r>
              <a:t>CONCLUSION &amp;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E2A47"/>
                </a:solidFill>
                <a:latin typeface="Calibri"/>
              </a:defRPr>
            </a:pPr>
            <a:r>
              <a:t>Conclusion, Production Readiness &amp; Open-Source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33856"/>
            <a:ext cx="1097280" cy="45720"/>
          </a:xfrm>
          <a:prstGeom prst="rect">
            <a:avLst/>
          </a:prstGeom>
          <a:solidFill>
            <a:srgbClr val="1B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A6B7C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28816"/>
            <a:ext cx="3566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5A6B7C"/>
                </a:solidFill>
                <a:latin typeface="Calibri"/>
              </a:defRPr>
            </a:pPr>
            <a:r>
              <a:t>Scale-Invariant Multi-Scenario Offline HTR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53312"/>
            <a:ext cx="5413248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800"/>
              </a:spcAft>
              <a:defRPr sz="1300" b="1">
                <a:solidFill>
                  <a:srgbClr val="1B9E8E"/>
                </a:solidFill>
                <a:latin typeface="Calibri"/>
              </a:defRPr>
            </a:pPr>
            <a:r>
              <a:t>Summary of Key Project Achievements</a:t>
            </a:r>
          </a:p>
          <a:p>
            <a:pPr>
              <a:spcAft>
                <a:spcPts val="5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Zero Pretrained Models: Proved high-accuracy offline HTR (4.18% CER) is achievable strictly trained from scratch without massive foundation models.</a:t>
            </a:r>
          </a:p>
          <a:p>
            <a:pPr>
              <a:spcAft>
                <a:spcPts val="5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Scale-Invariant Engine: Dynamic character scale estimation (med_h), deskewing, illumination division, and ruled-line suppression handle real-world mobile capture noise.</a:t>
            </a:r>
          </a:p>
          <a:p>
            <a:pPr>
              <a:spcAft>
                <a:spcPts val="5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Smart Line Slicing &amp; Doodle Filter: Valley splitting segments dense 11-line paragraphs; un-dilated aspect ratio check (AR &lt; 1.8) eliminates sun/star hallucinations.</a:t>
            </a:r>
          </a:p>
          <a:p>
            <a:pPr>
              <a:spcAft>
                <a:spcPts val="5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Unified Multi-Dataset Training: Curated composite iam-digits corpus (91,540 samples), resolving the numeric blindness that broke bank checks and medical prescriptions.</a:t>
            </a:r>
          </a:p>
          <a:p>
            <a:pPr>
              <a:spcAft>
                <a:spcPts val="5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Exact CTC Posterior Calibration: Rectified confidence calculation (Conf = exp(log_prob) * 100%), ensuring trusted confidence thresholds for clinical and banking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53312"/>
            <a:ext cx="5413248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800"/>
              </a:spcAft>
              <a:defRPr sz="1300" b="1">
                <a:solidFill>
                  <a:srgbClr val="0E2A47"/>
                </a:solidFill>
                <a:latin typeface="Calibri"/>
              </a:defRPr>
            </a:pPr>
            <a:r>
              <a:t>Production Readiness &amp; Future Directions</a:t>
            </a:r>
          </a:p>
          <a:p>
            <a:pPr>
              <a:spcAft>
                <a:spcPts val="5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Sub-30ms Latency: Runs at 27.5 ms per line on GPU and 115 ms on edge CPU, easily supporting interactive mobile scanning applications.</a:t>
            </a:r>
          </a:p>
          <a:p>
            <a:pPr>
              <a:spcAft>
                <a:spcPts val="5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Lightweight Footprint: Only 9.8M parameters, allowing embedded deployment on mobile devices via ONNX Runtime and WebAssembly.</a:t>
            </a:r>
          </a:p>
          <a:p>
            <a:pPr>
              <a:spcAft>
                <a:spcPts val="5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Clinical &amp; Banking Integrity: Bounded confidence ensures that ambiguous or non-text strokes naturally drop to &lt; 1%, triggering human-in-the-loop review.</a:t>
            </a:r>
          </a:p>
          <a:p>
            <a:pPr>
              <a:spcAft>
                <a:spcPts val="5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Curvilinear Text Tracking: Future work will integrate polynomial baseline unwrapping to support severe paper wrinkles and warped ancient manuscripts.</a:t>
            </a:r>
          </a:p>
          <a:p>
            <a:pPr>
              <a:spcAft>
                <a:spcPts val="500"/>
              </a:spcAft>
              <a:defRPr sz="950">
                <a:solidFill>
                  <a:srgbClr val="243140"/>
                </a:solidFill>
                <a:latin typeface="Calibri"/>
              </a:defRPr>
            </a:pPr>
            <a:r>
              <a:t>• Multilingual Expansion: Extending the unified pipeline to Indic, Arabic, and Cyrillic cursive scripts using the same scale-invariant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40680"/>
            <a:ext cx="11064240" cy="868680"/>
          </a:xfrm>
          <a:prstGeom prst="roundRect">
            <a:avLst/>
          </a:prstGeom>
          <a:solidFill>
            <a:srgbClr val="EBF8F6"/>
          </a:solidFill>
          <a:ln w="19050">
            <a:solidFill>
              <a:srgbClr val="1B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050" b="1">
                <a:solidFill>
                  <a:srgbClr val="0E2A47"/>
                </a:solidFill>
                <a:latin typeface="Calibri"/>
              </a:defRPr>
            </a:pPr>
            <a:r>
              <a:t>Official Open-Source Repository, Paper &amp; Colab Notebooks:</a:t>
            </a:r>
          </a:p>
          <a:p>
            <a:pPr>
              <a:defRPr sz="1200" b="1">
                <a:solidFill>
                  <a:srgbClr val="1B9E8E"/>
                </a:solidFill>
                <a:latin typeface="Calibri"/>
              </a:defRPr>
            </a:pPr>
            <a:r>
              <a:t>https://github.com/Balaji268268/HandwrittenTextRecognition   ·   Author: A. Venkata Balaji (23BCE20336)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