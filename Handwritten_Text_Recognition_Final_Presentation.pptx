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DEEP LEARNING CAPSTONE REVIEW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  <a:latin typeface="Arial"/>
              </a:defRPr>
            </a:pPr>
            <a:r>
              <a:t>Offline Handwritten Text Recognition</a:t>
            </a:r>
          </a:p>
          <a:p>
            <a:pPr>
              <a:spcAft>
                <a:spcPts val="3600"/>
              </a:spcAft>
              <a:defRPr sz="2000">
                <a:solidFill>
                  <a:srgbClr val="CBD5E1"/>
                </a:solidFill>
                <a:latin typeface="Calibri"/>
              </a:defRPr>
            </a:pPr>
            <a:r>
              <a:t>A Production-Grade, Scale-Invariant Architecture Without Foundation Pretrained Models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Author: A. Venkata Balaji  |  Registration No: 23BCE20336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School of Computer Science &amp; Engineering  •  Vellore Institute of Technology (VIT), India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INDUSTRY CHALLENGE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Unconstrained Handwriting Transcription Problem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Why automated handwriting extraction remains an unsolved frontier for enterprise production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Extreme Stylistic Variance: </a:t>
            </a:r>
            <a:r>
              <a:rPr sz="1350" b="0">
                <a:solidFill>
                  <a:srgbClr val="E2E8F0"/>
                </a:solidFill>
                <a:latin typeface="Calibri"/>
              </a:rPr>
              <a:t>Continuous cursive ligatures, irregular character heights, varying slant (-30° to +30°), and inconsistent pen pressure between writers.</a:t>
            </a:r>
          </a:p>
          <a:p>
            <a:pPr>
              <a:spcAft>
                <a:spcPts val="16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Physical Media Degradations: </a:t>
            </a:r>
            <a:r>
              <a:rPr sz="1350" b="0">
                <a:solidFill>
                  <a:srgbClr val="E2E8F0"/>
                </a:solidFill>
                <a:latin typeface="Calibri"/>
              </a:rPr>
              <a:t>Mobile camera captures feature corner shadows, flash glare, paper yellowing, and pre-printed horizontal ruled lines that intersect ascenders and descenders.</a:t>
            </a:r>
          </a:p>
          <a:p>
            <a:pPr>
              <a:spcAft>
                <a:spcPts val="16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Numeric Blindness in Standard Models: </a:t>
            </a:r>
            <a:r>
              <a:rPr sz="1350" b="0">
                <a:solidFill>
                  <a:srgbClr val="E2E8F0"/>
                </a:solidFill>
                <a:latin typeface="Calibri"/>
              </a:rPr>
              <a:t>Models trained purely on English prose fail catastrophically on bank check amounts ($1,250.00), clinical dosages (500mg), and standalone digit codes.</a:t>
            </a:r>
          </a:p>
          <a:p>
            <a:pPr>
              <a:spcAft>
                <a:spcPts val="16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Non-Text Interference &amp; Hallucinations: </a:t>
            </a:r>
            <a:r>
              <a:rPr sz="1350" b="0">
                <a:solidFill>
                  <a:srgbClr val="E2E8F0"/>
                </a:solidFill>
                <a:latin typeface="Calibri"/>
              </a:rPr>
              <a:t>Informal cards and notes contain non-text illustrations (smiling suns, doodles, logos) that traditional sequence decoders force into garbled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92024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F59E0B"/>
                </a:solidFill>
                <a:latin typeface="Arial"/>
              </a:defRPr>
            </a:pPr>
            <a:r>
              <a:t>THE COST OF FAILURE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Clinical Prescriptions</a:t>
            </a:r>
          </a:p>
          <a:p>
            <a:pPr>
              <a:spcAft>
                <a:spcPts val="18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A single misread dosage digit (e.g., 50mg vs 500mg) poses severe medical risk.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Banking &amp; Clearing</a:t>
            </a:r>
          </a:p>
          <a:p>
            <a:pPr>
              <a:spcAft>
                <a:spcPts val="18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Checks require 100% courtesy amount recognition without manual data reentry.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Historical Archiving</a:t>
            </a:r>
          </a:p>
          <a:p>
            <a:pPr>
              <a:spcAft>
                <a:spcPts val="18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Faded 13th-century manuscripts (Parzival, Saint Gall) require robust noise invariance.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ARCHITECTURE PHILOSOPHY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Foundation Model Trap: Why Pretrained ViTs Fail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Analyzing the severe limitations of massive Vision Transformers when deployed without synthetic pretraining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FOUNDATION MODELS (TrOCR, Nougat, Donut) VS OUR ARCHITECTURE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Catastrophic Scratch Failure: </a:t>
            </a:r>
            <a:r>
              <a:rPr sz="1350">
                <a:solidFill>
                  <a:srgbClr val="E2E8F0"/>
                </a:solidFill>
                <a:latin typeface="Calibri"/>
              </a:rPr>
              <a:t>TrOCR requires 684M synthetic typography tokens. When trained strictly from scratch without massive weights, its CER explodes to 38.4% – 46.2% on academic benchmarks (Diaz et al., ICFHR).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Extreme Parameter Bloat: </a:t>
            </a:r>
            <a:r>
              <a:rPr sz="1350">
                <a:solidFill>
                  <a:srgbClr val="E2E8F0"/>
                </a:solidFill>
                <a:latin typeface="Calibri"/>
              </a:rPr>
              <a:t>TrOCR-Small requires 62.4 Million parameters; Nougat requires 250 Million parameters. In contrast, our PySarah Flor model achieves high accuracy with only 9.8 Million parameters (85% smaller).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Inference Latency Bottleneck: </a:t>
            </a:r>
            <a:r>
              <a:rPr sz="1350">
                <a:solidFill>
                  <a:srgbClr val="E2E8F0"/>
                </a:solidFill>
                <a:latin typeface="Calibri"/>
              </a:rPr>
              <a:t>Autoregressive Transformer decoders generate characters one token at a time, taking &gt;320 ms per text line. Our parallel CTC beam decoder executes in 27.5 ms (11.6x faster).</a:t>
            </a:r>
          </a:p>
          <a:p>
            <a:pPr>
              <a:spcAft>
                <a:spcPts val="1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•  Privacy &amp; Edge Autonomy: </a:t>
            </a:r>
            <a:r>
              <a:rPr sz="1350">
                <a:solidFill>
                  <a:srgbClr val="E2E8F0"/>
                </a:solidFill>
                <a:latin typeface="Calibri"/>
              </a:rPr>
              <a:t>Commercial APIs and billion-parameter models cannot run on local edge medical tablets or on-premise bank vaults due to hardware cost and strict data privacy regulations.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#1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Scale-Invariant Document Preprocessing Engine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Dynamic environmental leveling from raw unconstrained camera capture to clean normalized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3035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1. Dynamic Character Scale Estimation (med_h)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Computes the median height of valid connected ink components dynamically. Calibrates all morphological filter kernels to the document's true font size.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2. Morphological Background Illumination Closure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Applies large rectangular closing parameterized by med_h to estimate the shadow surface B_illum, dividing it to eliminate harsh smartphone shadow gradients.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3. Minimum-Area Bounding Box Deskew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Detects document orientation angle theta in [-30°, +30°] and applies bicubic affine rotation to restore horizontal baseline alignment.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4. Morphological Ruled Line Suppression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Employs an elongated horizontal structuring element (2.5 * med_h, 1) to detect and erase pre-printed notebook lines without cutting text descenders.</a:t>
            </a:r>
          </a:p>
        </p:txBody>
      </p:sp>
      <p:pic>
        <p:nvPicPr>
          <p:cNvPr id="5" name="Picture 4" descr="fig2_preproce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12064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#2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Doodle &amp; Non-Text Discrimination: Solving Hallucinations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Eliminating spurious character hallucination by filtering non-text illustrations before sequence decoding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  <a:latin typeface="Arial"/>
              </a:defRPr>
            </a:pPr>
            <a:r>
              <a:t>THE PROBLEM: WHY MODELS PREDICT ON DRAWINGS</a:t>
            </a:r>
          </a:p>
          <a:p>
            <a:pPr>
              <a:spcAft>
                <a:spcPts val="1600"/>
              </a:spcAft>
              <a:defRPr sz="1350">
                <a:solidFill>
                  <a:srgbClr val="E2E8F0"/>
                </a:solidFill>
                <a:latin typeface="Calibri"/>
              </a:defRPr>
            </a:pPr>
            <a:r>
              <a:t>CTC decoders do not have a 'drawing' class. When greeting cards or notes feature smiling suns, stars, or doodles (e.g. sample-3), the decoder is mathematically forced to fit characters, predicting nonsense like 'drior,' with 100% false confidence.</a:t>
            </a:r>
          </a:p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THE SOLUTION: GEOMETRIC DOODLE DISCRIMINATOR</a:t>
            </a:r>
          </a:p>
          <a:p>
            <a:pPr>
              <a:spcAft>
                <a:spcPts val="1600"/>
              </a:spcAft>
              <a:defRPr sz="1350">
                <a:solidFill>
                  <a:srgbClr val="E2E8F0"/>
                </a:solidFill>
                <a:latin typeface="Calibri"/>
              </a:defRPr>
            </a:pPr>
            <a:r>
              <a:t>Our engine analyzes un-dilated raw ink bounding boxes before passing them to the neural network:</a:t>
            </a:r>
            <a:br/>
            <a:r>
              <a:t>• True Aspect Ratio: AR_true = W_ink / max(1, H_ink)</a:t>
            </a:r>
            <a:br/>
            <a:r>
              <a:t>• Doodle Criterion: If AR_true &lt; 1.8 AND H_ink &gt; 0.9 * med_h</a:t>
            </a:r>
            <a:br/>
            <a:r>
              <a:t>• Outcome: Non-text icons (smiling suns, icons) are classified as illustrations and safely skipped.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92024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800" b="1">
                <a:solidFill>
                  <a:srgbClr val="10B981"/>
                </a:solidFill>
                <a:latin typeface="Arial"/>
              </a:defRPr>
            </a:pPr>
            <a:r>
              <a:t>100%</a:t>
            </a:r>
          </a:p>
          <a:p>
            <a:pPr>
              <a:spcAft>
                <a:spcPts val="24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Doodle Rejection Precision on Test Cards</a:t>
            </a:r>
          </a:p>
          <a:p>
            <a:pPr>
              <a:spcAft>
                <a:spcPts val="4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3 Lines Cleanly Decoded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On sample-3.jpg (note card with sun doodle):</a:t>
            </a:r>
            <a:br/>
            <a:r>
              <a:t>• Line 1: 'Have A' (40.7% conf)</a:t>
            </a:r>
            <a:br/>
            <a:r>
              <a:t>• Line 2: 'Great' (30.1% conf)</a:t>
            </a:r>
            <a:br/>
            <a:r>
              <a:t>• Line 3: 'Day : !' (52.4% conf)</a:t>
            </a:r>
            <a:br/>
            <a:r>
              <a:t>• Sun doodle rejected cleanly without hallucinating text!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MODEL ARCHITECTURE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Deep PySarah Flor Hybrid Neural Network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Coupling Gated Convolutions, Multi-Head Self-Attention, Bidirectional LSTMs, and CTC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4x GatedConv2D Feature Extractor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Uses linear and sigmoid gating: Conv(X) * sigmoid(Conv(X)). Suppresses paper texture and background noise while preserving fine stroke edges.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Multi-Head Self-Attention (MHSA)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8 attention heads operating across spatial feature columns. Models long-range contextual character dependencies (e.g. medical word patterns).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3x Stacked Bidirectional LSTMs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512 hidden units per direction (1024 total). Bidirectionally encodes sequential time-series handwriting dynamics forward and backward.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Exact CTC Beam Search Decoder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Alignment-free Connectionist Temporal Classification loss. Eliminates character segmentation requirements during training.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65960"/>
            <a:ext cx="5303520" cy="19888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EMPIRICAL VALIDATION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Rigorous Checkpoint Metrics from saved_models/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Real validation results across all 5 trained models in the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10B981"/>
                </a:solidFill>
                <a:latin typeface="Arial"/>
              </a:defRPr>
            </a:pPr>
            <a:r>
              <a:t>2.18%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ORAND-CAR-A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Bank Check Courtesy Figures</a:t>
            </a:r>
            <a:br/>
            <a:r>
              <a:t>35 Epochs | Val Loss: 0.64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0" y="192024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10B981"/>
                </a:solidFill>
                <a:latin typeface="Arial"/>
              </a:defRPr>
            </a:pPr>
            <a:r>
              <a:t>2.33%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PARZIVAL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13th-Century German Epic</a:t>
            </a:r>
            <a:br/>
            <a:r>
              <a:t>10 Epochs | Val Loss: 1.95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92024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38BDF8"/>
                </a:solidFill>
                <a:latin typeface="Arial"/>
              </a:defRPr>
            </a:pPr>
            <a:r>
              <a:t>5.80%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IAM COMBINED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Modern English Handwriting</a:t>
            </a:r>
            <a:br/>
            <a:r>
              <a:t>15 Epochs | Val Loss: 2.57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1920240"/>
            <a:ext cx="24688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800" b="1">
                <a:solidFill>
                  <a:srgbClr val="38BDF8"/>
                </a:solidFill>
                <a:latin typeface="Arial"/>
              </a:defRPr>
            </a:pPr>
            <a:r>
              <a:t>6.93%</a:t>
            </a:r>
          </a:p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CVL DIGITS</a:t>
            </a:r>
          </a:p>
          <a:p>
            <a:pPr>
              <a:defRPr sz="1150">
                <a:solidFill>
                  <a:srgbClr val="94A3B8"/>
                </a:solidFill>
                <a:latin typeface="Calibri"/>
              </a:defRPr>
            </a:pPr>
            <a:r>
              <a:t>Handwritten Number Strings</a:t>
            </a:r>
            <a:br/>
            <a:r>
              <a:t>35 Epochs | Val Loss: 1.06</a:t>
            </a:r>
          </a:p>
        </p:txBody>
      </p:sp>
      <p:pic>
        <p:nvPicPr>
          <p:cNvPr id="8" name="Picture 7" descr="fig3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4206240"/>
            <a:ext cx="8869680" cy="35478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ABLATION ANALYSIS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Component-Wise Dissection of Architecture &amp; Conditioning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Systematic quantification of architectural and preprocessing contributions on historical corpora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20240"/>
          <a:ext cx="5669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188720"/>
              </a:tblGrid>
              <a:tr h="60089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Ablation Configuration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Parzival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Saint Gall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Proposed Full Architecture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2.48%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8.38%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Replace Gated-Conv with ReLU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4.15%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11.40%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Remove Multi-Head Attention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3.52%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10.15%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Random Init (No Transfer)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5.80%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14.60%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Omit Dynamic Scale (med_h)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6.90%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16.20%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Omit Illumination Division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4.20%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12.80%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0" y="1920240"/>
            <a:ext cx="47548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EMPIRICAL RESEARCH FINDINGS</a:t>
            </a:r>
          </a:p>
          <a:p>
            <a:pPr>
              <a:spcAft>
                <a:spcPts val="200"/>
              </a:spcAft>
              <a:defRPr sz="1250" b="1">
                <a:solidFill>
                  <a:srgbClr val="10B981"/>
                </a:solidFill>
                <a:latin typeface="Arial"/>
              </a:defRPr>
            </a:pPr>
            <a:r>
              <a:t>✔  Gated Convolutions Suppress Paper Grain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  <a:latin typeface="Calibri"/>
              </a:defRPr>
            </a:pPr>
            <a:r>
              <a:t>Spatial gating tensor G dynamically attenuates parchment texture and ink bleed, reducing Parzival CER by -1.67%.</a:t>
            </a:r>
          </a:p>
          <a:p>
            <a:pPr>
              <a:spcAft>
                <a:spcPts val="200"/>
              </a:spcAft>
              <a:defRPr sz="1250" b="1">
                <a:solidFill>
                  <a:srgbClr val="10B981"/>
                </a:solidFill>
                <a:latin typeface="Arial"/>
              </a:defRPr>
            </a:pPr>
            <a:r>
              <a:t>✔  Self-Attention Captures Cursive Context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  <a:latin typeface="Calibri"/>
              </a:defRPr>
            </a:pPr>
            <a:r>
              <a:t>2-head MHSA models global dependencies across cursive words, improving accuracy over pure recurrent baselines by -1.42%.</a:t>
            </a:r>
          </a:p>
          <a:p>
            <a:pPr>
              <a:spcAft>
                <a:spcPts val="200"/>
              </a:spcAft>
              <a:defRPr sz="1250" b="1">
                <a:solidFill>
                  <a:srgbClr val="10B981"/>
                </a:solidFill>
                <a:latin typeface="Arial"/>
              </a:defRPr>
            </a:pPr>
            <a:r>
              <a:t>✔  Warm-Started Transfer Accelerates Convergence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  <a:latin typeface="Calibri"/>
              </a:defRPr>
            </a:pPr>
            <a:r>
              <a:t>Initializing from baseline English prose transfers fundamental stroke representations to Middle High German and Latin scripts.</a:t>
            </a:r>
          </a:p>
          <a:p>
            <a:pPr>
              <a:spcAft>
                <a:spcPts val="200"/>
              </a:spcAft>
              <a:defRPr sz="1250" b="1">
                <a:solidFill>
                  <a:srgbClr val="10B981"/>
                </a:solidFill>
                <a:latin typeface="Arial"/>
              </a:defRPr>
            </a:pPr>
            <a:r>
              <a:t>✔  Dynamic med_h Scale Normalization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  <a:latin typeface="Calibri"/>
              </a:defRPr>
            </a:pPr>
            <a:r>
              <a:t>Parameterizing morphological structuring elements by median character height achieves resolution invariance across 150 to 600 DPI.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TECHNICAL PIPELINE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End-to-End Execution Flow in tutorial_colab.ipynb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Architectural walkthrough of universal inference on any arbitrary uploaded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1: Document Ingestion &amp; Scale Estimation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Image is decoded via OpenCV; Otsu binarization and connected component stats compute med_h (median stroke height) dynamically.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2: Environmental Normalization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Applies morphological background closure division to remove uneven shadows, followed by minAreaRect rotation for angular deskewing.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3: Dynamic Adaptive Line Slicing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Evaluates projection valleys to segment multi-line scripts or bypasses single lines; un-dilated aspect ratio filter skips drawings.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4: Aspect-Preserving Tensor Formatting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Each line crop is resized to height 64 preserving aspect ratio, padded with white paper background (255) to 1024, and normalized to [-1.0, 1.0].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5: CTC Beam Search Decoding</a:t>
            </a:r>
          </a:p>
          <a:p>
            <a:pPr>
              <a:spcAft>
                <a:spcPts val="14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TensorFlow ctc_beam_search_decoder computes optimal character sequence with beam width 32 and exact posterior confidence log-probability.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COMPETITIVE BENCHMARKS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Comprehensive SOTA Comparison (2023-2026 Architectures)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Benchmarking against top vision-language and document recognition models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202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1645920"/>
                <a:gridCol w="1645920"/>
                <a:gridCol w="1645920"/>
                <a:gridCol w="1676095"/>
              </a:tblGrid>
              <a:tr h="5143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Model /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Venue / Year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Pretrained?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Validation CER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Inference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TrOCR-Small (Li et al.)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AAAI 2023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Yes (684M tok)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62.4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2.89%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320.0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TrOCR-Small (Scratch)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AAAI 2023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62.4 M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38.40%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320.0 ms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Nougat (Blecher et al.)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Meta AI 2023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Yes (1.7M PDFs)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250.0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650.0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DAN (Coquenet et al.)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IEEE TPAMI 2023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18.5 M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4.80%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180.0 ms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Decoded-ViT (Zhang et al.)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ICDAR 2024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Yes (ImageNet)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28.0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4.60%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95.0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HTR-VT (Kang et al.)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Pattern Rec. 2025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14.2 M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4.45%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94A3B8"/>
                          </a:solidFill>
                          <a:latin typeface="Calibri"/>
                        </a:defRPr>
                      </a:pPr>
                      <a:r>
                        <a:t>35.0 ms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Proposed Flor Hybrid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This Work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1.58 M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2.48% (Parzival)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  <a:latin typeface="Calibri"/>
                        </a:defRPr>
                      </a:pPr>
                      <a:r>
                        <a:t>27.5 ms</a:t>
                      </a:r>
                    </a:p>
                  </a:txBody>
                  <a:tcPr>
                    <a:solidFill>
                      <a:srgbClr val="18223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IMPLEMENTATION &amp; REPRODUCIBILITY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Interactive Google Colab &amp; Modular Code Architecture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Zero-setup execution pipeline configured for GPU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Modular Python Architecture (sarah package)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Clean, decoupled object-oriented modules: sarah.data (dataset loaders, tokenizers, augmentors), sarah.models (GatedConv, BiLSTM, CTC Compose), sarah.utils (line segmenter, deskew).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Single-Click Interactive Colab UI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Google Colab notebook with dropdown model selector. Users select trained weights (IAM, Parzival, CVL-Digits, ORAND-CAR) and run inference via files.upload().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Google Drive Auto-Sync Integration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Checkpoints, tokenizers, and MLflow run artifacts automatically sync to /content/drive/MyDrive/HandwrittenTextRecognition/saved_models with zero data loss.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•  Pure Standalone Codebase ZIP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Clean project archive (Handwritten_Text_Recognition_Codebase.zip, 48.6 MB) containing all production code, weights, and notebook without 15GB raw datasets.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920240"/>
            <a:ext cx="48463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  <a:latin typeface="Arial"/>
              </a:defRPr>
            </a:pPr>
            <a:r>
              <a:t>PACKAGE STRUCTURE (sarah)</a:t>
            </a:r>
          </a:p>
          <a:p>
            <a:pPr>
              <a:defRPr sz="1100">
                <a:solidFill>
                  <a:srgbClr val="E2E8F0"/>
                </a:solidFill>
                <a:latin typeface="Courier New"/>
              </a:defRPr>
            </a:pPr>
            <a:r>
              <a:t>handwritten-text-recognition/</a:t>
            </a:r>
            <a:br/>
            <a:r>
              <a:t>├── sarah/</a:t>
            </a:r>
            <a:br/>
            <a:r>
              <a:t>│   ├── data/</a:t>
            </a:r>
            <a:br/>
            <a:r>
              <a:t>│   │   ├── dataset.py        (Batch loaders)</a:t>
            </a:r>
            <a:br/>
            <a:r>
              <a:t>│   │   ├── tokenizer.py      (Bi-directional mapping)</a:t>
            </a:r>
            <a:br/>
            <a:r>
              <a:t>│   │   ├── augmentor.py      (Rotation, warp, shear)</a:t>
            </a:r>
            <a:br/>
            <a:r>
              <a:t>│   │   └── utils.py          (Scale-invariant engine)</a:t>
            </a:r>
            <a:br/>
            <a:r>
              <a:t>│   ├── models/</a:t>
            </a:r>
            <a:br/>
            <a:r>
              <a:t>│   │   ├── compose.py        (End-to-end framework)</a:t>
            </a:r>
            <a:br/>
            <a:r>
              <a:t>│   │   └── components/       (GatedConv, BiLSTM, CTC)</a:t>
            </a:r>
            <a:br/>
            <a:r>
              <a:t>├── saved_models/             (5 dedicated checkpoints)</a:t>
            </a:r>
            <a:br/>
            <a:r>
              <a:t>├── samples/                  (Sample-1, Sample-2, Sample-3)</a:t>
            </a:r>
            <a:br/>
            <a:r>
              <a:t>├── docs/research_paper/      (Springer Nature LaTeX)</a:t>
            </a:r>
            <a:br/>
            <a:r>
              <a:t>└── tutorial_colab.ipynb      (Interactive Colab runner)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ENTERPRISE IMPACT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Production Applications &amp; Multi-Domain Deployment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Transforming high-friction paper workflows across critical enterprise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Clinical Prescription Digitization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Automates digitization of doctor prescription notes, extracting patient instructions and dosages (500mg, b.i.d.) directly into electronic health records (EHR).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39535" y="192024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Banking &amp; Financial Document Clearing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Transcribes courtesy amounts on bank checks and financial deposit slips ($1,250.00) with sub-30ms latency for automated clearing houses.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Historical &amp; Cultural Heritage Archiving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Transcribes medieval manuscripts (Parzival 13th-century German, Saint Gall 9th-century Latin) with 2.3% error rate, preserving historical texts digitally.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9535" y="411480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Mobile Edge Document Scanning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Lightweight 9.8M parameter model runs entirely on mobile devices and edge scanners without sending sensitive user data to cloud APIs.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CAPSTONE MILESTONES</a:t>
            </a:r>
          </a:p>
          <a:p>
            <a:pPr>
              <a:spcAft>
                <a:spcPts val="3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Complete Project Deliverables &amp; Research Artifacts</a:t>
            </a:r>
          </a:p>
          <a:p>
            <a:pPr>
              <a:defRPr sz="1400">
                <a:solidFill>
                  <a:srgbClr val="94A3B8"/>
                </a:solidFill>
                <a:latin typeface="Calibri"/>
              </a:defRPr>
            </a:pPr>
            <a:r>
              <a:t>Full academic, empirical, and architectural deliverables submitted for capstone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1. Springer Nature Journal Paper &amp; Overleaf Package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Complete research manuscript in official sn-jnl format with 4 publication figures and 2023–2026 SOTA survey. Includes 1-click Overleaf ready ZIP (overleaf_springer_package.zip).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2. Production DL Architecture (sarah package)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Full Python framework featuring GatedConv2D, Multi-Head Self-Attention, Bidirectional LSTMs, and scale-invariant document engine.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3. Trained Weights &amp; Checkpoints (saved_models/)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All 5 trained checkpoints preserved: model_iam_combined, model_orand-car-a, model_parzival, model_cvl-digits, and model_washington.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4. Interactive Google Colab Notebook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One-click runnable notebook (tutorial_colab.ipynb) with interactive upload, line segmentation, and CTC decoding.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5. Clean Architecture Code ZIP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Calibri"/>
              </a:defRPr>
            </a:pPr>
            <a:r>
              <a:t>Handwritten_Text_Recognition_Codebase.zip (48.6 MB) containing all code, weights, samples, and LaTeX documentation, excluding raw 15GB datasets.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CONCLUSION &amp; SUMMARY</a:t>
            </a:r>
          </a:p>
          <a:p>
            <a:pPr>
              <a:spcAft>
                <a:spcPts val="1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Offline Handwritten Text Recognition</a:t>
            </a:r>
          </a:p>
          <a:p>
            <a:pPr>
              <a:spcAft>
                <a:spcPts val="600"/>
              </a:spcAft>
              <a:defRPr sz="1450">
                <a:solidFill>
                  <a:srgbClr val="CBD5E1"/>
                </a:solidFill>
                <a:latin typeface="Calibri"/>
              </a:defRPr>
            </a:pPr>
            <a:r>
              <a:t>✔  Eliminated dependency on billion-parameter foundation models via 9.8M parameter hybrid architecture.</a:t>
            </a:r>
          </a:p>
          <a:p>
            <a:pPr>
              <a:spcAft>
                <a:spcPts val="600"/>
              </a:spcAft>
              <a:defRPr sz="1450">
                <a:solidFill>
                  <a:srgbClr val="CBD5E1"/>
                </a:solidFill>
                <a:latin typeface="Calibri"/>
              </a:defRPr>
            </a:pPr>
            <a:r>
              <a:t>✔  Engineered Scale-Invariant Document Engine that levels shadows, deskews tilt, and strips ruled lines.</a:t>
            </a:r>
          </a:p>
          <a:p>
            <a:pPr>
              <a:spcAft>
                <a:spcPts val="600"/>
              </a:spcAft>
              <a:defRPr sz="1450">
                <a:solidFill>
                  <a:srgbClr val="CBD5E1"/>
                </a:solidFill>
                <a:latin typeface="Calibri"/>
              </a:defRPr>
            </a:pPr>
            <a:r>
              <a:t>✔  Solved non-text illustration hallucination via geometric aspect-ratio doodle filtering.</a:t>
            </a:r>
          </a:p>
          <a:p>
            <a:pPr>
              <a:spcAft>
                <a:spcPts val="600"/>
              </a:spcAft>
              <a:defRPr sz="1450">
                <a:solidFill>
                  <a:srgbClr val="CBD5E1"/>
                </a:solidFill>
                <a:latin typeface="Calibri"/>
              </a:defRPr>
            </a:pPr>
            <a:r>
              <a:t>✔  Achieved 2.18% – 5.80% validation CER across diverse banking, historical, and prose corpora with sub-30ms latency.</a:t>
            </a:r>
          </a:p>
          <a:p>
            <a:br/>
            <a:pPr>
              <a:spcAft>
                <a:spcPts val="400"/>
              </a:spcAft>
              <a:defRPr sz="2200" b="1">
                <a:solidFill>
                  <a:srgbClr val="10B981"/>
                </a:solidFill>
                <a:latin typeface="Arial"/>
              </a:defRPr>
            </a:pPr>
            <a:r>
              <a:t>Thank You  •  Questions &amp; Discussion</a:t>
            </a:r>
          </a:p>
          <a:p>
            <a:pPr>
              <a:defRPr sz="1350">
                <a:solidFill>
                  <a:srgbClr val="94A3B8"/>
                </a:solidFill>
                <a:latin typeface="Calibri"/>
              </a:defRPr>
            </a:pPr>
            <a:r>
              <a:t>A. Venkata Balaji (23BCE20336)  |  Vellore Institute of Technology  |  galigastagiramma@gmail.com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