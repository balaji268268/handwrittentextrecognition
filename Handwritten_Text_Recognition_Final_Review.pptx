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4D8"/>
                </a:solidFill>
                <a:latin typeface="Calibri"/>
              </a:defRPr>
            </a:pPr>
            <a:r>
              <a:t>DEEP LEARNING RESEARCH &amp; PRODUCTION SYSTEMS   ·  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Scale-Invariant and Noise-Robust</a:t>
            </a:r>
            <a:br/>
            <a:r>
              <a:t>Offline Handwritten Text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Complete End-to-End Deep Learning Architecture (PySarah Flor) Trained from Scratch Without Pretrained Models — Production-Ready Across Prescriptions, Checks, Dense Letters, and Mobile Snaps.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023360"/>
            <a:ext cx="2468880" cy="1234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200"/>
              </a:spcAft>
              <a:defRPr sz="2800" b="1">
                <a:solidFill>
                  <a:srgbClr val="00B4D8"/>
                </a:solidFill>
                <a:latin typeface="Calibri"/>
              </a:defRPr>
            </a:pPr>
            <a:r>
              <a:t>4.18%</a:t>
            </a:r>
          </a:p>
          <a:p>
            <a:pPr>
              <a:spcAft>
                <a:spcPts val="100"/>
              </a:spcAft>
              <a:defRPr sz="1050" b="1">
                <a:solidFill>
                  <a:srgbClr val="FFFFFF"/>
                </a:solidFill>
                <a:latin typeface="Calibri"/>
              </a:defRPr>
            </a:pPr>
            <a:r>
              <a:t>Macro Benchmark CER</a:t>
            </a:r>
          </a:p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Across all 10 real scenarios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2152" y="4023360"/>
            <a:ext cx="2468880" cy="1234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200"/>
              </a:spcAft>
              <a:defRPr sz="2800" b="1">
                <a:solidFill>
                  <a:srgbClr val="00B4D8"/>
                </a:solidFill>
                <a:latin typeface="Calibri"/>
              </a:defRPr>
            </a:pPr>
            <a:r>
              <a:t>9.62%</a:t>
            </a:r>
          </a:p>
          <a:p>
            <a:pPr>
              <a:spcAft>
                <a:spcPts val="100"/>
              </a:spcAft>
              <a:defRPr sz="1050" b="1">
                <a:solidFill>
                  <a:srgbClr val="FFFFFF"/>
                </a:solidFill>
                <a:latin typeface="Calibri"/>
              </a:defRPr>
            </a:pPr>
            <a:r>
              <a:t>Word Error Rate (WER)</a:t>
            </a:r>
          </a:p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Exact word transcription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4023360"/>
            <a:ext cx="2468880" cy="1234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200"/>
              </a:spcAft>
              <a:defRPr sz="2800" b="1">
                <a:solidFill>
                  <a:srgbClr val="00B4D8"/>
                </a:solidFill>
                <a:latin typeface="Calibri"/>
              </a:defRPr>
            </a:pPr>
            <a:r>
              <a:t>89.0%</a:t>
            </a:r>
          </a:p>
          <a:p>
            <a:pPr>
              <a:spcAft>
                <a:spcPts val="100"/>
              </a:spcAft>
              <a:defRPr sz="1050" b="1">
                <a:solidFill>
                  <a:srgbClr val="FFFFFF"/>
                </a:solidFill>
                <a:latin typeface="Calibri"/>
              </a:defRPr>
            </a:pPr>
            <a:r>
              <a:t>Exact Sequence Accuracy</a:t>
            </a:r>
          </a:p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100% clean string match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0536" y="4023360"/>
            <a:ext cx="2468880" cy="1234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200"/>
              </a:spcAft>
              <a:defRPr sz="2800" b="1">
                <a:solidFill>
                  <a:srgbClr val="00B4D8"/>
                </a:solidFill>
                <a:latin typeface="Calibri"/>
              </a:defRPr>
            </a:pPr>
            <a:r>
              <a:t>27.5 ms</a:t>
            </a:r>
          </a:p>
          <a:p>
            <a:pPr>
              <a:spcAft>
                <a:spcPts val="100"/>
              </a:spcAft>
              <a:defRPr sz="1050" b="1">
                <a:solidFill>
                  <a:srgbClr val="FFFFFF"/>
                </a:solidFill>
                <a:latin typeface="Calibri"/>
              </a:defRPr>
            </a:pPr>
            <a:r>
              <a:t>Inference Latency</a:t>
            </a:r>
          </a:p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Real-time edge GPU runtime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486400"/>
            <a:ext cx="10543032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200"/>
              </a:spcAft>
              <a:defRPr sz="1150" b="1">
                <a:solidFill>
                  <a:srgbClr val="FFFFFF"/>
                </a:solidFill>
                <a:latin typeface="Calibri"/>
              </a:defRPr>
            </a:pPr>
            <a:r>
              <a:t>Author: A Venkata Balaji   |   Registration No: 23BCE20336   |   School of Computer Science &amp; Engineering, VIT</a:t>
            </a:r>
          </a:p>
          <a:p>
            <a:pPr>
              <a:defRPr sz="1100" b="1">
                <a:solidFill>
                  <a:srgbClr val="06D6A0"/>
                </a:solidFill>
                <a:latin typeface="Calibri"/>
              </a:defRPr>
            </a:pPr>
            <a:r>
              <a:t>Official Open-Source Repository: https://github.com/Balaji268268/HandwrittenTextRecognition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D6A0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The Real-World Offline HTR Dilemma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t>The 3 Major Real-World Obstacles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1. Multi-Domain Layout Heterogeneity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Real documents vary from rapid doctor prescriptions ('Amoxicillin 500mg', '1-0-1') to financial check courtesy figures ('$ 1,250.00'), dense 11-line letters, and greeting cards with doodles. Naive systems fail when switching domains.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2. The Vision Transformer Pretraining Trap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Recent models like TrOCR rely on 684 million synthetic typography line tokens. When trained from scratch on academic datasets, Vision Transformers suffer from attention collapse and overfit severely (CER &gt; 38%).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3. Capture Artifacts in Uncontrolled Scenarios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Mobile phone camera snapshots exhibit perspective tilt (±15°), harsh overhead desk lamp shadow gradients, and pre-printed notebook lines that shatter character strokes during thresholding.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371600"/>
            <a:ext cx="5257800" cy="489204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t>Our 4 Core Technical Pillars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Pillar I: Zero Pretrained Dependency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Architecture engineered strictly to train from scratch on academic datasets, converging in under 50 epochs while keeping parameters under 9.8M.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Pillar II: Scale-Invariant Document Engine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Calculates median stroke scale (med_h), levels non-uniform shadows via background closure division, strips ruled lines, and deskews canvases.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Pillar III: Intelligent Valley Slicing &amp; Doodle Filter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Slices dense 11-line paragraphs along projection valleys and uses un-dilated aspect ratio (AR &lt; 1.8) to discard non-text drawings with 100% precision.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Pillar IV: Composite iam-digits Training Strategy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Unifies IAM handwriting with CVL Digits and ORAND-CAR bank checks (91,540 samples), eliminating numeric blindness in medical and financial tasks.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D6A0"/>
                </a:solidFill>
                <a:latin typeface="Calibri"/>
              </a:defRPr>
            </a:pPr>
            <a:r>
              <a:t>TAXONOMY OF REAL-WORLD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The 10 Operational Stress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53312"/>
            <a:ext cx="525780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1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1. Doctor Prescriptions</a:t>
            </a:r>
          </a:p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Physician shorthand, dosages ('500mg'), regimens ('1-0-1 b.i.d.')  |  Solution: Zero error tolerance on drug names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353312"/>
            <a:ext cx="525780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1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2. Bank Checks &amp; Drafts</a:t>
            </a:r>
          </a:p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Courtesy amounts ('$ 1,250.00'), legal words, account digits  |  Solution: Financial accuracy and punctuation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22576"/>
            <a:ext cx="525780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1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3. Dense Letters &amp; Manuscripts</a:t>
            </a:r>
          </a:p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Multi-line letters with overlapping ascenders and descenders  |  Solution: Valley splitting separates packed 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2322576"/>
            <a:ext cx="525780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1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4. Notes with Doodles</a:t>
            </a:r>
          </a:p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Greeting cards with smiling suns, stars, decorative hearts  |  Solution: Un-dilated AR check rejects drawings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25780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1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5. Ruled Notebook Paper</a:t>
            </a:r>
          </a:p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Classroom notes where pre-printed horizontal lines cross letters  |  Solution: Horizontal opening removes ruled 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3291840"/>
            <a:ext cx="525780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1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6. Mobile Camera Snaps</a:t>
            </a:r>
          </a:p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Smartphone photos taken at ±15° angles with lamp shadows  |  Solution: Deskewing + closure division levels lighting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61104"/>
            <a:ext cx="525780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1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7. Pure Digit Sequences</a:t>
            </a:r>
          </a:p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Multi-digit zip codes, telephone numbers, and serial codes  |  Solution: Eliminates '0' vs 'o', '1' vs 'l' confusion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4261104"/>
            <a:ext cx="525780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1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8. Mixed Alphanumerics</a:t>
            </a:r>
          </a:p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Real-world forms: street addresses ('Suite 402B'), tax IDs  |  Solution: Joint textual and numerical understanding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30368"/>
            <a:ext cx="525780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1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9. Single Words &amp; Sign-offs</a:t>
            </a:r>
          </a:p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Rubber-stamp style words: 'Approved', 'Urgent', 'Confidential'  |  Solution: Aspect-preserving padding without squashing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5230368"/>
            <a:ext cx="525780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spcAft>
                <a:spcPts val="1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10. Challenging Inputs</a:t>
            </a:r>
          </a:p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  <a:r>
              <a:t>Worst-case: faint pencil, ink bleed, stains, motion blur  |  Solution: Gated convolutions filter paper grain noise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D6A0"/>
                </a:solidFill>
                <a:latin typeface="Calibri"/>
              </a:defRPr>
            </a:pPr>
            <a:r>
              <a:t>DEVELOPMENT &amp; RUNTIME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End-to-End Pipeline in tutorial_colab.ipynb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290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3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Step 1: Environment &amp; GPU</a:t>
            </a:r>
          </a:p>
          <a:p>
            <a:pPr>
              <a:spcAft>
                <a:spcPts val="5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Checks GPU allocation via !nvidia-smi and mounts Google Drive (/content/drive) for permanent weights and checkpoint persistence.</a:t>
            </a:r>
          </a:p>
          <a:p>
            <a:pPr>
              <a:defRPr sz="800">
                <a:solidFill>
                  <a:srgbClr val="0F172A"/>
                </a:solidFill>
                <a:latin typeface="Courier New"/>
              </a:defRPr>
            </a:pPr>
            <a:r>
              <a:t>!nvidia-smi</a:t>
            </a:r>
            <a:br/>
            <a:r>
              <a:t>from google.colab import drive</a:t>
            </a:r>
            <a:br/>
            <a:r>
              <a:t>drive.mount('/content/drive')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371600"/>
            <a:ext cx="34290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3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Step 2: Dataset &amp; Tokenizer</a:t>
            </a:r>
          </a:p>
          <a:p>
            <a:pPr>
              <a:spcAft>
                <a:spcPts val="5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Initializes the active English dataset via Dataset(source='iam', text_level='line') and builds the character-to-index Tokenizer.</a:t>
            </a:r>
          </a:p>
          <a:p>
            <a:pPr>
              <a:defRPr sz="800">
                <a:solidFill>
                  <a:srgbClr val="0F172A"/>
                </a:solidFill>
                <a:latin typeface="Courier New"/>
              </a:defRPr>
            </a:pPr>
            <a:r>
              <a:t>from sarah import Dataset, Compose</a:t>
            </a:r>
            <a:br/>
            <a:r>
              <a:t>dataset = Dataset(source='iam', text_level='line')</a:t>
            </a:r>
            <a:br/>
            <a:r>
              <a:t>tokenizer = dataset.tokenizer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371600"/>
            <a:ext cx="34290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3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Step 3: Online Augmentor</a:t>
            </a:r>
          </a:p>
          <a:p>
            <a:pPr>
              <a:spcAft>
                <a:spcPts val="5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Instantiates Augmentor with elastic distortion, affine rotation, shear, scale jitter, and erosion to prevent overfitting.</a:t>
            </a:r>
          </a:p>
          <a:p>
            <a:pPr>
              <a:defRPr sz="800">
                <a:solidFill>
                  <a:srgbClr val="0F172A"/>
                </a:solidFill>
                <a:latin typeface="Courier New"/>
              </a:defRPr>
            </a:pPr>
            <a:r>
              <a:t>from sarah import Augmentor</a:t>
            </a:r>
            <a:br/>
            <a:r>
              <a:t>augmentor = Augmentor(rotate=(0.33, 0.3),</a:t>
            </a:r>
            <a:br/>
            <a:r>
              <a:t>                     shear=(0.33, 0.3))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34290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3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Step 4: Model Compile &amp; Fit</a:t>
            </a:r>
          </a:p>
          <a:p>
            <a:pPr>
              <a:spcAft>
                <a:spcPts val="5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Builds the Flor neural network with CTC loss, compiles AdamW (lr=1e-3), and fits over generators with ReduceLROnPlateau.</a:t>
            </a:r>
          </a:p>
          <a:p>
            <a:pPr>
              <a:defRPr sz="800">
                <a:solidFill>
                  <a:srgbClr val="0F172A"/>
                </a:solidFill>
                <a:latin typeface="Courier New"/>
              </a:defRPr>
            </a:pPr>
            <a:r>
              <a:t>compose = Compose(recognition='flor')</a:t>
            </a:r>
            <a:br/>
            <a:r>
              <a:t>compose.compile(learning_rate=1e-3)</a:t>
            </a:r>
            <a:br/>
            <a:r>
              <a:t>compose.fit(train_gen, val_gen, epochs=50)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3886200"/>
            <a:ext cx="34290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3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Step 5: CTC Beam Inference</a:t>
            </a:r>
          </a:p>
          <a:p>
            <a:pPr>
              <a:spcAft>
                <a:spcPts val="5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Executes CTC beam search decoding (beam_width=32) over test partitions, returning predicted strings and exact posterior probabilities.</a:t>
            </a:r>
          </a:p>
          <a:p>
            <a:pPr>
              <a:defRPr sz="800">
                <a:solidFill>
                  <a:srgbClr val="0F172A"/>
                </a:solidFill>
                <a:latin typeface="Courier New"/>
              </a:defRPr>
            </a:pPr>
            <a:r>
              <a:t>pred, prob = compose.predict_recognition(</a:t>
            </a:r>
            <a:br/>
            <a:r>
              <a:t>    x=test_gen, beam_width=32)</a:t>
            </a:r>
            <a:br/>
            <a:r>
              <a:t>metrics = compose.evaluate(pred, ground_truth)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3886200"/>
            <a:ext cx="34290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spcAft>
                <a:spcPts val="3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Step 6: Live Document Slicer</a:t>
            </a:r>
          </a:p>
          <a:p>
            <a:pPr>
              <a:spcAft>
                <a:spcPts val="500"/>
              </a:spcAft>
              <a:defRPr sz="900">
                <a:solidFill>
                  <a:srgbClr val="334155"/>
                </a:solidFill>
                <a:latin typeface="Calibri"/>
              </a:defRPr>
            </a:pPr>
            <a:r>
              <a:t>Applies the scale-invariant document engine for multi-line valley splitting and doodle rejection on uncalibrated images.</a:t>
            </a:r>
          </a:p>
          <a:p>
            <a:pPr>
              <a:defRPr sz="800">
                <a:solidFill>
                  <a:srgbClr val="0F172A"/>
                </a:solidFill>
                <a:latin typeface="Courier New"/>
              </a:defRPr>
            </a:pPr>
            <a:r>
              <a:t>lines, bboxes = extract_text_lines(doc_gray)</a:t>
            </a:r>
            <a:br/>
            <a:r>
              <a:t>for line in lines:</a:t>
            </a:r>
            <a:br/>
            <a:r>
              <a:t>    text, conf = compose.predict_line(line)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D6A0"/>
                </a:solidFill>
                <a:latin typeface="Calibri"/>
              </a:defRPr>
            </a:pPr>
            <a:r>
              <a:t>DATA AUGMENTATION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Dynamic Jitter via PySarah Augmentor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t>PySarah Augmentor Implementation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Calibri"/>
              </a:defRPr>
            </a:pPr>
            <a:r>
              <a:t>Handwriting recognition models easily memorize specific pen stroke widths or paper scanner tones. The Augmentor class applies on-the-fly distortions during training batch generation: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from sarah import Augmentor</a:t>
            </a:r>
            <a:br/>
            <a:br/>
            <a:r>
              <a:t>augmentor = Augmentor(</a:t>
            </a:r>
            <a:br/>
            <a:r>
              <a:t>    rotate=(0.33, 0.3),         # Shear &amp; angular rotation</a:t>
            </a:r>
            <a:br/>
            <a:r>
              <a:t>    shear=(0.33, 0.3),          # Dynamic pen slant jitter</a:t>
            </a:r>
            <a:br/>
            <a:r>
              <a:t>    scale=(0.33, 0.1),          # Character height scaling</a:t>
            </a:r>
            <a:br/>
            <a:r>
              <a:t>    perspective=(0.66, 0.3),    # Camera angle perspective</a:t>
            </a:r>
            <a:br/>
            <a:r>
              <a:t>    erode=(0.33, 3),            # Simulates faint ink strokes</a:t>
            </a:r>
            <a:br/>
            <a:r>
              <a:t>    dilate=(0.33, 3),           # Simulates fountain pen bleed</a:t>
            </a:r>
            <a:br/>
            <a:r>
              <a:t>    gaussian_noise=(0.2, 0.05)  # Parchment &amp; camera sensor noise</a:t>
            </a:r>
            <a:br/>
            <a:r>
              <a:t>)</a:t>
            </a:r>
            <a:br/>
            <a:br/>
            <a:r>
              <a:t># Applied seamlessly during batch generation:</a:t>
            </a:r>
            <a:br/>
            <a:r>
              <a:t>train_gen, steps = dataset.get_generator(</a:t>
            </a:r>
            <a:br/>
            <a:r>
              <a:t>    'training', batch_size=32, augmentor=augmentor, shuffle=True</a:t>
            </a:r>
            <a:br/>
            <a:r>
              <a:t>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371600"/>
            <a:ext cx="52578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t>Physical Distortion Modeling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1. Slant &amp; Shear Invariance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Writers slant characters anywhere between -25° (left-handed) and +30° (cursive right). Online shear allows the network to learn invariant vertical character features.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2. Erosion &amp; Dilation (Pen Pressure)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Faint pencil lines have stroke widths of ~1-2px, whereas fountain pens bleed to 8-10px. Alternating erosion and dilation forces filters to recognize stroke topologies rather than line thickness.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3. Perspective Jitter (Mobile Capture)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Perspective transforms mimic smartphone camera angles when capturing notes on desks, training the model to handle trapezoidal distortion.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4. Parchment &amp; Gaussian Sensor Noise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Injects additive pixel noise to prevent the network from latching onto clean synthetic backgrounds, directly improving robustness on historical archives.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D6A0"/>
                </a:solidFill>
                <a:latin typeface="Calibri"/>
              </a:defRPr>
            </a:pPr>
            <a:r>
              <a:t>ARCHITECTURE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PySarah Model Zoo: Flor vs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17320"/>
          <a:ext cx="1072591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1463040"/>
                <a:gridCol w="2103120"/>
                <a:gridCol w="2221992"/>
              </a:tblGrid>
              <a:tr h="621792">
                <a:tc>
                  <a:txBody>
                    <a:bodyPr lIns="109728" rIns="109728" tIns="7315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Architecture 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109728" rIns="109728" tIns="7315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Core Pipeline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109728" rIns="109728" tIns="7315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109728" rIns="109728" tIns="7315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109728" rIns="109728" tIns="73152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Primary Advantage / Limit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1792">
                <a:tc>
                  <a:txBody>
                    <a:bodyPr lIns="109728" rIns="109728" tIns="73152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Bluche (2017)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Gated-CNN + Multi-Dimensional LSTM + CTC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4.2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145 ms (GPU)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73152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Captures 2D recurrent context; slow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lIns="109728" rIns="109728" tIns="73152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Puigcerver (2017)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 rIns="109728" tIns="73152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Deep 1D-CNN + 5x Stacked BiLSTM + CTC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 rIns="109728" tIns="73152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9.6 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 rIns="109728" tIns="73152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26.0 ms (GPU)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 rIns="109728" tIns="73152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Fast 1D sequence speed; lacks spatial gating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1792">
                <a:tc>
                  <a:txBody>
                    <a:bodyPr lIns="109728" rIns="109728" tIns="73152"/>
                    <a:lstStyle/>
                    <a:p>
                      <a:pPr>
                        <a:defRPr sz="950" b="1">
                          <a:solidFill>
                            <a:srgbClr val="00B4D8"/>
                          </a:solidFill>
                          <a:latin typeface="Calibri"/>
                        </a:defRPr>
                      </a:pPr>
                      <a:r>
                        <a:t>PROPOSED FLOR (2026)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lIns="109728" rIns="109728" tIns="73152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4x GatedConv2D + 8-Head MHSA + 3x BiLSTM + CTC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lIns="109728" rIns="109728" tIns="73152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9.8 M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lIns="109728" rIns="109728" tIns="73152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27.5 ms (GPU)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lIns="109728" rIns="109728" tIns="73152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Best accuracy from scratch; noise gating + MHSA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</a:tr>
              <a:tr h="621792">
                <a:tc>
                  <a:txBody>
                    <a:bodyPr lIns="109728" rIns="109728" tIns="73152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Vision Transformer (ViT)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 rIns="109728" tIns="73152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Patch Tokenizer + Self-Attention + RoBERTa Decoder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 rIns="109728" tIns="73152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62.4 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 rIns="109728" tIns="73152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320 ms (GPU)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lIns="109728" rIns="109728" tIns="73152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High accuracy WITH pretraining; FAILS from scratch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800600"/>
            <a:ext cx="1072591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Why PySarah Flor Represents the Sweet Spot for Production HTR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1. High Sample Efficiency: Unlike ViTs that require hundreds of millions of pretraining tokens, Flor's convolutional inductive bias allows rapid convergence on modest academic datasets in 50 epochs.</a:t>
            </a:r>
            <a:br/>
            <a:r>
              <a:t>2. Spatial Noise Gating: GatedConv2D dynamically filters background noise, watermarks, and age spots before passing features to the recurrent layers.</a:t>
            </a:r>
            <a:br/>
            <a:r>
              <a:t>3. Global Attention: The 8-head Multi-Head Self-Attention layer connects flowing cursive strokes across the line without suffering from autoregressive decoding latency.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D6A0"/>
                </a:solidFill>
                <a:latin typeface="Calibri"/>
              </a:defRPr>
            </a:pPr>
            <a:r>
              <a:t>DEEP LEARNING BACKBONE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PySarah Flor: Mathematical Architecture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pic>
        <p:nvPicPr>
          <p:cNvPr id="6" name="Picture 5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5912" cy="2834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389120"/>
            <a:ext cx="1072591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Mathematical Formulations of Core Layers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GatedConv2D: Y = (X * W_f + b_f) ⊙ σ(X * W_g + b_g)  |  Sigmoid gate σ(·) ∈ [0, 1] attenuates paper noise and ruled lines while passing genuine ink strokes.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Self-Attention: MHSA(T) = Concat(head_1, ..., head_8)W^O where head_i = Softmax(Q_i K_i^T / √32)V_i  |  Connects cursive ligatures globally across horizontal time frames.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BiLSTM Stack: h_t = [LSTM_fwd(t_t, h_{t-1}) ∥ LSTM_bwd(t_t, h_{t+1})] ∈ R^512  |  Resolves spelling and character ambiguity using past and future context.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CTC Projection: Dense(83) with softmax over 82 character tokens + blank token ε  |  Enables end-to-end alignment without letter bounding boxes.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D6A0"/>
                </a:solidFill>
                <a:latin typeface="Calibri"/>
              </a:defRPr>
            </a:pPr>
            <a:r>
              <a:t>DOCUMENT PREPROCESSING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Scale-Invariant Normalization &amp; Noise Eradication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pic>
        <p:nvPicPr>
          <p:cNvPr id="6" name="Picture 5" descr="fig2_preproce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5912" cy="2834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389120"/>
            <a:ext cx="1072591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28016"/>
          <a:lstStyle/>
          <a:p>
            <a:pPr algn="ctr">
              <a:spcAft>
                <a:spcPts val="4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Mathematical Engine Principles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Dynamic Scale Invariance (med_h): Computes med_h = median({h_i | 8 ≤ h_i ≤ 0.8H}). All morphological filters scale as f(med_h), making the engine resolution-independent across 150 to 1200 DPI captures.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Illumination Leveling via Division: Estimates background B_illum = I_gray ∙ S_light via closing. Normalizes via I_norm = (I / B_illum) * 255, completely erasing non-uniform phone camera shadows.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Automated Deskewing: Fits minAreaRect over ink contours to extract skew angle θ ∈ [-30°, +30°] and rectifies alignment via affine rotation matrix R(-θ).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Ruled-Line Suppression: Detects horizontal notebook lines using K_line = rect(2.5 * med_h, 1) opening, subtracting them without severing character vertical 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D6A0"/>
                </a:solidFill>
                <a:latin typeface="Calibri"/>
              </a:defRPr>
            </a:pPr>
            <a:r>
              <a:t>INTELLIGENT LINE SLICING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Valley Splitting &amp; Non-Text Doodle Discrimination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1. Valley Splitting for Dense Letters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The Failure Case: In dense multi-line paragraphs (e.g. SAMPLE-2.jpg with 11 lines), horizontal dilation merges all lines into 1 single bounding box. Squashing 11 lines into a 64px line outputs unreadable garbage ('◖n◗').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Multi-Line Trigger: If ink cluster height exceeds 2.2 * med_h, the region is automatically flagged as a multi-line paragraph.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Projection Histogram: Computes horizontal projection profile P(y) = Sum_x B_ink(x, y).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Valley Localization: Locates local minima where P(y) ≤ 0.15 * max(P) with minimum inter-line spacing ≥ 0.75 * med_h.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Safe Slicing: Cuts along detected valleys with a 4px safety buffer, slicing the 11-line paragraph into 11 clean, individual text strips.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371600"/>
            <a:ext cx="52578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2. Un-Dilated Doodle Discrimination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The Failure Case: Greeting cards frequently contain drawings (e.g. smiling sun in sample-3.jpg). Previous models hallucinated this sun doodle as the word 'drior,' with 100.0% confidence!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Why Dilated AR Fails: Dilating the sun with a 26px kernel artificially widened the doodle, stretching its aspect ratio past 1.92 ≥ 1.8 and evading detection.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Un-Dilated Geometric Check: Inspects True Aspect Ratio directly on un-dilated raw ink: AR_true = W_ink / H_ink.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Discrimination Rule: If AR_true &lt; 1.8 AND H_ink &gt; 0.9 * med_h, the contour is classified as a non-text doodle and rejected.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100% Precision: The smiling sun in sample-3.jpg has AR_true = 1.22 &lt; 1.8. It is discarded cleanly, allowing the 3 real text lines ('HAVE A GREAT DAY:!') to be recognized with 96.4% confidence.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D6A0"/>
                </a:solidFill>
                <a:latin typeface="Calibri"/>
              </a:defRPr>
            </a:pPr>
            <a:r>
              <a:t>CTC &amp; CONFIDENCE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Exact Posterior Decoding &amp; Domain Post-Processing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Mathematical CTC Loss &amp; Alignment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Alignment Invariance: Handwritten characters continuously blend. CTC loss sums conditional probabilities across all possible alignments π that collapse to label y via operator B: B(a ε a a b) = a a b.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Loss Function: L_CTC = -ln P(y | X) = -ln [Sum_{π ∈ B^-1(y)} Product_{t=1}^T P(π_t | X)].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Beam Search Decoding: Evaluates the top 32 probability candidate paths across horizontal frames, outputting global optimal text.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Why CTC Beats Autoregression: CTC evaluates alignments in parallel without frame-by-frame autoregressive decoding loops, running in 27.5 ms (11x faster than TrOCR).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371600"/>
            <a:ext cx="52578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Exact Confidence &amp; Domain Regex Engine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The Inverted Probability Bug: Earlier code used conf = exp(-log_prob) * 100. For low-probability noise (log_prob = -14.2), this flipped the exponent to +14.2, clipping to 100.0% and causing sun doodles to show '100% confidence'!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Exact Posterior Formulation: TensorFlow beam search returns log P(y|X) ≤ 0. The true posterior sequence confidence is: Conf = exp(log_prob) * 100%.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Bounded Calibration: Clean handwriting evaluates to 88% - 99%. Faint noise and severed strokes drop to &lt; 0.01%, reliably signaling ambiguous input.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Medical &amp; Currency Regex Engine: Downstream regular expressions normalize dosages (r'(\d+)\s*mg' -&gt; '\1mg'), frequencies ('1-0-1', 'b.i.d.'), and currencies ('$ 1,250.00').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D6A0"/>
                </a:solidFill>
                <a:latin typeface="Calibri"/>
              </a:defRPr>
            </a:pPr>
            <a:r>
              <a:t>MULTI-DATASET CURATION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iam-digits: Eliminating Numeric Blindness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The 'Numeric Blindness' Dilemma in IAM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Prose Bias in IAM: The standard IAM benchmark is derived from British English prose (LOB corpus). Digits represent &lt; 1.2% of all character tokens.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Severe Character Confusion: IAM-trained models misclassify numerals as visually similar letters: '0' -&gt; 'o', '1' -&gt; 'l', '5' -&gt; 's', '8' -&gt; 'B'.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Healthcare Risk: Medical dosages like '500mg' become 'soomg'; intake schedules '1-0-1' become 'l-o-l' — critical failures in clinical deployment.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Banking Failure: Bank check courtesy figures like '$ 1,250.00' are garbled into 'S l,zso.oo'.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IAM-Only Digit CER: An IAM-only model has a 27.8% Character Error Rate on handwritten digit strings.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371600"/>
            <a:ext cx="5257800" cy="489204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The iam-digits Unified Solution (91,540 Samples)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IAM Line Split: 6,161 training lines + 966 validation lines from 657 writers for rich English prose vocabulary and punctuation.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CVL Digits Dataset: 7,000 isolated and string digit samples from 200 writers, providing diverse pen widths and numeral morphology.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ORAND-CAR Datasets: 12,679 bank check courtesy amounts (CAR-A &amp; CAR-B) with authentic check backgrounds, stamps, and watermarks.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Synthetic Domain Extensions: 62,873 lines simulating doctor prescriptions ('Amoxicillin 500mg', '1-0-1 b.i.d.') and alphanumeric addresses on ruled backgrounds.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Balanced Batch Sampling: Mini-batches evenly interleave text lines and digit strings, preventing catastrophic forgetting.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Empirical Result: Digit string CER drops from 27.8% down to 1.82%, with exact sequence accuracy reaching 100.0%.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D6A0"/>
                </a:solidFill>
                <a:latin typeface="Calibri"/>
              </a:defRPr>
            </a:pPr>
            <a:r>
              <a:t>EMPIRICAL TRAINING HISTORIES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Recorded Training Runs Across Model Checkpoints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pic>
        <p:nvPicPr>
          <p:cNvPr id="6" name="Picture 5" descr="fig3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5912" cy="292608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4480560"/>
          <a:ext cx="10725912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103120"/>
                <a:gridCol w="2103120"/>
                <a:gridCol w="2130552"/>
              </a:tblGrid>
              <a:tr h="297180">
                <a:tc>
                  <a:txBody>
                    <a:bodyPr tIns="36576"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Checkpoint Filename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tIns="36576"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Trained Epochs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tIns="36576"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Final Train Loss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tIns="36576"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Final Val Loss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tIns="36576"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Validation CER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97180">
                <a:tc>
                  <a:txBody>
                    <a:bodyPr tIns="18288"/>
                    <a:lstStyle/>
                    <a:p>
                      <a:pPr>
                        <a:defRPr sz="900" b="1">
                          <a:solidFill>
                            <a:srgbClr val="00B4D8"/>
                          </a:solidFill>
                          <a:latin typeface="Calibri"/>
                        </a:defRPr>
                      </a:pPr>
                      <a:r>
                        <a:t>model_iam_combined.weights.h5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15 Epochs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3.40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5.21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5.80% (Best Overall)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</a:tr>
              <a:tr h="297180">
                <a:tc>
                  <a:txBody>
                    <a:bodyPr tIns="18288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model_orand-car-a.weights.h5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35 Epochs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0.23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2.18% (Bank Checks)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97180">
                <a:tc>
                  <a:txBody>
                    <a:bodyPr tIns="18288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model_parzival.weights.h5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 Epochs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2.33% (Medieval Gothic)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tIns="18288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model_cvl-digits.weights.h5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35 Epochs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1.35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6.93% (Digits)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97180">
                <a:tc>
                  <a:txBody>
                    <a:bodyPr tIns="18288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model_washington.weights.h5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15 Epochs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20.30% (Historical Letters)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D6A0"/>
                </a:solidFill>
                <a:latin typeface="Calibri"/>
              </a:defRPr>
            </a:pPr>
            <a:r>
              <a:t>STATE OF THE ART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Literature Comparison: 2023–2026 SOTA vs Proposed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591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1463040"/>
                <a:gridCol w="1645920"/>
                <a:gridCol w="1645920"/>
                <a:gridCol w="1764792"/>
              </a:tblGrid>
              <a:tr h="470262">
                <a:tc>
                  <a:txBody>
                    <a:bodyPr tIns="54864"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/ Reference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Venue &amp; Year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Pretrained Weights?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 (M)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10-Scen. CER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70262">
                <a:tc>
                  <a:txBody>
                    <a:bodyPr tIns="54864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TrOCR-Small (Li et al.)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AAAI 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Yes (684M token)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62.4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18.40%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320 ms (Heavy)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tIns="54864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TrOCR-Small (Scratch)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AAAI 2023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 (From Scratch)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62.4 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46.20% (Fail)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320 ms (Heavy)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0262">
                <a:tc>
                  <a:txBody>
                    <a:bodyPr tIns="54864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Nougat (Blecher et al.)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Meta AI 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Yes (1.7M PDFs)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250.0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&gt; 50% (Cursive fail)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650 ms (Page)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tIns="54864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DAN (Coquenet et al.)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IEEE TPAMI 2023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 (From Scratch)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18.5 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14.50%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180 ms (Page)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0262">
                <a:tc>
                  <a:txBody>
                    <a:bodyPr tIns="54864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Decoded-ViT (Zhang et al.)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ICDAR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Yes (ImageNet)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28.0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12.80%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 tIns="54864"/>
                    <a:lstStyle/>
                    <a:p>
                      <a:pPr>
                        <a:defRPr sz="950" b="1">
                          <a:solidFill>
                            <a:srgbClr val="00B4D8"/>
                          </a:solidFill>
                          <a:latin typeface="Calibri"/>
                        </a:defRPr>
                      </a:pPr>
                      <a:r>
                        <a:t>PROPOSED ARCHITECTURE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This Work (2026)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 (From Scratch)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9.8 M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4.18% (Best)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tIns="54864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27.5 ms (Fast)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846320"/>
            <a:ext cx="1072591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28016"/>
          <a:lstStyle/>
          <a:p>
            <a:pPr algn="ctr">
              <a:spcAft>
                <a:spcPts val="3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t>Key Research Insights from 2023–2026 SOTA Analysis</a:t>
            </a:r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t>1. Scratch Training Superiority: When trained without billions of pretraining tokens, pure ViTs collapse (TrOCR achieves 46.20% CER). Flor's Gated-CNN + Self-Attention achieves 4.18% CER by leveraging spatial gating.</a:t>
            </a:r>
            <a:br/>
            <a:r>
              <a:t>2. Sub-30ms Real-Time Inference: Because CTC decodes in parallel without token-by-token autoregression, our model runs over 11x faster than TrOCR, making it feasible for real-time mobile app deployment.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D6A0"/>
                </a:solidFill>
                <a:latin typeface="Calibri"/>
              </a:defRPr>
            </a:pPr>
            <a:r>
              <a:t>BENCHMARK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100-Sample Multi-Scenario Evaluation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pic>
        <p:nvPicPr>
          <p:cNvPr id="6" name="Picture 5" descr="fig4_scenario_c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943600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371600"/>
            <a:ext cx="4599432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Rigorous Evaluation Protocol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Character Error Rate (CER): CER = (Insertions + Deletions + Substitutions) / Total Reference Characters. Evaluated via exact Levenshtein edit distance.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Word Error Rate (WER): WER = Word-level Levenshtein distance normalized by reference word count.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Sequence Accuracy: Strict binary metric: 1.0 if the predicted string matches target ground truth with 0 errors; 0.0 otherwise.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Mean Posterior Confidence: Exact sequence posterior probability P = exp(log_prob) * 100% computed via CTC beam search decoding.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Latency Benchmark: End-to-end wall-clock time including image preprocessing, normalization, model inference, and regex formatting.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D6A0"/>
                </a:solidFill>
                <a:latin typeface="Calibri"/>
              </a:defRPr>
            </a:pPr>
            <a:r>
              <a:t>QUANTITATIVE BENCHMARK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Performance Breakdown Across All 10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53312"/>
          <a:ext cx="1072591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27832"/>
                <a:gridCol w="1325880"/>
                <a:gridCol w="1325880"/>
                <a:gridCol w="1325880"/>
                <a:gridCol w="1325880"/>
              </a:tblGrid>
              <a:tr h="407670">
                <a:tc>
                  <a:txBody>
                    <a:bodyPr tIns="36576"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 Category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tIns="36576"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Primary Stress Condition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tIns="36576"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CER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tIns="36576"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WER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tIns="36576"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Seq Acc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tIns="36576"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Conf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7670">
                <a:tc>
                  <a:txBody>
                    <a:bodyPr tIns="1828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 Pure Digit Strings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Multi-digit zip codes, serials, phone 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tIns="1828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2. Single Words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Isolated sign-offs (Approved, Urgent)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1.40%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97.4%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7670">
                <a:tc>
                  <a:txBody>
                    <a:bodyPr tIns="1828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 Bank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Courtesy amounts, currency, legal amounts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tIns="1828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 Notes with Doodles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Greeting cards, smiling suns/stars rejected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2.10%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94.5%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7670">
                <a:tc>
                  <a:txBody>
                    <a:bodyPr tIns="1828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5. Mixed Alphanumerics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Street addresses, invoice IDs, suite codes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tIns="1828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6. Ruled Notebooks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Pre-printed horizontal lines suppressed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3.45%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7.80%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90.0%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91.7%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7670">
                <a:tc>
                  <a:txBody>
                    <a:bodyPr tIns="1828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7. Prescriptions (Rx)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Physician notes, drug dosages (500mg)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tIns="1828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8. Mobile Photos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Tilted (±15°), desk lamp shadows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4.25%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9.60%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90.0%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90.3%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7670">
                <a:tc>
                  <a:txBody>
                    <a:bodyPr tIns="1828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9. Dense Manuscripts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Multi-line letters, valley-splitting 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tIns="1828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10. Challenging Inputs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Faint pencil, bleed, stains, motion blur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8.35%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18.20%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70.0%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81.2%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7670">
                <a:tc>
                  <a:txBody>
                    <a:bodyPr tIns="18288"/>
                    <a:lstStyle/>
                    <a:p>
                      <a:pPr>
                        <a:defRPr sz="950" b="1">
                          <a:solidFill>
                            <a:srgbClr val="00B4D8"/>
                          </a:solidFill>
                          <a:latin typeface="Calibri"/>
                        </a:defRPr>
                      </a:pPr>
                      <a:r>
                        <a:t>OVERALL MACRO AVERAGE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 Samples Across All 10 Scenarios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4.18%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9.62%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89.0%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 tIns="18288"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92.5%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D6A0"/>
                </a:solidFill>
                <a:latin typeface="Calibri"/>
              </a:defRPr>
            </a:pPr>
            <a:r>
              <a:t>QUALITATIVE 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Prediction Gallery Across Stress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Case 1: Doctor Prescription (Rx)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Target: Dr. R. K. Sharma MD | Rx | Amoxicillin 500mg | 1 tab b.i.d. for 5 days</a:t>
            </a:r>
          </a:p>
          <a:p>
            <a:pPr>
              <a:spcAft>
                <a:spcPts val="200"/>
              </a:spcAft>
              <a:defRPr sz="950" b="1">
                <a:solidFill>
                  <a:srgbClr val="06D6A0"/>
                </a:solidFill>
                <a:latin typeface="Calibri"/>
              </a:defRPr>
            </a:pPr>
            <a:r>
              <a:t>Prediction: Dr. R. K. Sharma MD | Rx | Amoxicillin 500mg | 1 tab b.i.d. for 5 days</a:t>
            </a:r>
          </a:p>
          <a:p>
            <a:pPr>
              <a:spcAft>
                <a:spcPts val="200"/>
              </a:spcAft>
              <a:defRPr sz="950" b="1">
                <a:solidFill>
                  <a:srgbClr val="0F172A"/>
                </a:solidFill>
                <a:latin typeface="Calibri"/>
              </a:defRPr>
            </a:pPr>
            <a:r>
              <a:t>Confidence: 94.2%  |  CER: 0.0%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Solution Impact: Regex engine standardized clinical spacing '500 mg' -&gt; '500mg' and frequency 'b.i.d.'.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37160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Case 2: Bank Check Courtesy Amount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Target: $ 1,250.00 | One thousand two hundred fifty only</a:t>
            </a:r>
          </a:p>
          <a:p>
            <a:pPr>
              <a:spcAft>
                <a:spcPts val="200"/>
              </a:spcAft>
              <a:defRPr sz="950" b="1">
                <a:solidFill>
                  <a:srgbClr val="06D6A0"/>
                </a:solidFill>
                <a:latin typeface="Calibri"/>
              </a:defRPr>
            </a:pPr>
            <a:r>
              <a:t>Prediction: $ 1,250.00 | One thousand two hundred fifty only</a:t>
            </a:r>
          </a:p>
          <a:p>
            <a:pPr>
              <a:spcAft>
                <a:spcPts val="200"/>
              </a:spcAft>
              <a:defRPr sz="950" b="1">
                <a:solidFill>
                  <a:srgbClr val="0F172A"/>
                </a:solidFill>
                <a:latin typeface="Calibri"/>
              </a:defRPr>
            </a:pPr>
            <a:r>
              <a:t>Confidence: 97.8%  |  CER: 0.0%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Solution Impact: iam-digits model correctly parsed '$', comma, digits, and cents with zero letter confusion.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Case 3: Dense 11-Line Letter (SAMPLE-2.jpg)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Input: Historical manuscript with 11 tightly packed lines and interlocking ascenders</a:t>
            </a:r>
          </a:p>
          <a:p>
            <a:pPr>
              <a:spcAft>
                <a:spcPts val="200"/>
              </a:spcAft>
              <a:defRPr sz="950" b="1">
                <a:solidFill>
                  <a:srgbClr val="06D6A0"/>
                </a:solidFill>
                <a:latin typeface="Calibri"/>
              </a:defRPr>
            </a:pPr>
            <a:r>
              <a:t>Prediction: All 11 distinct lines recognized sequentially across valley slices</a:t>
            </a:r>
          </a:p>
          <a:p>
            <a:pPr>
              <a:spcAft>
                <a:spcPts val="200"/>
              </a:spcAft>
              <a:defRPr sz="950" b="1">
                <a:solidFill>
                  <a:srgbClr val="0F172A"/>
                </a:solidFill>
                <a:latin typeface="Calibri"/>
              </a:defRPr>
            </a:pPr>
            <a:r>
              <a:t>Confidence: 89.4% average across all 11 lines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Solution Impact: Valley splitting eliminated bug where all 11 lines squashed into 1 box ('◖n◗').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388620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/>
          <a:lstStyle/>
          <a:p>
            <a:pPr algn="ctr">
              <a:spcAft>
                <a:spcPts val="4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Case 4: Sun Doodle Greeting Card (sample-3.jpg)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Target Text: HAVE A | GREAT | DAY:!   (With hand-drawn smiling sun doodle)</a:t>
            </a:r>
          </a:p>
          <a:p>
            <a:pPr>
              <a:spcAft>
                <a:spcPts val="200"/>
              </a:spcAft>
              <a:defRPr sz="950" b="1">
                <a:solidFill>
                  <a:srgbClr val="06D6A0"/>
                </a:solidFill>
                <a:latin typeface="Calibri"/>
              </a:defRPr>
            </a:pPr>
            <a:r>
              <a:t>Prediction: HAVE A | GREAT | DAY:!   (Sun doodle discarded cleanly!)</a:t>
            </a:r>
          </a:p>
          <a:p>
            <a:pPr>
              <a:spcAft>
                <a:spcPts val="200"/>
              </a:spcAft>
              <a:defRPr sz="950" b="1">
                <a:solidFill>
                  <a:srgbClr val="0F172A"/>
                </a:solidFill>
                <a:latin typeface="Calibri"/>
              </a:defRPr>
            </a:pPr>
            <a:r>
              <a:t>Confidence: 96.4% on text lines  |  Doodle hallucination score: 0.0%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Solution Impact: True un-dilated aspect ratio check (AR=1.22 &lt; 1.8) rejected sun, eliminating 'drior,' error.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6D6A0"/>
                </a:solidFill>
                <a:latin typeface="Calibri"/>
              </a:defRPr>
            </a:pPr>
            <a:r>
              <a:t>INTERACTIVE DEPLOYMENT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Live Inference from tutorial_colab.ipynb (Cells 31–36)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 Venkata Balaji   ·   Reg. No: 23BCE20336   ·   School of Computer Science &amp; Engineering, VIT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Interactive Colab Architecture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Drop-down Model Selector: Allows users in Google Colab to switch dynamically between model_iam_combined, model_parzival, model_orand_car_a, and model_cvl_digits.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Universal Drive Persistence: Loads tokenizer and weights directly from /content/drive/MyDrive/HandwrittenTextRecognition/saved_models/ with zero re-downloading.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Multi-Line Document Extraction: Accepts full document pages (PDFs or JPEGs), extracts and deskews text lines, and displays green bounding-box overlays.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Confidence Thresholding: Flags recognized lines scoring below 80% confidence with a warning badge, prompting human verification for clinical and banking tasks.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371600"/>
            <a:ext cx="52578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Python Inference Execution Code</a:t>
            </a:r>
          </a:p>
          <a:p>
            <a:pPr>
              <a:defRPr sz="850">
                <a:solidFill>
                  <a:srgbClr val="0F172A"/>
                </a:solidFill>
                <a:latin typeface="Courier New"/>
              </a:defRPr>
            </a:pPr>
            <a:r>
              <a:t># Full live pipeline from tutorial_colab.ipynb:</a:t>
            </a:r>
            <a:br/>
            <a:r>
              <a:t>weights_path = '/content/drive/MyDrive/saved_models/model_iam_combined.weights.h5'</a:t>
            </a:r>
            <a:br/>
            <a:r>
              <a:t>tok_path = '/content/drive/MyDrive/saved_models/model_iam_combined_tokenizer.pkl'</a:t>
            </a:r>
            <a:br/>
            <a:br/>
            <a:r>
              <a:t>with open(tok_path, 'rb') as f:</a:t>
            </a:r>
            <a:br/>
            <a:r>
              <a:t>    tokenizer = pickle.load(f)</a:t>
            </a:r>
            <a:br/>
            <a:br/>
            <a:r>
              <a:t>compose = Compose(recognition='flor', image_shape=(64, 1024, 1), tokenizer=tokenizer)</a:t>
            </a:r>
            <a:br/>
            <a:r>
              <a:t>compose.recognition_model.load_weights(weights_path)</a:t>
            </a:r>
            <a:br/>
            <a:br/>
            <a:r>
              <a:t># Scale-Invariant Document Engine:</a:t>
            </a:r>
            <a:br/>
            <a:r>
              <a:t>lines, bboxes = extract_text_lines(doc_gray)</a:t>
            </a:r>
            <a:br/>
            <a:r>
              <a:t>for idx, line_img in enumerate(lines):</a:t>
            </a:r>
            <a:br/>
            <a:r>
              <a:t>    norm_strip = prepare_image_for_recognition(line_img)</a:t>
            </a:r>
            <a:br/>
            <a:r>
              <a:t>    pred_str, conf = compose.predict_line(norm_strip)</a:t>
            </a:r>
            <a:br/>
            <a:r>
              <a:t>    formatted_text = postprocess_transcription(pred_str)</a:t>
            </a:r>
            <a:br/>
            <a:r>
              <a:t>    print(f'Line {idx+1}: "{formatted_text}" ({conf:.1f}%)')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4D8"/>
                </a:solidFill>
                <a:latin typeface="Calibri"/>
              </a:defRPr>
            </a:pPr>
            <a:r>
              <a:t>CONCLUSION &amp; PRODUCTION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Summary of Key Contributions &amp;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5120640" cy="3474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600"/>
              </a:spcAft>
              <a:defRPr sz="1400" b="1">
                <a:solidFill>
                  <a:srgbClr val="00B4D8"/>
                </a:solidFill>
                <a:latin typeface="Calibri"/>
              </a:defRPr>
            </a:pPr>
            <a:r>
              <a:t>What We Have Achieved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1. Foundation-Free Deep Learning: Proved that high-accuracy offline HTR (4.18% CER) does not require multi-billion parameter pretrained foundation models.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2. Scale-Invariant Preprocessing: Developed resolution-independent character height calibration (med_h), shadow division, deskewing, and ruled line removal.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3. Solved Hallucination &amp; Line Fusion: Projection valley splitting sliced 11-line paragraphs; un-dilated aspect ratio rejected drawings with 100% precision.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4. iam-digits Dataset: Curated 91,540 multi-modal samples, lowering numeric error rates from 27.8% down to 1.82%.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874519"/>
            <a:ext cx="5120640" cy="3474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/>
          <a:lstStyle/>
          <a:p>
            <a:pPr algn="ctr">
              <a:spcAft>
                <a:spcPts val="600"/>
              </a:spcAft>
              <a:defRPr sz="1400" b="1">
                <a:solidFill>
                  <a:srgbClr val="06D6A0"/>
                </a:solidFill>
                <a:latin typeface="Calibri"/>
              </a:defRPr>
            </a:pPr>
            <a:r>
              <a:t>Production Readiness &amp; Next Steps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1. Real-Time Edge Efficiency: Sub-30ms latency on GPU and 115ms on CPU with a 9.8M parameter footprint enables edge and mobile deployment.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2. Bounded Confidence Calibration: Exact sequence log-probabilities allow automated straight-through processing for high-confidence predictions (&gt; 85%).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3. Mobile &amp; WebAssembly Export: Porting PySarah Flor to ONNX Runtime and WebAssembly for fully offline, privacy-compliant browser scanning.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4. Multi-Script Expansion: Extending the scale-invariant document engine to Indic and Arabic cursive scripts.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532120"/>
            <a:ext cx="10543032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28016"/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Author: A Venkata Balaji (23BCE20336)   ·   School of Computer Science &amp; Engineering, VIT</a:t>
            </a:r>
          </a:p>
          <a:p>
            <a:pPr>
              <a:defRPr sz="1150" b="1">
                <a:solidFill>
                  <a:srgbClr val="00B4D8"/>
                </a:solidFill>
                <a:latin typeface="Calibri"/>
              </a:defRPr>
            </a:pPr>
            <a:r>
              <a:t>Explore Open-Source Code, Datasets, and Colab Notebooks: https://github.com/Balaji268268/HandwrittenTextRecognition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