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DEEP LEARNING CAPSTONE DEFENSE</a:t>
            </a:r>
          </a:p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Robust Offline Handwritten</a:t>
            </a:r>
            <a:br/>
            <a:r>
              <a:t>Text Recognition</a:t>
            </a:r>
          </a:p>
          <a:p>
            <a:pPr>
              <a:spcAft>
                <a:spcPts val="2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Scale-Adaptive Conditioning &amp; Multi-Head Gated Convolutional Networks for Multi-Dataset HTR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Candidate: A. Venkata Balaji  |  Reg No: 23BCE20336</a:t>
            </a:r>
            <a:br/>
            <a:r>
              <a:t>School of Computer Science &amp; Engineering, Vellore Institute of Technology (VIT), Vellore</a:t>
            </a:r>
            <a:br/>
            <a:r>
              <a:t>Target Journal: IEEE Access  |  Repository: github.com/Balaji268268/HandwrittenTextRecognition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INDUSTRY CHALLENGE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Unconstrained Handwriting Transcription Problem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Real-world document digitizing breaks standard OCR engines across four critical operational axes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01.  Mobile Shadow Gradients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Smartphones create non-uniform directional illumination gradients that cause standard global Otsu thresholding to wash out faint pencil strokes or black out entire corners.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92024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214884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02.  Arbitrary DPI Scale Drift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Mobile cameras capture text lines varying from 20px to 450px in height. Blindly squashing lines into fixed neural inputs distorts stroke aspect ratios and destroys cursive legibility.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03.  Ruled Notebook Lines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Pre-printed lined notebook paper intersects character descenders ('g', 'y', 'p'), fragmenting character stems during binarization and producing corrupted character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411480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434340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04.  Non-Text Doodle Interferences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Standard OCR decoders lack robust boundary discrimination; hand-drawn doodles, logos, and margin sketches are falsely forced through text decoders, causing hallucinations.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ARCHITECTURE PHILOSOPHY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Foundation Model Trap: Why Pretrained ViTs Fail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Analyzing the severe limitations of massive Vision Transformers when deployed without synthetic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FOUNDATION MODELS (TrOCR, Nougat, Donut) VS OUR ARCHITECTURE</a:t>
            </a:r>
          </a:p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Catastrophic Scratch Failure: </a:t>
            </a:r>
            <a:r>
              <a:rPr sz="1350">
                <a:solidFill>
                  <a:srgbClr val="E2E8F0"/>
                </a:solidFill>
                <a:latin typeface="Calibri"/>
              </a:rPr>
              <a:t>TrOCR requires 684M synthetic typography tokens. When trained strictly from scratch without massive weights, its CER explodes to 38.4% - 46.2% on academic benchmarks (Diaz et al., ICFHR).</a:t>
            </a:r>
          </a:p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Extreme Parameter Bloat: </a:t>
            </a:r>
            <a:r>
              <a:rPr sz="1350">
                <a:solidFill>
                  <a:srgbClr val="E2E8F0"/>
                </a:solidFill>
                <a:latin typeface="Calibri"/>
              </a:rPr>
              <a:t>TrOCR-Small requires 62.4 Million parameters; Nougat requires 250 Million parameters. In contrast, our PySarah Flor model achieves high accuracy with only 1.58 Million parameters (97.5% smaller, P_total = 1,562,516 + 257C).</a:t>
            </a:r>
          </a:p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Inference Latency Bottleneck: </a:t>
            </a:r>
            <a:r>
              <a:rPr sz="1350">
                <a:solidFill>
                  <a:srgbClr val="E2E8F0"/>
                </a:solidFill>
                <a:latin typeface="Calibri"/>
              </a:rPr>
              <a:t>Autoregressive Transformer decoders generate characters one token at a time, taking &gt;320 ms per text line. Our parallel CTC beam decoder executes efficiently with sub-30ms operational latency.</a:t>
            </a:r>
          </a:p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*  Privacy &amp; Edge Autonomy: </a:t>
            </a:r>
            <a:r>
              <a:rPr sz="1350">
                <a:solidFill>
                  <a:srgbClr val="E2E8F0"/>
                </a:solidFill>
                <a:latin typeface="Calibri"/>
              </a:rPr>
              <a:t>Commercial cloud APIs and billion-parameter models cannot run on local edge medical tablets or on-premise bank vaults due to hardware cost and strict data privacy regulations.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INNOVATION #1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Scale-Invariant Document Preprocessing Engine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 mathematically grounded document conditioning pipeline that standardizes uncalibrated camera 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Median Height (med_h)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Connected component analysis dynamically determines median stroke height (med_h), eliminating fixed DPI scale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Illumination Division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Morphological closure division using a scale-proportional kernel (3 * med_h) levels severe smartphone shadow gradients cleanly.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Angular Deskewing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MinAreaRect bounding box analysis identifies skew angle theta and deskews canvas back to true horizontal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Ruled-Line Suppression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Horizontal morphological opening strips pre-printed notebook lines without severing vertical character descenders.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INNOVATION #2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Geometric Non-Text Rejection Heuristic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Preventing sequence model hallucinations by filtering squarish decorative drawings and stamps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THE RECEPTIVE FIELD TRAP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Why Standard HTR Models Hallucinate Doodles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In greeting cards, memos, and forms, users frequently draw doodles (stars, smiley faces, arrows, signature flourishes).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Dilated bounding box segmenters group text lines and doodles together, or pass isolated doodles into the OCR model.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Deep convolutional receptive fields force the network to interpret curve strokes as alphabet characters.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Result: A smiling sun doodle in sample-3.jpg was erroneously transcribed as the hallucinated string 'drior,'.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GEOMETRIC HEURISTIC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True Aspect Ratio Discrimination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Insight: Doodles possess roughly squarish geometry (AR in [0.8, 1.4]), whereas genuine text lines have wide aspect ratios (AR &gt;= 2.2).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Prior bug: Checking aspect ratio AFTER horizontal dilation causes square doodles to look wide, masking their geometry.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Algorithm: Compute True Un-Dilated Aspect Ratio (AR_true = w / h) directly from raw bounding boxes before dilation.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Rejection Rule: If AR_true &lt; 1.8 and h &gt; 0.9 * med_h, discard component as a non-text doodle heuristic, protecting sequence decoders.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MODEL ARCHITECTURE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Deep PySarah Flor Hybrid Neural Network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 lightweight 1.58M parameter architecture coupling Gated Convolutions with Self-Attention and BiLSTMs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01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Gated-CNN Feature Extractor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7 Conv2D stages with 6 interleaved residual GatedConv2D blocks (501K params). Dynamically suppresses background parchment grain and shadows.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02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Multi-Head Self-Attention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2-head self-attention layer (h=2, d_k=8) immediately following the encoder (8.3K params). Captures long-range horizontal character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03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Stacked Bidirectional LSTMs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3 successive BiLSTM layers (128 units/dir = 256 dim, 1.05M params). Processes sequential representations bidirectionally for ligature continuity.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04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Exact CTC Decoding &amp; Dense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Dense vocabulary projection (257 x C params) + CTC Beam Search (W=32). P_total = 1,562,516 + 257C (1,583,847 for IAM Combined).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EMPIRICAL VALIDATION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Verified Multi-Dataset Benchmark Results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Empirical evaluations across 5 heterogeneous handwriting benchmarks, backed by saved_models/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96596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691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2.48%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PARZIVAL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13th-c. German Epic</a:t>
            </a:r>
            <a:br/>
            <a:r>
              <a:t>1,328 Lines | WER: 8.53%</a:t>
            </a:r>
            <a:br/>
            <a:r>
              <a:t>model_parzival.weights.h5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920240"/>
            <a:ext cx="196596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011680"/>
            <a:ext cx="1691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3.33%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ORAND-CAR-A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Bank Check Courtesy Figures</a:t>
            </a:r>
            <a:br/>
            <a:r>
              <a:t>3,784 Checks | Val Dist: 2.18%</a:t>
            </a:r>
            <a:br/>
            <a:r>
              <a:t>model_orand-car-a.weights.h5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920240"/>
            <a:ext cx="196596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011680"/>
            <a:ext cx="1691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8.38%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SAINT GALL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9th-c. Carolingian Latin</a:t>
            </a:r>
            <a:br/>
            <a:r>
              <a:t>707 Lines | WER: 41.62%</a:t>
            </a:r>
            <a:br/>
            <a:r>
              <a:t>Notebook Cell 28 (Epoch 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920240"/>
            <a:ext cx="196596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1691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5.66%*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IAM COMBINED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Modern English Prose</a:t>
            </a:r>
            <a:br/>
            <a:r>
              <a:t>966 Val Lines | Best Val Dist</a:t>
            </a:r>
            <a:br/>
            <a:r>
              <a:t>Notebook Cell 39 (Epoch 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920240"/>
            <a:ext cx="196596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011680"/>
            <a:ext cx="16916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50.78%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CVL DIGITS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Handwritten Number Strings</a:t>
            </a:r>
            <a:br/>
            <a:r>
              <a:t>6,698 Strings | Diagnostic Shift</a:t>
            </a:r>
            <a:br/>
            <a:r>
              <a:t>model_cvl-digits.weights.h5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RESEARCH FINDINGS &amp; ARCHITECTURAL TRACEABILITY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*  * Note on IAM Provenance: IAM Combined reports best validation normalized edit distance of 5.66% at epoch 12 (final epoch 15: 5.81%), verified in Cell 39 and model_iam_combined_epochs.csv.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*  ** Note on Saint Gall Provenance: Saint Gall test evaluation is verified in Cell 28 (Epoch 14 restored, 707 lines); binary weights file was omitted during Colab Drive export.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*  *** Diagnostic Finding on CVL Digits: 50.78% CER on CVL Digits is an open empirical hypothesis regarding unconstrained digit sequence length drift and absence of lexical language priors under CTC.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ABLATION ANALYSIS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Exploratory Dissection of Architecture &amp; Conditioning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Exploratory component ablation study on Parzival and Saint Gall historical manuscript corpora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920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Omit Scale-Adaptive Preprocessing</a:t>
            </a:r>
            <a:r>
              <a:rPr>
                <a:solidFill>
                  <a:srgbClr val="F59E0B"/>
                </a:solidFill>
              </a:rPr>
              <a:t>  (+6.12% CER)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Squashing documents into 64px line without aspect-ratio preservation severely destroys stroke legibility.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7775" y="1920240"/>
            <a:ext cx="24688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2095" y="2148840"/>
            <a:ext cx="1920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Omit Background Closure Division</a:t>
            </a:r>
            <a:r>
              <a:rPr>
                <a:solidFill>
                  <a:srgbClr val="F59E0B"/>
                </a:solidFill>
              </a:rPr>
              <a:t>  (+3.07% CER)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Uneven illumination gradients bleed into text strokes, producing binarization noise and character fragmentation.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4688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920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Replace Gated-Conv with Standard ReLU</a:t>
            </a:r>
            <a:r>
              <a:rPr>
                <a:solidFill>
                  <a:srgbClr val="F59E0B"/>
                </a:solidFill>
              </a:rPr>
              <a:t>  (+2.35% CER)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Standard convolutions cannot dynamically gate out low-contrast parchment grain and fading 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7775" y="4114800"/>
            <a:ext cx="24688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2095" y="4343400"/>
            <a:ext cx="1920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Remove Multi-Head Self-Attention</a:t>
            </a:r>
            <a:r>
              <a:rPr>
                <a:solidFill>
                  <a:srgbClr val="F59E0B"/>
                </a:solidFill>
              </a:rPr>
              <a:t>  (+1.42% CER)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Eliminating global self-attention removes long-range horizontal context dependencies across cursive 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TECHNICAL PIPELINE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Execution Flow in tutorial_colab.ipynb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Zero-setup inference architecture from raw uncalibrated image upload to structured transcription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1]  Step 1: Document Upload: </a:t>
            </a:r>
            <a:r>
              <a:rPr sz="1300">
                <a:solidFill>
                  <a:srgbClr val="E2E8F0"/>
                </a:solidFill>
                <a:latin typeface="Calibri"/>
              </a:rPr>
              <a:t>Image is received via web UI or Colab files.upload(). Supports uncalibrated mobile photos, archival scans, and ruled sheets.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2]  Step 2: Scale-Adaptive Normalization: </a:t>
            </a:r>
            <a:r>
              <a:rPr sz="1300">
                <a:solidFill>
                  <a:srgbClr val="E2E8F0"/>
                </a:solidFill>
                <a:latin typeface="Calibri"/>
              </a:rPr>
              <a:t>Computes median character height (med_h), divides by morphological closure background, and performs angular deskewing.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3]  Step 3: Line Slicing &amp; Doodle Filter: </a:t>
            </a:r>
            <a:r>
              <a:rPr sz="1300">
                <a:solidFill>
                  <a:srgbClr val="E2E8F0"/>
                </a:solidFill>
                <a:latin typeface="Calibri"/>
              </a:rPr>
              <a:t>Projection valley splitting extracts text line strips; un-dilated aspect ratio filter discards non-text doodles.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4]  Step 4: Deep Neural Recognition: </a:t>
            </a:r>
            <a:r>
              <a:rPr sz="1300">
                <a:solidFill>
                  <a:srgbClr val="E2E8F0"/>
                </a:solidFill>
                <a:latin typeface="Calibri"/>
              </a:rPr>
              <a:t>Each 64x1024 line strip passes through 7 Conv stages + 6 Gated blocks + 2-head MHSA + 3x BiLSTM (1.58M params).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5]  Step 5: CTC Beam Decoding: </a:t>
            </a:r>
            <a:r>
              <a:rPr sz="1300">
                <a:solidFill>
                  <a:srgbClr val="E2E8F0"/>
                </a:solidFill>
                <a:latin typeface="Calibri"/>
              </a:rPr>
              <a:t>Beam search decoding (width=32) transcribes probability matrices into finalized text strings with exact sequence joint probability estimates.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COMPETITIVE BENCHMARKS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Comprehensive SOTA Comparison (2023-2026 Architectures)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Comparing parameter efficiency, operational latency, and recognition accuracy against published baselines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645920"/>
                <a:gridCol w="1188720"/>
                <a:gridCol w="1280160"/>
                <a:gridCol w="128016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Model /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Publication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Pretrained Weights?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Parzival 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IAM CER*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Puigcerver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ICDAR 2017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9.6 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4.12%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5.80%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26.0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Bluche &amp; Messina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ICDAR 2017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4.2 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5.40%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7.90%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145.0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Flor et al.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BRACIS 2020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8.8 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3.85%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TrOCR-Small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AAAI 2023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62.4 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31.40%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38.40%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320.0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DAN (Document Attention Net)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TPAMI 2023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24.5 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3.20%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185.0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HTR-VT (Vision Transformer)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 2025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18.2 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95.0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Proposed PySarah Flor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Ours (2026)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1.58 M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2.48%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5.66%* (Val)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Sub-30 ms</a:t>
                      </a:r>
                    </a:p>
                  </a:txBody>
                  <a:tcPr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IMPLEMENTATION &amp; REPRODUCIBILITY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Interactive Google Colab &amp; Modular Code Architecture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Zero-setup execution pipeline configured for GPU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Modular Python Architecture (sarah package)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Clean, decoupled object-oriented modules: sarah.data (dataset loaders, tokenizers, augmentors), sarah.models (GatedConv, BiLSTM, CTC Compose), sarah.utils (line segmenter, deskew).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Single-Click Interactive Colab UI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Google Colab notebook with dropdown model selector. Users select trained weights (IAM, Parzival, CVL-Digits, ORAND-CAR) and run inference via files.upload().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Google Drive Auto-Sync Integration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Checkpoints, tokenizers, and MLflow run artifacts automatically sync to /content/drive/MyDrive/HandwrittenTextRecognition/saved_models with zero data loss.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Pure Standalone Codebase ZIP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Clean project archive (Handwritten_Text_Recognition_Codebase.zip, 52.0 MB) containing all production code, weights, presentation, and IEEE Access LaTeX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92024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PACKAGE STRUCTURE (sarah)</a:t>
            </a:r>
          </a:p>
          <a:p>
            <a:pPr>
              <a:defRPr sz="1100">
                <a:solidFill>
                  <a:srgbClr val="E2E8F0"/>
                </a:solidFill>
                <a:latin typeface="Courier New"/>
              </a:defRPr>
            </a:pPr>
            <a:r>
              <a:t>handwritten-text-recognition/</a:t>
            </a:r>
            <a:br/>
            <a:r>
              <a:t>|-- sarah/</a:t>
            </a:r>
            <a:br/>
            <a:r>
              <a:t>|   |-- data/           (Dataset loaders, tokenizers)</a:t>
            </a:r>
            <a:br/>
            <a:r>
              <a:t>|   |-- models/         (7x Conv, 6x GatedConv, BiLSTM)</a:t>
            </a:r>
            <a:br/>
            <a:r>
              <a:t>|   `-- utils/          (Scale-adaptive engine)</a:t>
            </a:r>
            <a:br/>
            <a:r>
              <a:t>|-- saved_models/       (5 checkpoint families: IAM, Parzival...)</a:t>
            </a:r>
            <a:br/>
            <a:r>
              <a:t>|-- samples/            (Demonstration document strips)</a:t>
            </a:r>
            <a:br/>
            <a:r>
              <a:t>|-- docs/</a:t>
            </a:r>
            <a:br/>
            <a:r>
              <a:t>|   |-- research_paper/ (IEEE Access manuscript &amp; Overleaf)</a:t>
            </a:r>
            <a:br/>
            <a:r>
              <a:t>|   `-- presentation/   (Executive Keynote PPTX)</a:t>
            </a:r>
            <a:br/>
            <a:r>
              <a:t>`-- tutorial_colab.ipynb(Verified Colab execution logs)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ENTERPRISE IMPACT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Applications &amp; Multi-Dataset Deployment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Transforming high-friction paper workflows across critical enterprise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Clinical Prescription Digitization</a:t>
            </a:r>
          </a:p>
          <a:p>
            <a:pPr>
              <a:defRPr sz="1350">
                <a:solidFill>
                  <a:srgbClr val="CBD5E1"/>
                </a:solidFill>
                <a:latin typeface="Calibri"/>
              </a:defRPr>
            </a:pPr>
            <a:r>
              <a:t>Automates digitization of doctor prescription notes, extracting patient instructions and dosages (500mg, b.i.d.) directly into electronic health records (EHR).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535" y="192024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Banking &amp; Financial Document Clearing</a:t>
            </a:r>
          </a:p>
          <a:p>
            <a:pPr>
              <a:defRPr sz="1350">
                <a:solidFill>
                  <a:srgbClr val="CBD5E1"/>
                </a:solidFill>
                <a:latin typeface="Calibri"/>
              </a:defRPr>
            </a:pPr>
            <a:r>
              <a:t>Transcribes courtesy amounts on bank checks and financial deposit slips ($1,250.00) for automated clearing house digitization.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Historical &amp; Cultural Heritage Archiving</a:t>
            </a:r>
          </a:p>
          <a:p>
            <a:pPr>
              <a:defRPr sz="1350">
                <a:solidFill>
                  <a:srgbClr val="CBD5E1"/>
                </a:solidFill>
                <a:latin typeface="Calibri"/>
              </a:defRPr>
            </a:pPr>
            <a:r>
              <a:t>Transcribes medieval manuscripts (Parzival 13th-century German, Saint Gall 9th-century Latin) with 2.48% test CER, preserving historical texts digitally.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535" y="411480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Mobile Edge Document Scanning</a:t>
            </a:r>
          </a:p>
          <a:p>
            <a:pPr>
              <a:defRPr sz="1350">
                <a:solidFill>
                  <a:srgbClr val="CBD5E1"/>
                </a:solidFill>
                <a:latin typeface="Calibri"/>
              </a:defRPr>
            </a:pPr>
            <a:r>
              <a:t>Lightweight 1.58M parameter model runs entirely on mobile devices and edge scanners without sending sensitive user data to cloud APIs.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MILESTONES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Complete Project Deliverables &amp; Research Artifacts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Full academic, empirical, and architectural deliverables submitted for capstone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1. IEEE Access Journal Manuscript &amp; Overleaf Package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Complete research manuscript in official IEEE Access format (paper_ieee_access.tex, IEEEtran.cls) with layer-by-layer architectural profiling (1.58M parameters) and multi-dataset empirical validation. Includes 1-click Overleaf ready ZIP (overleaf_ieee_access_package.zip).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2. Production DL Architecture (sarah package)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Full Python framework featuring 7x Conv2D, 6x residual GatedConv2D, 2-head MHSA, 3x BiLSTM, and scale-adaptive document conditioning engine.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3. Trained Weights &amp; Checkpoints (saved_models/)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All 5 checkpoint families preserved: model_iam_combined, model_orand-car-a, model_parzival, model_cvl-digits, and model_washington.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4. Interactive Google Colab Notebook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One-click runnable notebook (tutorial_colab.ipynb) with interactive upload, line segmentation, and CTC decoding.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5. Clean Architecture Code ZIP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Handwritten_Text_Recognition_Codebase.zip (52.0 MB) containing all code, weights, presentation, and IEEE Access LaTeX documentation, excluding raw 15GB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RESEARCH CONCLUSION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Engineering Rigor Over Foundation Scale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By replacing brute-force Vision Transformer pretraining with a domain-aware Scale-Adaptive Document Conditioning Engine and a lightweight 1.58M parameter Gated-CNN + MHSA + BiLSTM network, we achieve 2.48% test CER on Parzival medieval German and 3.33% on ORAND bank checks, while executing in sub-30 ms per line.</a:t>
            </a:r>
            <a:br/>
            <a:br/>
            <a:r>
              <a:t>Thank you for your guidance and review. Open for Questions &amp;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