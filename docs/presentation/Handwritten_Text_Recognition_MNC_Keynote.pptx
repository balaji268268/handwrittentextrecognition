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A13"/>
        </a:solidFill>
        <a:effectLst/>
      </p:bgPr>
    </p:bg>
    <p:spTree>
      <p:nvGrpSpPr>
        <p:cNvPr id="1" name=""/>
        <p:cNvGrpSpPr/>
        <p:nvPr/>
      </p:nvGrpSpPr>
      <p:grpSpPr/>
      <p:sp>
        <p:nvSpPr>
          <p:cNvPr id="2" name="TextBox 1"/>
          <p:cNvSpPr txBox="1"/>
          <p:nvPr/>
        </p:nvSpPr>
        <p:spPr>
          <a:xfrm>
            <a:off x="914400" y="1371600"/>
            <a:ext cx="10332720" cy="4114800"/>
          </a:xfrm>
          <a:prstGeom prst="rect">
            <a:avLst/>
          </a:prstGeom>
          <a:noFill/>
        </p:spPr>
        <p:txBody>
          <a:bodyPr wrap="square" lIns="0" tIns="0" rIns="0" bIns="0">
            <a:spAutoFit/>
          </a:bodyPr>
          <a:lstStyle/>
          <a:p>
            <a:pPr>
              <a:spcAft>
                <a:spcPts val="1400"/>
              </a:spcAft>
              <a:defRPr sz="1200" b="1">
                <a:solidFill>
                  <a:srgbClr val="38BDF8"/>
                </a:solidFill>
                <a:latin typeface="Arial"/>
              </a:defRPr>
            </a:pPr>
            <a:r>
              <a:t>OFFLINE HANDWRITTEN TEXT RECOGNITION RESEARCH</a:t>
            </a:r>
          </a:p>
          <a:p>
            <a:pPr>
              <a:spcAft>
                <a:spcPts val="1400"/>
              </a:spcAft>
              <a:defRPr sz="3600" b="1">
                <a:solidFill>
                  <a:srgbClr val="F8FAFC"/>
                </a:solidFill>
                <a:latin typeface="Arial"/>
              </a:defRPr>
            </a:pPr>
            <a:r>
              <a:t>Handwritten Text Recognition</a:t>
            </a:r>
            <a:br/>
            <a:r>
              <a:t>using Vision Transformers</a:t>
            </a:r>
          </a:p>
          <a:p>
            <a:pPr>
              <a:spcAft>
                <a:spcPts val="3600"/>
              </a:spcAft>
              <a:defRPr sz="1600">
                <a:solidFill>
                  <a:srgbClr val="94A3B8"/>
                </a:solidFill>
                <a:latin typeface="Calibri"/>
              </a:defRPr>
            </a:pPr>
            <a:r>
              <a:t>A Compact Hybrid Architecture with Multi-Head Self-Attention for Multi-Dataset HTR</a:t>
            </a:r>
          </a:p>
          <a:p>
            <a:pPr>
              <a:defRPr sz="1200">
                <a:solidFill>
                  <a:srgbClr val="38BDF8"/>
                </a:solidFill>
                <a:latin typeface="Calibri"/>
              </a:defRPr>
            </a:pPr>
            <a:r>
              <a:t>Author: A. Venkata Balaji | Target Venue: IEEE Access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PROBLEM CONTEXT</a:t>
            </a:r>
          </a:p>
          <a:p>
            <a:pPr>
              <a:spcAft>
                <a:spcPts val="200"/>
              </a:spcAft>
              <a:defRPr sz="2100" b="1">
                <a:solidFill>
                  <a:srgbClr val="F8FAFC"/>
                </a:solidFill>
                <a:latin typeface="Arial"/>
              </a:defRPr>
            </a:pPr>
            <a:r>
              <a:t>The Real-World Challenge: Script Diversity &amp; Unconstrained Captures</a:t>
            </a:r>
          </a:p>
          <a:p>
            <a:pPr>
              <a:defRPr sz="1150">
                <a:solidFill>
                  <a:srgbClr val="94A3B8"/>
                </a:solidFill>
                <a:latin typeface="Calibri"/>
              </a:defRPr>
            </a:pPr>
            <a:r>
              <a:t>Why traditional OCR pipelines fail in high-stakes multi-script document digitization</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1. Extreme Script &amp; Domain Diversity</a:t>
            </a:r>
          </a:p>
          <a:p>
            <a:pPr>
              <a:spcAft>
                <a:spcPts val="1200"/>
              </a:spcAft>
              <a:defRPr sz="1100" b="1">
                <a:solidFill>
                  <a:srgbClr val="94A3B8"/>
                </a:solidFill>
                <a:latin typeface="Calibri"/>
              </a:defRPr>
            </a:pPr>
            <a:r>
              <a:t>Historical Codices &amp; Modern Text</a:t>
            </a:r>
          </a:p>
          <a:p>
            <a:pPr>
              <a:defRPr sz="1150">
                <a:solidFill>
                  <a:srgbClr val="E2E8F0"/>
                </a:solidFill>
                <a:latin typeface="Calibri"/>
              </a:defRPr>
            </a:pPr>
            <a:r>
              <a:t>Medieval German Gothic (Parzival), Carolingian Latin (Saint Gall), and French bank checks (ORAND-CAR-A) possess extreme ligature variability, irregular heights, and domain-specific vocabularies that break rigid rule-based systems.</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2. Real-World Capture Degradations</a:t>
            </a:r>
          </a:p>
          <a:p>
            <a:pPr>
              <a:spcAft>
                <a:spcPts val="1200"/>
              </a:spcAft>
              <a:defRPr sz="1100" b="1">
                <a:solidFill>
                  <a:srgbClr val="94A3B8"/>
                </a:solidFill>
                <a:latin typeface="Calibri"/>
              </a:defRPr>
            </a:pPr>
            <a:r>
              <a:t>Shadows, Deskew, and Ruled Lines</a:t>
            </a:r>
          </a:p>
          <a:p>
            <a:pPr>
              <a:defRPr sz="1150">
                <a:solidFill>
                  <a:srgbClr val="E2E8F0"/>
                </a:solidFill>
                <a:latin typeface="Calibri"/>
              </a:defRPr>
            </a:pPr>
            <a:r>
              <a:t>Mobile phone camera captures introduce harsh desk-lamp cast shadows, rotational perspective tilt, and pre-printed notebook lines that intersect descenders/ascenders, breaking character stroke continuity.</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3. The Foundation Model Dilemma</a:t>
            </a:r>
          </a:p>
          <a:p>
            <a:pPr>
              <a:spcAft>
                <a:spcPts val="1200"/>
              </a:spcAft>
              <a:defRPr sz="1100" b="1">
                <a:solidFill>
                  <a:srgbClr val="94A3B8"/>
                </a:solidFill>
                <a:latin typeface="Calibri"/>
              </a:defRPr>
            </a:pPr>
            <a:r>
              <a:t>The Pretraining Trap of Large ViTs</a:t>
            </a:r>
          </a:p>
          <a:p>
            <a:pPr>
              <a:defRPr sz="1150">
                <a:solidFill>
                  <a:srgbClr val="E2E8F0"/>
                </a:solidFill>
                <a:latin typeface="Calibri"/>
              </a:defRPr>
            </a:pPr>
            <a:r>
              <a:t>Contemporary Vision Transformers (TrOCR, Nougat) rely on 500M+ parameters and require hundreds of millions of synthetic lines. Training ViTs from scratch on medium corpora leads to optimization collapse and &gt;35% 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ARCHITECTURE PHILOSOPHY</a:t>
            </a:r>
          </a:p>
          <a:p>
            <a:pPr>
              <a:spcAft>
                <a:spcPts val="200"/>
              </a:spcAft>
              <a:defRPr sz="2100" b="1">
                <a:solidFill>
                  <a:srgbClr val="F8FAFC"/>
                </a:solidFill>
                <a:latin typeface="Arial"/>
              </a:defRPr>
            </a:pPr>
            <a:r>
              <a:t>The Foundation Model Trap: Why Pretrained ViTs Fail from Scratch</a:t>
            </a:r>
          </a:p>
          <a:p>
            <a:pPr>
              <a:defRPr sz="1150">
                <a:solidFill>
                  <a:srgbClr val="94A3B8"/>
                </a:solidFill>
                <a:latin typeface="Calibri"/>
              </a:defRPr>
            </a:pPr>
            <a:r>
              <a:t>Evaluating computational cost, pretraining requirements, and sequence modeling bottlenecks</a:t>
            </a:r>
          </a:p>
        </p:txBody>
      </p:sp>
      <p:sp>
        <p:nvSpPr>
          <p:cNvPr id="3" name="TextBox 2"/>
          <p:cNvSpPr txBox="1"/>
          <p:nvPr/>
        </p:nvSpPr>
        <p:spPr>
          <a:xfrm>
            <a:off x="731520" y="1920240"/>
            <a:ext cx="10698480" cy="4389120"/>
          </a:xfrm>
          <a:prstGeom prst="rect">
            <a:avLst/>
          </a:prstGeom>
          <a:noFill/>
        </p:spPr>
        <p:txBody>
          <a:bodyPr wrap="square" lIns="0" tIns="0" rIns="0" bIns="0">
            <a:spAutoFit/>
          </a:bodyPr>
          <a:lstStyle/>
          <a:p>
            <a:pPr>
              <a:spcAft>
                <a:spcPts val="1400"/>
              </a:spcAft>
              <a:defRPr sz="1400" b="1">
                <a:solidFill>
                  <a:srgbClr val="38BDF8"/>
                </a:solidFill>
                <a:latin typeface="Arial"/>
              </a:defRPr>
            </a:pPr>
            <a:r>
              <a:t>*  Pretraining Dependency &amp; Scratch Failure: </a:t>
            </a:r>
            <a:r>
              <a:rPr sz="1300">
                <a:solidFill>
                  <a:srgbClr val="E2E8F0"/>
                </a:solidFill>
                <a:latin typeface="Calibri"/>
              </a:rPr>
              <a:t>TrOCR relies strictly on 684M synthetic line images. Independent studies (Diaz et al., Kang et al.) prove that training ViTs from scratch on medium academic corpora yields CERs higher than 35% due to absence of inductive spatial bias.</a:t>
            </a:r>
          </a:p>
          <a:p>
            <a:pPr>
              <a:spcAft>
                <a:spcPts val="1400"/>
              </a:spcAft>
              <a:defRPr sz="1400" b="1">
                <a:solidFill>
                  <a:srgbClr val="38BDF8"/>
                </a:solidFill>
                <a:latin typeface="Arial"/>
              </a:defRPr>
            </a:pPr>
            <a:r>
              <a:t>*  Quadratic Computational Complexity O(L^2): </a:t>
            </a:r>
            <a:r>
              <a:rPr sz="1300">
                <a:solidFill>
                  <a:srgbClr val="E2E8F0"/>
                </a:solidFill>
                <a:latin typeface="Calibri"/>
              </a:rPr>
              <a:t>Full Vision Transformers compute full pairwise attention across patch tokens, scaling quadratically with sequence length. In contrast, 1D convolution and recurrent sequence decoders evaluate in linear O(T) complexity.</a:t>
            </a:r>
          </a:p>
          <a:p>
            <a:pPr>
              <a:spcAft>
                <a:spcPts val="1400"/>
              </a:spcAft>
              <a:defRPr sz="1400" b="1">
                <a:solidFill>
                  <a:srgbClr val="38BDF8"/>
                </a:solidFill>
                <a:latin typeface="Arial"/>
              </a:defRPr>
            </a:pPr>
            <a:r>
              <a:t>*  Extreme Parameter Footprints: </a:t>
            </a:r>
            <a:r>
              <a:rPr sz="1300">
                <a:solidFill>
                  <a:srgbClr val="E2E8F0"/>
                </a:solidFill>
                <a:latin typeface="Calibri"/>
              </a:rPr>
              <a:t>TrOCR-Small requires 62.4M parameters and TrOCR-Large demands 558M parameters. In contrast, our hybrid architecture requires only 1.58M parameters, achieving a 39.5x to 353x footprint reduction.</a:t>
            </a:r>
          </a:p>
          <a:p>
            <a:pPr>
              <a:spcAft>
                <a:spcPts val="1400"/>
              </a:spcAft>
              <a:defRPr sz="1400" b="1">
                <a:solidFill>
                  <a:srgbClr val="38BDF8"/>
                </a:solidFill>
                <a:latin typeface="Arial"/>
              </a:defRPr>
            </a:pPr>
            <a:r>
              <a:t>*  Numeric Vulnerability in Prose Models: </a:t>
            </a:r>
            <a:r>
              <a:rPr sz="1300">
                <a:solidFill>
                  <a:srgbClr val="E2E8F0"/>
                </a:solidFill>
                <a:latin typeface="Calibri"/>
              </a:rPr>
              <a:t>Foundation models trained exclusively on literary prose corpora exhibit severe numeric vulnerability, confusing isolated numerals with visually resembling alphabetic characters ('0' vs 'o', '1' vs 'l', '5' vs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CORE INNOVATION #1</a:t>
            </a:r>
          </a:p>
          <a:p>
            <a:pPr>
              <a:spcAft>
                <a:spcPts val="200"/>
              </a:spcAft>
              <a:defRPr sz="2100" b="1">
                <a:solidFill>
                  <a:srgbClr val="F8FAFC"/>
                </a:solidFill>
                <a:latin typeface="Arial"/>
              </a:defRPr>
            </a:pPr>
            <a:r>
              <a:t>Scale-Adaptive Document Conditioning Engine</a:t>
            </a:r>
          </a:p>
          <a:p>
            <a:pPr>
              <a:defRPr sz="1150">
                <a:solidFill>
                  <a:srgbClr val="94A3B8"/>
                </a:solidFill>
                <a:latin typeface="Calibri"/>
              </a:defRPr>
            </a:pPr>
            <a:r>
              <a:t>Parameter-free preprocessing workflow anchored dynamically to median stroke scale (hm)</a:t>
            </a:r>
          </a:p>
        </p:txBody>
      </p:sp>
      <p:sp>
        <p:nvSpPr>
          <p:cNvPr id="3" name="Rounded Rectangle 2"/>
          <p:cNvSpPr/>
          <p:nvPr/>
        </p:nvSpPr>
        <p:spPr>
          <a:xfrm>
            <a:off x="731520" y="1828800"/>
            <a:ext cx="621792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_preprocessing.png"/>
          <p:cNvPicPr>
            <a:picLocks noChangeAspect="1"/>
          </p:cNvPicPr>
          <p:nvPr/>
        </p:nvPicPr>
        <p:blipFill>
          <a:blip r:embed="rId2"/>
          <a:stretch>
            <a:fillRect/>
          </a:stretch>
        </p:blipFill>
        <p:spPr>
          <a:xfrm>
            <a:off x="804672" y="1901952"/>
            <a:ext cx="6071616" cy="4242816"/>
          </a:xfrm>
          <a:prstGeom prst="rect">
            <a:avLst/>
          </a:prstGeom>
        </p:spPr>
      </p:pic>
      <p:sp>
        <p:nvSpPr>
          <p:cNvPr id="5" name="Rounded Rectangle 4"/>
          <p:cNvSpPr/>
          <p:nvPr/>
        </p:nvSpPr>
        <p:spPr>
          <a:xfrm>
            <a:off x="7132320" y="1828800"/>
            <a:ext cx="432785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0920" y="2011680"/>
            <a:ext cx="3870655" cy="4023360"/>
          </a:xfrm>
          <a:prstGeom prst="rect">
            <a:avLst/>
          </a:prstGeom>
          <a:noFill/>
        </p:spPr>
        <p:txBody>
          <a:bodyPr wrap="square" lIns="0" tIns="0" rIns="0" bIns="0">
            <a:spAutoFit/>
          </a:bodyPr>
          <a:lstStyle/>
          <a:p>
            <a:pPr>
              <a:spcAft>
                <a:spcPts val="800"/>
              </a:spcAft>
              <a:defRPr sz="1150" b="1">
                <a:solidFill>
                  <a:srgbClr val="38BDF8"/>
                </a:solidFill>
                <a:latin typeface="Arial"/>
              </a:defRPr>
            </a:pPr>
            <a:r>
              <a:t>1. Dynamic Scale (hm): </a:t>
            </a:r>
            <a:r>
              <a:rPr sz="1050">
                <a:solidFill>
                  <a:srgbClr val="E2E8F0"/>
                </a:solidFill>
                <a:latin typeface="Calibri"/>
              </a:rPr>
              <a:t>Connected components define median stroke height hm. All morphological operators scale directly with hm, eliminating fixed-resolution thresholding.</a:t>
            </a:r>
          </a:p>
          <a:p>
            <a:pPr>
              <a:spcAft>
                <a:spcPts val="800"/>
              </a:spcAft>
              <a:defRPr sz="1150" b="1">
                <a:solidFill>
                  <a:srgbClr val="38BDF8"/>
                </a:solidFill>
                <a:latin typeface="Arial"/>
              </a:defRPr>
            </a:pPr>
            <a:r>
              <a:t>2. Illumination Closure: </a:t>
            </a:r>
            <a:r>
              <a:rPr sz="1050">
                <a:solidFill>
                  <a:srgbClr val="E2E8F0"/>
                </a:solidFill>
                <a:latin typeface="Calibri"/>
              </a:rPr>
              <a:t>Background envelope B_illum = I * rect(4hm, 4hm) via grayscale closing; point-wise division (I / B_illum) levels shadows without clipping ink.</a:t>
            </a:r>
          </a:p>
          <a:p>
            <a:pPr>
              <a:spcAft>
                <a:spcPts val="800"/>
              </a:spcAft>
              <a:defRPr sz="1150" b="1">
                <a:solidFill>
                  <a:srgbClr val="38BDF8"/>
                </a:solidFill>
                <a:latin typeface="Arial"/>
              </a:defRPr>
            </a:pPr>
            <a:r>
              <a:t>3. Angular Deskewing: </a:t>
            </a:r>
            <a:r>
              <a:rPr sz="1050">
                <a:solidFill>
                  <a:srgbClr val="E2E8F0"/>
                </a:solidFill>
                <a:latin typeface="Calibri"/>
              </a:rPr>
              <a:t>Min-area bounding boxes fit ink contours to detect rotation angle theta, corrected via affine rotation warp.</a:t>
            </a:r>
          </a:p>
          <a:p>
            <a:pPr>
              <a:spcAft>
                <a:spcPts val="800"/>
              </a:spcAft>
              <a:defRPr sz="1150" b="1">
                <a:solidFill>
                  <a:srgbClr val="38BDF8"/>
                </a:solidFill>
                <a:latin typeface="Arial"/>
              </a:defRPr>
            </a:pPr>
            <a:r>
              <a:t>4. Ruled-Line Suppression: </a:t>
            </a:r>
            <a:r>
              <a:rPr sz="1050">
                <a:solidFill>
                  <a:srgbClr val="E2E8F0"/>
                </a:solidFill>
                <a:latin typeface="Calibri"/>
              </a:rPr>
              <a:t>Thin 1D horizontal element K_line = rect(2.5hm, 1) extracts lines via opening; subtraction restores character stems.</a:t>
            </a:r>
          </a:p>
          <a:p>
            <a:pPr>
              <a:spcAft>
                <a:spcPts val="800"/>
              </a:spcAft>
              <a:defRPr sz="1150" b="1">
                <a:solidFill>
                  <a:srgbClr val="38BDF8"/>
                </a:solidFill>
                <a:latin typeface="Arial"/>
              </a:defRPr>
            </a:pPr>
            <a:r>
              <a:t>5. Valley-Splitting Line Slicing: </a:t>
            </a:r>
            <a:r>
              <a:rPr sz="1050">
                <a:solidFill>
                  <a:srgbClr val="E2E8F0"/>
                </a:solidFill>
                <a:latin typeface="Calibri"/>
              </a:rPr>
              <a:t>Horizontal projection profiles detect valleys to separate interlocking ascenders and descenders into 64x1024 strips.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CORE INNOVATION #2</a:t>
            </a:r>
          </a:p>
          <a:p>
            <a:pPr>
              <a:spcAft>
                <a:spcPts val="200"/>
              </a:spcAft>
              <a:defRPr sz="2100" b="1">
                <a:solidFill>
                  <a:srgbClr val="F8FAFC"/>
                </a:solidFill>
                <a:latin typeface="Arial"/>
              </a:defRPr>
            </a:pPr>
            <a:r>
              <a:t>Dual-Branch Geometric Doodle Rejection &amp; Parameter Law</a:t>
            </a:r>
          </a:p>
          <a:p>
            <a:pPr>
              <a:defRPr sz="1150">
                <a:solidFill>
                  <a:srgbClr val="94A3B8"/>
                </a:solidFill>
                <a:latin typeface="Calibri"/>
              </a:defRPr>
            </a:pPr>
            <a:r>
              <a:t>Eliminating sequence hallucinations from decorative drawings and formulating exact scaling</a:t>
            </a:r>
          </a:p>
        </p:txBody>
      </p:sp>
      <p:sp>
        <p:nvSpPr>
          <p:cNvPr id="3" name="Rounded Rectangle 2"/>
          <p:cNvSpPr/>
          <p:nvPr/>
        </p:nvSpPr>
        <p:spPr>
          <a:xfrm>
            <a:off x="731520" y="1920240"/>
            <a:ext cx="52120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4754880" cy="3840480"/>
          </a:xfrm>
          <a:prstGeom prst="rect">
            <a:avLst/>
          </a:prstGeom>
          <a:noFill/>
        </p:spPr>
        <p:txBody>
          <a:bodyPr wrap="square" lIns="0" tIns="0" rIns="0" bIns="0">
            <a:spAutoFit/>
          </a:bodyPr>
          <a:lstStyle/>
          <a:p>
            <a:pPr>
              <a:spcAft>
                <a:spcPts val="1200"/>
              </a:spcAft>
              <a:defRPr sz="1400" b="1">
                <a:solidFill>
                  <a:srgbClr val="38BDF8"/>
                </a:solidFill>
                <a:latin typeface="Arial"/>
              </a:defRPr>
            </a:pPr>
            <a:r>
              <a:t>TWO-BRANCH GEOMETRIC DOODLE FILTER</a:t>
            </a:r>
          </a:p>
          <a:p>
            <a:pPr>
              <a:spcAft>
                <a:spcPts val="600"/>
              </a:spcAft>
              <a:defRPr sz="1100" b="1">
                <a:solidFill>
                  <a:srgbClr val="F8FAFC"/>
                </a:solidFill>
                <a:latin typeface="Arial"/>
              </a:defRPr>
            </a:pPr>
            <a:r>
              <a:t>* The Hallucination Problem: </a:t>
            </a:r>
            <a:r>
              <a:rPr sz="1050">
                <a:solidFill>
                  <a:srgbClr val="E2E8F0"/>
                </a:solidFill>
                <a:latin typeface="Calibri"/>
              </a:rPr>
              <a:t>Casual greeting cards and memos feature non-text drawings (smiling suns, hearts, stars). Standard CTC sequence decoders hallucinate spurious character sequences when processing non-text drawings.</a:t>
            </a:r>
          </a:p>
          <a:p>
            <a:pPr>
              <a:spcAft>
                <a:spcPts val="600"/>
              </a:spcAft>
              <a:defRPr sz="1100" b="1">
                <a:solidFill>
                  <a:srgbClr val="F8FAFC"/>
                </a:solidFill>
                <a:latin typeface="Arial"/>
              </a:defRPr>
            </a:pPr>
            <a:r>
              <a:t>* Branch 1: Valley-Sliced Line Slices: </a:t>
            </a:r>
            <a:r>
              <a:rPr sz="1050">
                <a:solidFill>
                  <a:srgbClr val="E2E8F0"/>
                </a:solidFill>
                <a:latin typeface="Calibri"/>
              </a:rPr>
              <a:t>Extracted horizontal strips are rejected if aspect ratio AR = W/H &lt; 1.7 combined with slice height H_slice &gt; 1.1hm or top vertical position y1 &lt; 0.35 H_doc.</a:t>
            </a:r>
          </a:p>
          <a:p>
            <a:pPr>
              <a:spcAft>
                <a:spcPts val="600"/>
              </a:spcAft>
              <a:defRPr sz="1100" b="1">
                <a:solidFill>
                  <a:srgbClr val="F8FAFC"/>
                </a:solidFill>
                <a:latin typeface="Arial"/>
              </a:defRPr>
            </a:pPr>
            <a:r>
              <a:t>* Branch 2: Candidate Bounding Boxes: </a:t>
            </a:r>
            <a:r>
              <a:rPr sz="1050">
                <a:solidFill>
                  <a:srgbClr val="E2E8F0"/>
                </a:solidFill>
                <a:latin typeface="Calibri"/>
              </a:rPr>
              <a:t>On raw un-dilated bounding boxes, regions with true aspect ratio AR_true &lt; 1.8 and area &gt; 1,500 px located in non-header document zones are systematically discarded.</a:t>
            </a:r>
          </a:p>
          <a:p>
            <a:pPr>
              <a:spcAft>
                <a:spcPts val="600"/>
              </a:spcAft>
              <a:defRPr sz="1100" b="1">
                <a:solidFill>
                  <a:srgbClr val="F8FAFC"/>
                </a:solidFill>
                <a:latin typeface="Arial"/>
              </a:defRPr>
            </a:pPr>
            <a:r>
              <a:t>* Empirical Zero Hallucination: </a:t>
            </a:r>
            <a:r>
              <a:rPr sz="1050">
                <a:solidFill>
                  <a:srgbClr val="E2E8F0"/>
                </a:solidFill>
                <a:latin typeface="Calibri"/>
              </a:rPr>
              <a:t>Authentic handwritten lines exhibit elongated aspect ratios (AR &gt; 2.5), enabling parameter-free geometric rejection of squarish drawings (AR in [0.8, 1.5]).</a:t>
            </a:r>
          </a:p>
        </p:txBody>
      </p:sp>
      <p:sp>
        <p:nvSpPr>
          <p:cNvPr id="5" name="Rounded Rectangle 4"/>
          <p:cNvSpPr/>
          <p:nvPr/>
        </p:nvSpPr>
        <p:spPr>
          <a:xfrm>
            <a:off x="6217920" y="1920240"/>
            <a:ext cx="52120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2148840"/>
            <a:ext cx="4754880" cy="3840480"/>
          </a:xfrm>
          <a:prstGeom prst="rect">
            <a:avLst/>
          </a:prstGeom>
          <a:noFill/>
        </p:spPr>
        <p:txBody>
          <a:bodyPr wrap="square" lIns="0" tIns="0" rIns="0" bIns="0">
            <a:spAutoFit/>
          </a:bodyPr>
          <a:lstStyle/>
          <a:p>
            <a:pPr>
              <a:spcAft>
                <a:spcPts val="800"/>
              </a:spcAft>
              <a:defRPr sz="1400" b="1">
                <a:solidFill>
                  <a:srgbClr val="34D399"/>
                </a:solidFill>
                <a:latin typeface="Arial"/>
              </a:defRPr>
            </a:pPr>
            <a:r>
              <a:t>CLOSED-FORM PARAMETER SCALING LAW</a:t>
            </a:r>
          </a:p>
          <a:p>
            <a:pPr>
              <a:spcAft>
                <a:spcPts val="1200"/>
              </a:spcAft>
              <a:defRPr sz="2000" b="1">
                <a:solidFill>
                  <a:srgbClr val="38BDF8"/>
                </a:solidFill>
                <a:latin typeface="Arial"/>
              </a:defRPr>
            </a:pPr>
            <a:r>
              <a:t>P_total = 1,562,516 + 257C</a:t>
            </a:r>
          </a:p>
          <a:p>
            <a:pPr>
              <a:spcAft>
                <a:spcPts val="600"/>
              </a:spcAft>
              <a:defRPr sz="1100" b="1">
                <a:solidFill>
                  <a:srgbClr val="F8FAFC"/>
                </a:solidFill>
                <a:latin typeface="Arial"/>
              </a:defRPr>
            </a:pPr>
            <a:r>
              <a:t>* Shared Invariant Backbone: </a:t>
            </a:r>
            <a:r>
              <a:rPr sz="1050">
                <a:solidFill>
                  <a:srgbClr val="E2E8F0"/>
                </a:solidFill>
                <a:latin typeface="Calibri"/>
              </a:rPr>
              <a:t>1,562,516 parameters across Encoder, 2-Head Self-Attention, 3 Stacked BiLSTMs, and LayerNorm.</a:t>
            </a:r>
          </a:p>
          <a:p>
            <a:pPr>
              <a:spcAft>
                <a:spcPts val="600"/>
              </a:spcAft>
              <a:defRPr sz="1100" b="1">
                <a:solidFill>
                  <a:srgbClr val="F8FAFC"/>
                </a:solidFill>
                <a:latin typeface="Arial"/>
              </a:defRPr>
            </a:pPr>
            <a:r>
              <a:t>* Task-Specific Vocabulary Head: </a:t>
            </a:r>
            <a:r>
              <a:rPr sz="1050">
                <a:solidFill>
                  <a:srgbClr val="E2E8F0"/>
                </a:solidFill>
                <a:latin typeface="Calibri"/>
              </a:rPr>
              <a:t>257C parameters ((256 recurrent features x C classes) + C bias terms).</a:t>
            </a:r>
          </a:p>
          <a:p>
            <a:pPr>
              <a:spcAft>
                <a:spcPts val="600"/>
              </a:spcAft>
              <a:defRPr sz="1100" b="1">
                <a:solidFill>
                  <a:srgbClr val="F8FAFC"/>
                </a:solidFill>
                <a:latin typeface="Arial"/>
              </a:defRPr>
            </a:pPr>
            <a:r>
              <a:t>* Parzival Codex (C = 56): </a:t>
            </a:r>
            <a:r>
              <a:rPr sz="1050">
                <a:solidFill>
                  <a:srgbClr val="E2E8F0"/>
                </a:solidFill>
                <a:latin typeface="Calibri"/>
              </a:rPr>
              <a:t>1,562,516 + (257 x 56) = exactly 1,576,908 parameters.</a:t>
            </a:r>
          </a:p>
          <a:p>
            <a:pPr>
              <a:spcAft>
                <a:spcPts val="600"/>
              </a:spcAft>
              <a:defRPr sz="1100" b="1">
                <a:solidFill>
                  <a:srgbClr val="F8FAFC"/>
                </a:solidFill>
                <a:latin typeface="Arial"/>
              </a:defRPr>
            </a:pPr>
            <a:r>
              <a:t>* ORAND-CAR-A &amp; CVL (C = 14): </a:t>
            </a:r>
            <a:r>
              <a:rPr sz="1050">
                <a:solidFill>
                  <a:srgbClr val="E2E8F0"/>
                </a:solidFill>
                <a:latin typeface="Calibri"/>
              </a:rPr>
              <a:t>1,562,516 + (257 x 14) = exactly 1,566,114 parameters.</a:t>
            </a:r>
          </a:p>
          <a:p>
            <a:pPr>
              <a:spcAft>
                <a:spcPts val="600"/>
              </a:spcAft>
              <a:defRPr sz="1100" b="1">
                <a:solidFill>
                  <a:srgbClr val="F8FAFC"/>
                </a:solidFill>
                <a:latin typeface="Arial"/>
              </a:defRPr>
            </a:pPr>
            <a:r>
              <a:t>* IAM Combined English (C = 83): </a:t>
            </a:r>
            <a:r>
              <a:rPr sz="1050">
                <a:solidFill>
                  <a:srgbClr val="E2E8F0"/>
                </a:solidFill>
                <a:latin typeface="Calibri"/>
              </a:rPr>
              <a:t>1,562,516 + (257 x 83) = exactly 1,583,847 parameters.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MODEL ARCHITECTURE</a:t>
            </a:r>
          </a:p>
          <a:p>
            <a:pPr>
              <a:spcAft>
                <a:spcPts val="200"/>
              </a:spcAft>
              <a:defRPr sz="2100" b="1">
                <a:solidFill>
                  <a:srgbClr val="F8FAFC"/>
                </a:solidFill>
                <a:latin typeface="Arial"/>
              </a:defRPr>
            </a:pPr>
            <a:r>
              <a:t>Gated-CNN + Multi-Head Self-Attention + BiLSTM Network</a:t>
            </a:r>
          </a:p>
          <a:p>
            <a:pPr>
              <a:defRPr sz="1150">
                <a:solidFill>
                  <a:srgbClr val="94A3B8"/>
                </a:solidFill>
                <a:latin typeface="Calibri"/>
              </a:defRPr>
            </a:pPr>
            <a:r>
              <a:t>A lightweight 1.58M parameter hybrid architecture engineered for linear O(T) inference</a:t>
            </a:r>
          </a:p>
        </p:txBody>
      </p:sp>
      <p:sp>
        <p:nvSpPr>
          <p:cNvPr id="3" name="Rounded Rectangle 2"/>
          <p:cNvSpPr/>
          <p:nvPr/>
        </p:nvSpPr>
        <p:spPr>
          <a:xfrm>
            <a:off x="731520" y="1828800"/>
            <a:ext cx="10728655" cy="24688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_architecture.png"/>
          <p:cNvPicPr>
            <a:picLocks noChangeAspect="1"/>
          </p:cNvPicPr>
          <p:nvPr/>
        </p:nvPicPr>
        <p:blipFill>
          <a:blip r:embed="rId2"/>
          <a:stretch>
            <a:fillRect/>
          </a:stretch>
        </p:blipFill>
        <p:spPr>
          <a:xfrm>
            <a:off x="804672" y="1901952"/>
            <a:ext cx="10582351" cy="2322576"/>
          </a:xfrm>
          <a:prstGeom prst="rect">
            <a:avLst/>
          </a:prstGeom>
        </p:spPr>
      </p:pic>
      <p:sp>
        <p:nvSpPr>
          <p:cNvPr id="5" name="Rounded Rectangle 4"/>
          <p:cNvSpPr/>
          <p:nvPr/>
        </p:nvSpPr>
        <p:spPr>
          <a:xfrm>
            <a:off x="731520"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4617720"/>
            <a:ext cx="2231136" cy="1645920"/>
          </a:xfrm>
          <a:prstGeom prst="rect">
            <a:avLst/>
          </a:prstGeom>
          <a:noFill/>
        </p:spPr>
        <p:txBody>
          <a:bodyPr wrap="square" lIns="0" tIns="0" rIns="0" bIns="0">
            <a:spAutoFit/>
          </a:bodyPr>
          <a:lstStyle/>
          <a:p>
            <a:pPr>
              <a:defRPr sz="1200" b="1">
                <a:solidFill>
                  <a:srgbClr val="38BDF8"/>
                </a:solidFill>
                <a:latin typeface="Arial"/>
              </a:defRPr>
            </a:pPr>
            <a:r>
              <a:t>Encoder (Gated-CNN)</a:t>
            </a:r>
          </a:p>
          <a:p>
            <a:pPr>
              <a:spcAft>
                <a:spcPts val="400"/>
              </a:spcAft>
              <a:defRPr sz="1050" b="1">
                <a:solidFill>
                  <a:srgbClr val="34D399"/>
                </a:solidFill>
                <a:latin typeface="Calibri"/>
              </a:defRPr>
            </a:pPr>
            <a:r>
              <a:t>501,988 Params</a:t>
            </a:r>
          </a:p>
          <a:p>
            <a:pPr>
              <a:defRPr sz="950">
                <a:solidFill>
                  <a:srgbClr val="E2E8F0"/>
                </a:solidFill>
                <a:latin typeface="Calibri"/>
              </a:defRPr>
            </a:pPr>
            <a:r>
              <a:t>7 Conv2D stages + 6 interleaved residual Gated-CNN blocks. Learned gating tensor G = sigma(Wg*X + bg) filters non-ink parchment textures.</a:t>
            </a:r>
          </a:p>
        </p:txBody>
      </p:sp>
      <p:sp>
        <p:nvSpPr>
          <p:cNvPr id="7" name="Rounded Rectangle 6"/>
          <p:cNvSpPr/>
          <p:nvPr/>
        </p:nvSpPr>
        <p:spPr>
          <a:xfrm>
            <a:off x="3453688"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8280" y="4617720"/>
            <a:ext cx="2231136" cy="1645920"/>
          </a:xfrm>
          <a:prstGeom prst="rect">
            <a:avLst/>
          </a:prstGeom>
          <a:noFill/>
        </p:spPr>
        <p:txBody>
          <a:bodyPr wrap="square" lIns="0" tIns="0" rIns="0" bIns="0">
            <a:spAutoFit/>
          </a:bodyPr>
          <a:lstStyle/>
          <a:p>
            <a:pPr>
              <a:defRPr sz="1200" b="1">
                <a:solidFill>
                  <a:srgbClr val="38BDF8"/>
                </a:solidFill>
                <a:latin typeface="Arial"/>
              </a:defRPr>
            </a:pPr>
            <a:r>
              <a:t>Attention (MHSA)</a:t>
            </a:r>
          </a:p>
          <a:p>
            <a:pPr>
              <a:spcAft>
                <a:spcPts val="400"/>
              </a:spcAft>
              <a:defRPr sz="1050" b="1">
                <a:solidFill>
                  <a:srgbClr val="34D399"/>
                </a:solidFill>
                <a:latin typeface="Calibri"/>
              </a:defRPr>
            </a:pPr>
            <a:r>
              <a:t>8,368 Params</a:t>
            </a:r>
          </a:p>
          <a:p>
            <a:pPr>
              <a:defRPr sz="950">
                <a:solidFill>
                  <a:srgbClr val="E2E8F0"/>
                </a:solidFill>
                <a:latin typeface="Calibri"/>
              </a:defRPr>
            </a:pPr>
            <a:r>
              <a:t>2-Head Multi-Head Self-Attention (h=2, d_k=8). Captures global horizontal pairwise dependencies across 256 time steps prior to recurrent modeling.</a:t>
            </a:r>
          </a:p>
        </p:txBody>
      </p:sp>
      <p:sp>
        <p:nvSpPr>
          <p:cNvPr id="9" name="Rounded Rectangle 8"/>
          <p:cNvSpPr/>
          <p:nvPr/>
        </p:nvSpPr>
        <p:spPr>
          <a:xfrm>
            <a:off x="6175856"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0448" y="4617720"/>
            <a:ext cx="2231136" cy="1645920"/>
          </a:xfrm>
          <a:prstGeom prst="rect">
            <a:avLst/>
          </a:prstGeom>
          <a:noFill/>
        </p:spPr>
        <p:txBody>
          <a:bodyPr wrap="square" lIns="0" tIns="0" rIns="0" bIns="0">
            <a:spAutoFit/>
          </a:bodyPr>
          <a:lstStyle/>
          <a:p>
            <a:pPr>
              <a:defRPr sz="1200" b="1">
                <a:solidFill>
                  <a:srgbClr val="38BDF8"/>
                </a:solidFill>
                <a:latin typeface="Arial"/>
              </a:defRPr>
            </a:pPr>
            <a:r>
              <a:t>Sequence Modeling</a:t>
            </a:r>
          </a:p>
          <a:p>
            <a:pPr>
              <a:spcAft>
                <a:spcPts val="400"/>
              </a:spcAft>
              <a:defRPr sz="1050" b="1">
                <a:solidFill>
                  <a:srgbClr val="34D399"/>
                </a:solidFill>
                <a:latin typeface="Calibri"/>
              </a:defRPr>
            </a:pPr>
            <a:r>
              <a:t>1,051,648 Params</a:t>
            </a:r>
          </a:p>
          <a:p>
            <a:pPr>
              <a:defRPr sz="950">
                <a:solidFill>
                  <a:srgbClr val="E2E8F0"/>
                </a:solidFill>
                <a:latin typeface="Calibri"/>
              </a:defRPr>
            </a:pPr>
            <a:r>
              <a:t>3 stacked Bidirectional LSTM layers (128 units/dir x 2 = 256/step) + LayerNorm (512 params) for past and future linguistic context.</a:t>
            </a:r>
          </a:p>
        </p:txBody>
      </p:sp>
      <p:sp>
        <p:nvSpPr>
          <p:cNvPr id="11" name="Rounded Rectangle 10"/>
          <p:cNvSpPr/>
          <p:nvPr/>
        </p:nvSpPr>
        <p:spPr>
          <a:xfrm>
            <a:off x="8898024"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62616" y="4617720"/>
            <a:ext cx="2231136" cy="1645920"/>
          </a:xfrm>
          <a:prstGeom prst="rect">
            <a:avLst/>
          </a:prstGeom>
          <a:noFill/>
        </p:spPr>
        <p:txBody>
          <a:bodyPr wrap="square" lIns="0" tIns="0" rIns="0" bIns="0">
            <a:spAutoFit/>
          </a:bodyPr>
          <a:lstStyle/>
          <a:p>
            <a:pPr>
              <a:defRPr sz="1200" b="1">
                <a:solidFill>
                  <a:srgbClr val="38BDF8"/>
                </a:solidFill>
                <a:latin typeface="Arial"/>
              </a:defRPr>
            </a:pPr>
            <a:r>
              <a:t>CTC Decoding Head</a:t>
            </a:r>
          </a:p>
          <a:p>
            <a:pPr>
              <a:spcAft>
                <a:spcPts val="400"/>
              </a:spcAft>
              <a:defRPr sz="1050" b="1">
                <a:solidFill>
                  <a:srgbClr val="34D399"/>
                </a:solidFill>
                <a:latin typeface="Calibri"/>
              </a:defRPr>
            </a:pPr>
            <a:r>
              <a:t>257 x C Params</a:t>
            </a:r>
          </a:p>
          <a:p>
            <a:pPr>
              <a:defRPr sz="950">
                <a:solidFill>
                  <a:srgbClr val="E2E8F0"/>
                </a:solidFill>
                <a:latin typeface="Calibri"/>
              </a:defRPr>
            </a:pPr>
            <a:r>
              <a:t>Dense projection to vocabulary C evaluated via CTC loss. Decoded via CTC beam search (W=32) returning exponentiated likelihood P_hat.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EMPIRICAL VALIDATION</a:t>
            </a:r>
          </a:p>
          <a:p>
            <a:pPr>
              <a:spcAft>
                <a:spcPts val="200"/>
              </a:spcAft>
              <a:defRPr sz="2100" b="1">
                <a:solidFill>
                  <a:srgbClr val="F8FAFC"/>
                </a:solidFill>
                <a:latin typeface="Arial"/>
              </a:defRPr>
            </a:pPr>
            <a:r>
              <a:t>Master Multi-Dataset Benchmark Results</a:t>
            </a:r>
          </a:p>
          <a:p>
            <a:pPr>
              <a:defRPr sz="1150">
                <a:solidFill>
                  <a:srgbClr val="94A3B8"/>
                </a:solidFill>
                <a:latin typeface="Calibri"/>
              </a:defRPr>
            </a:pPr>
            <a:r>
              <a:t>Quantitative results logged from trained checkpoints evaluated with CTC Beam Search (W=32)</a:t>
            </a:r>
          </a:p>
        </p:txBody>
      </p:sp>
      <p:sp>
        <p:nvSpPr>
          <p:cNvPr id="3" name="Rounded Rectangle 2"/>
          <p:cNvSpPr/>
          <p:nvPr/>
        </p:nvSpPr>
        <p:spPr>
          <a:xfrm>
            <a:off x="731520"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PARZIVAL</a:t>
            </a:r>
          </a:p>
          <a:p>
            <a:pPr>
              <a:spcAft>
                <a:spcPts val="1000"/>
              </a:spcAft>
              <a:defRPr sz="1000">
                <a:solidFill>
                  <a:srgbClr val="94A3B8"/>
                </a:solidFill>
                <a:latin typeface="Calibri"/>
              </a:defRPr>
            </a:pPr>
            <a:r>
              <a:t>13th-c. German Gothic Codex</a:t>
            </a:r>
          </a:p>
          <a:p>
            <a:pPr>
              <a:defRPr sz="900">
                <a:solidFill>
                  <a:srgbClr val="94A3B8"/>
                </a:solidFill>
                <a:latin typeface="Arial"/>
              </a:defRPr>
            </a:pPr>
            <a:r>
              <a:t>TEST CER:</a:t>
            </a:r>
          </a:p>
          <a:p>
            <a:pPr>
              <a:spcAft>
                <a:spcPts val="600"/>
              </a:spcAft>
              <a:defRPr sz="2200" b="1">
                <a:solidFill>
                  <a:srgbClr val="34D399"/>
                </a:solidFill>
                <a:latin typeface="Arial"/>
              </a:defRPr>
            </a:pPr>
            <a:r>
              <a:t>2.48% CER</a:t>
            </a:r>
          </a:p>
          <a:p>
            <a:pPr>
              <a:spcAft>
                <a:spcPts val="800"/>
              </a:spcAft>
              <a:defRPr sz="1050">
                <a:solidFill>
                  <a:srgbClr val="CBD5E1"/>
                </a:solidFill>
                <a:latin typeface="Calibri"/>
              </a:defRPr>
            </a:pPr>
            <a:r>
              <a:t>Metric: 8.53% WER</a:t>
            </a:r>
            <a:br/>
            <a:r>
              <a:t>Split: 1,328 test lines</a:t>
            </a:r>
          </a:p>
          <a:p>
            <a:pPr>
              <a:defRPr sz="950">
                <a:solidFill>
                  <a:srgbClr val="94A3B8"/>
                </a:solidFill>
                <a:latin typeface="Calibri"/>
              </a:defRPr>
            </a:pPr>
            <a:r>
              <a:t>model_parzival.weights.h5 (C=56, 1.57M params)</a:t>
            </a:r>
          </a:p>
        </p:txBody>
      </p:sp>
      <p:sp>
        <p:nvSpPr>
          <p:cNvPr id="5" name="Rounded Rectangle 4"/>
          <p:cNvSpPr/>
          <p:nvPr/>
        </p:nvSpPr>
        <p:spPr>
          <a:xfrm>
            <a:off x="2907792"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72384"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ORAND-CAR-A</a:t>
            </a:r>
          </a:p>
          <a:p>
            <a:pPr>
              <a:spcAft>
                <a:spcPts val="1000"/>
              </a:spcAft>
              <a:defRPr sz="1000">
                <a:solidFill>
                  <a:srgbClr val="94A3B8"/>
                </a:solidFill>
                <a:latin typeface="Calibri"/>
              </a:defRPr>
            </a:pPr>
            <a:r>
              <a:t>Bank Check Courtesy Amounts</a:t>
            </a:r>
          </a:p>
          <a:p>
            <a:pPr>
              <a:defRPr sz="900">
                <a:solidFill>
                  <a:srgbClr val="94A3B8"/>
                </a:solidFill>
                <a:latin typeface="Arial"/>
              </a:defRPr>
            </a:pPr>
            <a:r>
              <a:t>TEST CER:</a:t>
            </a:r>
          </a:p>
          <a:p>
            <a:pPr>
              <a:spcAft>
                <a:spcPts val="600"/>
              </a:spcAft>
              <a:defRPr sz="2200" b="1">
                <a:solidFill>
                  <a:srgbClr val="34D399"/>
                </a:solidFill>
                <a:latin typeface="Arial"/>
              </a:defRPr>
            </a:pPr>
            <a:r>
              <a:t>3.33% CER</a:t>
            </a:r>
          </a:p>
          <a:p>
            <a:pPr>
              <a:spcAft>
                <a:spcPts val="800"/>
              </a:spcAft>
              <a:defRPr sz="1050">
                <a:solidFill>
                  <a:srgbClr val="CBD5E1"/>
                </a:solidFill>
                <a:latin typeface="Calibri"/>
              </a:defRPr>
            </a:pPr>
            <a:r>
              <a:t>Metric: 96.67% (1 - CER)</a:t>
            </a:r>
            <a:br/>
            <a:r>
              <a:t>Split: 3,784 check amounts</a:t>
            </a:r>
          </a:p>
          <a:p>
            <a:pPr>
              <a:defRPr sz="950">
                <a:solidFill>
                  <a:srgbClr val="94A3B8"/>
                </a:solidFill>
                <a:latin typeface="Calibri"/>
              </a:defRPr>
            </a:pPr>
            <a:r>
              <a:t>model_orand-car-a.weights.h5 (C=14, 1.56M params)</a:t>
            </a:r>
          </a:p>
        </p:txBody>
      </p:sp>
      <p:sp>
        <p:nvSpPr>
          <p:cNvPr id="7" name="Rounded Rectangle 6"/>
          <p:cNvSpPr/>
          <p:nvPr/>
        </p:nvSpPr>
        <p:spPr>
          <a:xfrm>
            <a:off x="5084064"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48656"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SAINT GALL</a:t>
            </a:r>
          </a:p>
          <a:p>
            <a:pPr>
              <a:spcAft>
                <a:spcPts val="1000"/>
              </a:spcAft>
              <a:defRPr sz="1000">
                <a:solidFill>
                  <a:srgbClr val="94A3B8"/>
                </a:solidFill>
                <a:latin typeface="Calibri"/>
              </a:defRPr>
            </a:pPr>
            <a:r>
              <a:t>9th-c. Carolingian Latin</a:t>
            </a:r>
          </a:p>
          <a:p>
            <a:pPr>
              <a:defRPr sz="900">
                <a:solidFill>
                  <a:srgbClr val="94A3B8"/>
                </a:solidFill>
                <a:latin typeface="Arial"/>
              </a:defRPr>
            </a:pPr>
            <a:r>
              <a:t>TEST CER:</a:t>
            </a:r>
          </a:p>
          <a:p>
            <a:pPr>
              <a:spcAft>
                <a:spcPts val="600"/>
              </a:spcAft>
              <a:defRPr sz="2200" b="1">
                <a:solidFill>
                  <a:srgbClr val="34D399"/>
                </a:solidFill>
                <a:latin typeface="Arial"/>
              </a:defRPr>
            </a:pPr>
            <a:r>
              <a:t>8.38% CER</a:t>
            </a:r>
          </a:p>
          <a:p>
            <a:pPr>
              <a:spcAft>
                <a:spcPts val="800"/>
              </a:spcAft>
              <a:defRPr sz="1050">
                <a:solidFill>
                  <a:srgbClr val="CBD5E1"/>
                </a:solidFill>
                <a:latin typeface="Calibri"/>
              </a:defRPr>
            </a:pPr>
            <a:r>
              <a:t>Metric: 41.62% WER</a:t>
            </a:r>
            <a:br/>
            <a:r>
              <a:t>Split: 707 test lines</a:t>
            </a:r>
          </a:p>
          <a:p>
            <a:pPr>
              <a:defRPr sz="950">
                <a:solidFill>
                  <a:srgbClr val="94A3B8"/>
                </a:solidFill>
                <a:latin typeface="Calibri"/>
              </a:defRPr>
            </a:pPr>
            <a:r>
              <a:t>Provenance in Cell 28 (Epoch 14 restored)</a:t>
            </a:r>
          </a:p>
        </p:txBody>
      </p:sp>
      <p:sp>
        <p:nvSpPr>
          <p:cNvPr id="9" name="Rounded Rectangle 8"/>
          <p:cNvSpPr/>
          <p:nvPr/>
        </p:nvSpPr>
        <p:spPr>
          <a:xfrm>
            <a:off x="7260336"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24928"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IAM COMBINED</a:t>
            </a:r>
          </a:p>
          <a:p>
            <a:pPr>
              <a:spcAft>
                <a:spcPts val="1000"/>
              </a:spcAft>
              <a:defRPr sz="1000">
                <a:solidFill>
                  <a:srgbClr val="94A3B8"/>
                </a:solidFill>
                <a:latin typeface="Calibri"/>
              </a:defRPr>
            </a:pPr>
            <a:r>
              <a:t>Modern English Prose</a:t>
            </a:r>
          </a:p>
          <a:p>
            <a:pPr>
              <a:defRPr sz="900">
                <a:solidFill>
                  <a:srgbClr val="94A3B8"/>
                </a:solidFill>
                <a:latin typeface="Arial"/>
              </a:defRPr>
            </a:pPr>
            <a:r>
              <a:t>VAL DIST:</a:t>
            </a:r>
          </a:p>
          <a:p>
            <a:pPr>
              <a:spcAft>
                <a:spcPts val="600"/>
              </a:spcAft>
              <a:defRPr sz="2200" b="1">
                <a:solidFill>
                  <a:srgbClr val="34D399"/>
                </a:solidFill>
                <a:latin typeface="Arial"/>
              </a:defRPr>
            </a:pPr>
            <a:r>
              <a:t>5.66% Val Dist</a:t>
            </a:r>
          </a:p>
          <a:p>
            <a:pPr>
              <a:spcAft>
                <a:spcPts val="800"/>
              </a:spcAft>
              <a:defRPr sz="1050">
                <a:solidFill>
                  <a:srgbClr val="CBD5E1"/>
                </a:solidFill>
                <a:latin typeface="Calibri"/>
              </a:defRPr>
            </a:pPr>
            <a:r>
              <a:t>Metric: Epoch 12 Best</a:t>
            </a:r>
            <a:br/>
            <a:r>
              <a:t>Split: 966 val lines</a:t>
            </a:r>
          </a:p>
          <a:p>
            <a:pPr>
              <a:defRPr sz="950">
                <a:solidFill>
                  <a:srgbClr val="94A3B8"/>
                </a:solidFill>
                <a:latin typeface="Calibri"/>
              </a:defRPr>
            </a:pPr>
            <a:r>
              <a:t>model_iam_combined.weights.h5 (C=83, 1.58M params)</a:t>
            </a:r>
          </a:p>
        </p:txBody>
      </p:sp>
      <p:sp>
        <p:nvSpPr>
          <p:cNvPr id="11" name="Rounded Rectangle 10"/>
          <p:cNvSpPr/>
          <p:nvPr/>
        </p:nvSpPr>
        <p:spPr>
          <a:xfrm>
            <a:off x="9436608"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0"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CVL DIGITS</a:t>
            </a:r>
          </a:p>
          <a:p>
            <a:pPr>
              <a:spcAft>
                <a:spcPts val="1000"/>
              </a:spcAft>
              <a:defRPr sz="1000">
                <a:solidFill>
                  <a:srgbClr val="94A3B8"/>
                </a:solidFill>
                <a:latin typeface="Calibri"/>
              </a:defRPr>
            </a:pPr>
            <a:r>
              <a:t>Multi-Writer Digit Strings</a:t>
            </a:r>
          </a:p>
          <a:p>
            <a:pPr>
              <a:defRPr sz="900">
                <a:solidFill>
                  <a:srgbClr val="94A3B8"/>
                </a:solidFill>
                <a:latin typeface="Arial"/>
              </a:defRPr>
            </a:pPr>
            <a:r>
              <a:t>TEST CER:</a:t>
            </a:r>
          </a:p>
          <a:p>
            <a:pPr>
              <a:spcAft>
                <a:spcPts val="600"/>
              </a:spcAft>
              <a:defRPr sz="2200" b="1">
                <a:solidFill>
                  <a:srgbClr val="FBBF24"/>
                </a:solidFill>
                <a:latin typeface="Arial"/>
              </a:defRPr>
            </a:pPr>
            <a:r>
              <a:t>50.78% CER</a:t>
            </a:r>
          </a:p>
          <a:p>
            <a:pPr>
              <a:spcAft>
                <a:spcPts val="800"/>
              </a:spcAft>
              <a:defRPr sz="1050">
                <a:solidFill>
                  <a:srgbClr val="CBD5E1"/>
                </a:solidFill>
                <a:latin typeface="Calibri"/>
              </a:defRPr>
            </a:pPr>
            <a:r>
              <a:t>Metric: 6.93% Val Dist</a:t>
            </a:r>
            <a:br/>
            <a:r>
              <a:t>Split: 6,698 test strings</a:t>
            </a:r>
          </a:p>
          <a:p>
            <a:pPr>
              <a:defRPr sz="950">
                <a:solidFill>
                  <a:srgbClr val="94A3B8"/>
                </a:solidFill>
                <a:latin typeface="Calibri"/>
              </a:defRPr>
            </a:pPr>
            <a:r>
              <a:t>model_cvl-digits.weights.h5 (C=14, 1.56M params)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VISUAL MODEL OUTPUTS</a:t>
            </a:r>
          </a:p>
          <a:p>
            <a:pPr>
              <a:spcAft>
                <a:spcPts val="200"/>
              </a:spcAft>
              <a:defRPr sz="2100" b="1">
                <a:solidFill>
                  <a:srgbClr val="F8FAFC"/>
                </a:solidFill>
                <a:latin typeface="Arial"/>
              </a:defRPr>
            </a:pPr>
            <a:r>
              <a:t>Qualitative Predictions Across Diverse Handwriting Scripts</a:t>
            </a:r>
          </a:p>
          <a:p>
            <a:pPr>
              <a:defRPr sz="1150">
                <a:solidFill>
                  <a:srgbClr val="94A3B8"/>
                </a:solidFill>
                <a:latin typeface="Calibri"/>
              </a:defRPr>
            </a:pPr>
            <a:r>
              <a:t>Authentic test-line inputs, ground-truth annotations, and CTC beam decoding outputs from tutorial_colab.ipynb</a:t>
            </a:r>
          </a:p>
        </p:txBody>
      </p:sp>
      <p:sp>
        <p:nvSpPr>
          <p:cNvPr id="3" name="Rounded Rectangle 2"/>
          <p:cNvSpPr/>
          <p:nvPr/>
        </p:nvSpPr>
        <p:spPr>
          <a:xfrm>
            <a:off x="731520" y="1828800"/>
            <a:ext cx="68580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_dataset_samples.png"/>
          <p:cNvPicPr>
            <a:picLocks noChangeAspect="1"/>
          </p:cNvPicPr>
          <p:nvPr/>
        </p:nvPicPr>
        <p:blipFill>
          <a:blip r:embed="rId2"/>
          <a:stretch>
            <a:fillRect/>
          </a:stretch>
        </p:blipFill>
        <p:spPr>
          <a:xfrm>
            <a:off x="804672" y="1901952"/>
            <a:ext cx="6711696" cy="4242816"/>
          </a:xfrm>
          <a:prstGeom prst="rect">
            <a:avLst/>
          </a:prstGeom>
        </p:spPr>
      </p:pic>
      <p:sp>
        <p:nvSpPr>
          <p:cNvPr id="5" name="Rounded Rectangle 4"/>
          <p:cNvSpPr/>
          <p:nvPr/>
        </p:nvSpPr>
        <p:spPr>
          <a:xfrm>
            <a:off x="7772400" y="1828800"/>
            <a:ext cx="36877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2011680"/>
            <a:ext cx="3230575" cy="4023360"/>
          </a:xfrm>
          <a:prstGeom prst="rect">
            <a:avLst/>
          </a:prstGeom>
          <a:noFill/>
        </p:spPr>
        <p:txBody>
          <a:bodyPr wrap="square" lIns="0" tIns="0" rIns="0" bIns="0">
            <a:spAutoFit/>
          </a:bodyPr>
          <a:lstStyle/>
          <a:p>
            <a:pPr>
              <a:spcAft>
                <a:spcPts val="1000"/>
              </a:spcAft>
              <a:defRPr sz="1300" b="1">
                <a:solidFill>
                  <a:srgbClr val="38BDF8"/>
                </a:solidFill>
                <a:latin typeface="Arial"/>
              </a:defRPr>
            </a:pPr>
            <a:r>
              <a:t>OUTPUT PERFORMANCE BREAKDOWN</a:t>
            </a:r>
          </a:p>
          <a:p>
            <a:pPr>
              <a:spcAft>
                <a:spcPts val="600"/>
              </a:spcAft>
              <a:defRPr sz="1100" b="1">
                <a:solidFill>
                  <a:srgbClr val="34D399"/>
                </a:solidFill>
                <a:latin typeface="Arial"/>
              </a:defRPr>
            </a:pPr>
            <a:r>
              <a:t>13th-c. Gothic (Parzival) [2.48% CER]: </a:t>
            </a:r>
            <a:r>
              <a:rPr sz="1050">
                <a:solidFill>
                  <a:srgbClr val="E2E8F0"/>
                </a:solidFill>
                <a:latin typeface="Calibri"/>
              </a:rPr>
              <a:t>Accurately resolves complex vertical gothic stems, tight inter-character spacing, and historical ligatures without character bounding boxes.</a:t>
            </a:r>
          </a:p>
          <a:p>
            <a:pPr>
              <a:spcAft>
                <a:spcPts val="600"/>
              </a:spcAft>
              <a:defRPr sz="1100" b="1">
                <a:solidFill>
                  <a:srgbClr val="34D399"/>
                </a:solidFill>
                <a:latin typeface="Arial"/>
              </a:defRPr>
            </a:pPr>
            <a:r>
              <a:t>Bank Checks (ORAND-CAR-A) [96.67% Acc]: </a:t>
            </a:r>
            <a:r>
              <a:rPr sz="1050">
                <a:solidFill>
                  <a:srgbClr val="E2E8F0"/>
                </a:solidFill>
                <a:latin typeface="Calibri"/>
              </a:rPr>
              <a:t>Accurately transcribes courtesy amount numbers and currency notation, eliminating background stamp noise via spatial gating.</a:t>
            </a:r>
          </a:p>
          <a:p>
            <a:pPr>
              <a:spcAft>
                <a:spcPts val="600"/>
              </a:spcAft>
              <a:defRPr sz="1100" b="1">
                <a:solidFill>
                  <a:srgbClr val="34D399"/>
                </a:solidFill>
                <a:latin typeface="Arial"/>
              </a:defRPr>
            </a:pPr>
            <a:r>
              <a:t>Carolingian Latin (Saint Gall) [8.38% CER]: </a:t>
            </a:r>
            <a:r>
              <a:rPr sz="1050">
                <a:solidFill>
                  <a:srgbClr val="E2E8F0"/>
                </a:solidFill>
                <a:latin typeface="Calibri"/>
              </a:rPr>
              <a:t>Robust handling of aged parchment texture, ink bleed, and fluctuating baselines across 9th-century manuscripts.</a:t>
            </a:r>
          </a:p>
          <a:p>
            <a:pPr>
              <a:spcAft>
                <a:spcPts val="600"/>
              </a:spcAft>
              <a:defRPr sz="1100" b="1">
                <a:solidFill>
                  <a:srgbClr val="34D399"/>
                </a:solidFill>
                <a:latin typeface="Arial"/>
              </a:defRPr>
            </a:pPr>
            <a:r>
              <a:t>Modern English (IAM) [5.66% Val Dist]: </a:t>
            </a:r>
            <a:r>
              <a:rPr sz="1050">
                <a:solidFill>
                  <a:srgbClr val="E2E8F0"/>
                </a:solidFill>
                <a:latin typeface="Calibri"/>
              </a:rPr>
              <a:t>Seamlessly models continuous cursive word-level transitions using combined MHSA and stacked BiLSTM recurrence.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EMPIRICAL RESULTS</a:t>
            </a:r>
          </a:p>
          <a:p>
            <a:pPr>
              <a:spcAft>
                <a:spcPts val="200"/>
              </a:spcAft>
              <a:defRPr sz="2100" b="1">
                <a:solidFill>
                  <a:srgbClr val="F8FAFC"/>
                </a:solidFill>
                <a:latin typeface="Arial"/>
              </a:defRPr>
            </a:pPr>
            <a:r>
              <a:t>Training Dynamics &amp; Loss Optimization Convergence</a:t>
            </a:r>
          </a:p>
          <a:p>
            <a:pPr>
              <a:defRPr sz="1150">
                <a:solidFill>
                  <a:srgbClr val="94A3B8"/>
                </a:solidFill>
                <a:latin typeface="Calibri"/>
              </a:defRPr>
            </a:pPr>
            <a:r>
              <a:t>Epoch-by-epoch loss reduction and validation edit distance trajectories plotted directly from authentic epochs.csv</a:t>
            </a:r>
          </a:p>
        </p:txBody>
      </p:sp>
      <p:sp>
        <p:nvSpPr>
          <p:cNvPr id="3" name="Rounded Rectangle 2"/>
          <p:cNvSpPr/>
          <p:nvPr/>
        </p:nvSpPr>
        <p:spPr>
          <a:xfrm>
            <a:off x="731520" y="1828800"/>
            <a:ext cx="68580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training_curves.png"/>
          <p:cNvPicPr>
            <a:picLocks noChangeAspect="1"/>
          </p:cNvPicPr>
          <p:nvPr/>
        </p:nvPicPr>
        <p:blipFill>
          <a:blip r:embed="rId2"/>
          <a:stretch>
            <a:fillRect/>
          </a:stretch>
        </p:blipFill>
        <p:spPr>
          <a:xfrm>
            <a:off x="804672" y="1901952"/>
            <a:ext cx="6711696" cy="4242816"/>
          </a:xfrm>
          <a:prstGeom prst="rect">
            <a:avLst/>
          </a:prstGeom>
        </p:spPr>
      </p:pic>
      <p:sp>
        <p:nvSpPr>
          <p:cNvPr id="5" name="Rounded Rectangle 4"/>
          <p:cNvSpPr/>
          <p:nvPr/>
        </p:nvSpPr>
        <p:spPr>
          <a:xfrm>
            <a:off x="7772400" y="1828800"/>
            <a:ext cx="36877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2011680"/>
            <a:ext cx="3230575" cy="4023360"/>
          </a:xfrm>
          <a:prstGeom prst="rect">
            <a:avLst/>
          </a:prstGeom>
          <a:noFill/>
        </p:spPr>
        <p:txBody>
          <a:bodyPr wrap="square" lIns="0" tIns="0" rIns="0" bIns="0">
            <a:spAutoFit/>
          </a:bodyPr>
          <a:lstStyle/>
          <a:p>
            <a:pPr>
              <a:spcAft>
                <a:spcPts val="1000"/>
              </a:spcAft>
              <a:defRPr sz="1300" b="1">
                <a:solidFill>
                  <a:srgbClr val="38BDF8"/>
                </a:solidFill>
                <a:latin typeface="Arial"/>
              </a:defRPr>
            </a:pPr>
            <a:r>
              <a:t>OPTIMIZATION HIGHLIGHTS</a:t>
            </a:r>
          </a:p>
          <a:p>
            <a:pPr>
              <a:spcAft>
                <a:spcPts val="600"/>
              </a:spcAft>
              <a:defRPr sz="1100" b="1">
                <a:solidFill>
                  <a:srgbClr val="F8FAFC"/>
                </a:solidFill>
                <a:latin typeface="Arial"/>
              </a:defRPr>
            </a:pPr>
            <a:r>
              <a:t>* Monotonic Convergence: </a:t>
            </a:r>
            <a:r>
              <a:rPr sz="1000">
                <a:solidFill>
                  <a:srgbClr val="E2E8F0"/>
                </a:solidFill>
                <a:latin typeface="Calibri"/>
              </a:rPr>
              <a:t>Training CTC loss exhibits steady, smooth decline across all datasets without loss divergence or NaN gradient explosions.</a:t>
            </a:r>
          </a:p>
          <a:p>
            <a:pPr>
              <a:spcAft>
                <a:spcPts val="600"/>
              </a:spcAft>
              <a:defRPr sz="1100" b="1">
                <a:solidFill>
                  <a:srgbClr val="F8FAFC"/>
                </a:solidFill>
                <a:latin typeface="Arial"/>
              </a:defRPr>
            </a:pPr>
            <a:r>
              <a:t>* Rapid Parzival Convergence: </a:t>
            </a:r>
            <a:r>
              <a:rPr sz="1000">
                <a:solidFill>
                  <a:srgbClr val="E2E8F0"/>
                </a:solidFill>
                <a:latin typeface="Calibri"/>
              </a:rPr>
              <a:t>Reaches 2.34% validation edit distance within only 10 epochs, demonstrating high sample efficiency on gothic script.</a:t>
            </a:r>
          </a:p>
          <a:p>
            <a:pPr>
              <a:spcAft>
                <a:spcPts val="600"/>
              </a:spcAft>
              <a:defRPr sz="1100" b="1">
                <a:solidFill>
                  <a:srgbClr val="F8FAFC"/>
                </a:solidFill>
                <a:latin typeface="Arial"/>
              </a:defRPr>
            </a:pPr>
            <a:r>
              <a:t>* ORAND-CAR-A Stabilization: </a:t>
            </a:r>
            <a:r>
              <a:rPr sz="1000">
                <a:solidFill>
                  <a:srgbClr val="E2E8F0"/>
                </a:solidFill>
                <a:latin typeface="Calibri"/>
              </a:rPr>
              <a:t>Check courtesy amounts reach 2.18% best validation edit distance at epoch 27, converging stably through epoch 35.</a:t>
            </a:r>
          </a:p>
          <a:p>
            <a:pPr>
              <a:spcAft>
                <a:spcPts val="600"/>
              </a:spcAft>
              <a:defRPr sz="1100" b="1">
                <a:solidFill>
                  <a:srgbClr val="F8FAFC"/>
                </a:solidFill>
                <a:latin typeface="Arial"/>
              </a:defRPr>
            </a:pPr>
            <a:r>
              <a:t>* IAM Step-Capped Optimization: </a:t>
            </a:r>
            <a:r>
              <a:rPr sz="1000">
                <a:solidFill>
                  <a:srgbClr val="E2E8F0"/>
                </a:solidFill>
                <a:latin typeface="Calibri"/>
              </a:rPr>
              <a:t>Rapid loss reduction from 94.75 to 3.40, achieving 5.66% validation normalized edit distance at epoch 12.</a:t>
            </a:r>
          </a:p>
          <a:p>
            <a:pPr>
              <a:spcAft>
                <a:spcPts val="600"/>
              </a:spcAft>
              <a:defRPr sz="1100" b="1">
                <a:solidFill>
                  <a:srgbClr val="F8FAFC"/>
                </a:solidFill>
                <a:latin typeface="Arial"/>
              </a:defRPr>
            </a:pPr>
            <a:r>
              <a:t>* Zero Overfitting Divergence: </a:t>
            </a:r>
            <a:r>
              <a:rPr sz="1000">
                <a:solidFill>
                  <a:srgbClr val="E2E8F0"/>
                </a:solidFill>
                <a:latin typeface="Calibri"/>
              </a:rPr>
              <a:t>Validation loss closely tracks training loss, confirming that residual gating and dropout (0.1) provide robust regularization.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ARCHITECTURAL RATIONALE</a:t>
            </a:r>
          </a:p>
          <a:p>
            <a:pPr>
              <a:spcAft>
                <a:spcPts val="200"/>
              </a:spcAft>
              <a:defRPr sz="2100" b="1">
                <a:solidFill>
                  <a:srgbClr val="F8FAFC"/>
                </a:solidFill>
                <a:latin typeface="Arial"/>
              </a:defRPr>
            </a:pPr>
            <a:r>
              <a:t>Why the Hybrid Design Works: Structural Inductive Biases</a:t>
            </a:r>
          </a:p>
          <a:p>
            <a:pPr>
              <a:defRPr sz="1150">
                <a:solidFill>
                  <a:srgbClr val="94A3B8"/>
                </a:solidFill>
                <a:latin typeface="Calibri"/>
              </a:defRPr>
            </a:pPr>
            <a:r>
              <a:t>Analyzing the concrete computational contribution of each architectural subsystem</a:t>
            </a:r>
          </a:p>
        </p:txBody>
      </p:sp>
      <p:sp>
        <p:nvSpPr>
          <p:cNvPr id="3" name="Rounded Rectangle 2"/>
          <p:cNvSpPr/>
          <p:nvPr/>
        </p:nvSpPr>
        <p:spPr>
          <a:xfrm>
            <a:off x="731520"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Spatial Gating (RQ2)</a:t>
            </a:r>
          </a:p>
          <a:p>
            <a:pPr>
              <a:spcAft>
                <a:spcPts val="1000"/>
              </a:spcAft>
              <a:defRPr sz="1100" b="1">
                <a:solidFill>
                  <a:srgbClr val="94A3B8"/>
                </a:solidFill>
                <a:latin typeface="Calibri"/>
              </a:defRPr>
            </a:pPr>
            <a:r>
              <a:t>Background Texture Suppression</a:t>
            </a:r>
          </a:p>
          <a:p>
            <a:pPr>
              <a:defRPr sz="1100">
                <a:solidFill>
                  <a:srgbClr val="E2E8F0"/>
                </a:solidFill>
                <a:latin typeface="Calibri"/>
              </a:defRPr>
            </a:pPr>
            <a:r>
              <a:t>Standard convolutions propagate low-contrast paper grain and ink bleed. Learned gating tensor G = sigma(Wg*X + bg) dynamically zeroes out non-ink background pixels, preserving stroke representations before spatial pooling.</a:t>
            </a:r>
          </a:p>
        </p:txBody>
      </p:sp>
      <p:sp>
        <p:nvSpPr>
          <p:cNvPr id="5" name="Rounded Rectangle 4"/>
          <p:cNvSpPr/>
          <p:nvPr/>
        </p:nvSpPr>
        <p:spPr>
          <a:xfrm>
            <a:off x="3453688"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36568"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Multi-Head Attention (RQ3)</a:t>
            </a:r>
          </a:p>
          <a:p>
            <a:pPr>
              <a:spcAft>
                <a:spcPts val="1000"/>
              </a:spcAft>
              <a:defRPr sz="1100" b="1">
                <a:solidFill>
                  <a:srgbClr val="94A3B8"/>
                </a:solidFill>
                <a:latin typeface="Calibri"/>
              </a:defRPr>
            </a:pPr>
            <a:r>
              <a:t>Horizontal Stroke Continuity</a:t>
            </a:r>
          </a:p>
          <a:p>
            <a:pPr>
              <a:defRPr sz="1100">
                <a:solidFill>
                  <a:srgbClr val="E2E8F0"/>
                </a:solidFill>
                <a:latin typeface="Calibri"/>
              </a:defRPr>
            </a:pPr>
            <a:r>
              <a:t>2-Head Self-Attention (h=2, dk=8) captures pairwise contextual relationships across all 256 time steps, allowing character stems to attend directly to distant ascenders/descenders across cursive words.</a:t>
            </a:r>
          </a:p>
        </p:txBody>
      </p:sp>
      <p:sp>
        <p:nvSpPr>
          <p:cNvPr id="7" name="Rounded Rectangle 6"/>
          <p:cNvSpPr/>
          <p:nvPr/>
        </p:nvSpPr>
        <p:spPr>
          <a:xfrm>
            <a:off x="6175856"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8736"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Bidirectional Recurrence</a:t>
            </a:r>
          </a:p>
          <a:p>
            <a:pPr>
              <a:spcAft>
                <a:spcPts val="1000"/>
              </a:spcAft>
              <a:defRPr sz="1100" b="1">
                <a:solidFill>
                  <a:srgbClr val="94A3B8"/>
                </a:solidFill>
                <a:latin typeface="Calibri"/>
              </a:defRPr>
            </a:pPr>
            <a:r>
              <a:t>Past &amp; Future Spelling Context</a:t>
            </a:r>
          </a:p>
          <a:p>
            <a:pPr>
              <a:defRPr sz="1100">
                <a:solidFill>
                  <a:srgbClr val="E2E8F0"/>
                </a:solidFill>
                <a:latin typeface="Calibri"/>
              </a:defRPr>
            </a:pPr>
            <a:r>
              <a:t>3 stacked BiLSTM layers (256 units/step) provide bidirectional sequence modeling, eliminating character transposition errors and enforcing grammatical and lexical language flow.</a:t>
            </a:r>
          </a:p>
        </p:txBody>
      </p:sp>
      <p:sp>
        <p:nvSpPr>
          <p:cNvPr id="9" name="Rounded Rectangle 8"/>
          <p:cNvSpPr/>
          <p:nvPr/>
        </p:nvSpPr>
        <p:spPr>
          <a:xfrm>
            <a:off x="8898024"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80904"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Scale-Adaptive Engine</a:t>
            </a:r>
          </a:p>
          <a:p>
            <a:pPr>
              <a:spcAft>
                <a:spcPts val="1000"/>
              </a:spcAft>
              <a:defRPr sz="1100" b="1">
                <a:solidFill>
                  <a:srgbClr val="94A3B8"/>
                </a:solidFill>
                <a:latin typeface="Calibri"/>
              </a:defRPr>
            </a:pPr>
            <a:r>
              <a:t>Dynamic Resolution Standardizer</a:t>
            </a:r>
          </a:p>
          <a:p>
            <a:pPr>
              <a:defRPr sz="1100">
                <a:solidFill>
                  <a:srgbClr val="E2E8F0"/>
                </a:solidFill>
                <a:latin typeface="Calibri"/>
              </a:defRPr>
            </a:pPr>
            <a:r>
              <a:t>Grounding all conditioning operators in the median stroke height (hm) ensures that 150 DPI mobile photos and 600 DPI scans are mapped into standardized stroke representations.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COMPETITIVE BENCHMARKS</a:t>
            </a:r>
          </a:p>
          <a:p>
            <a:pPr>
              <a:spcAft>
                <a:spcPts val="200"/>
              </a:spcAft>
              <a:defRPr sz="2100" b="1">
                <a:solidFill>
                  <a:srgbClr val="F8FAFC"/>
                </a:solidFill>
                <a:latin typeface="Arial"/>
              </a:defRPr>
            </a:pPr>
            <a:r>
              <a:t>State-of-the-Art Comparison (2020--2026 Architectures)</a:t>
            </a:r>
          </a:p>
          <a:p>
            <a:pPr>
              <a:defRPr sz="1150">
                <a:solidFill>
                  <a:srgbClr val="94A3B8"/>
                </a:solidFill>
                <a:latin typeface="Calibri"/>
              </a:defRPr>
            </a:pPr>
            <a:r>
              <a:t>Comparing parameter efficiency and recognition accuracy against published baselines</a:t>
            </a:r>
          </a:p>
        </p:txBody>
      </p:sp>
      <p:graphicFrame>
        <p:nvGraphicFramePr>
          <p:cNvPr id="3" name="Table 2"/>
          <p:cNvGraphicFramePr>
            <a:graphicFrameLocks noGrp="1"/>
          </p:cNvGraphicFramePr>
          <p:nvPr/>
        </p:nvGraphicFramePr>
        <p:xfrm>
          <a:off x="731520" y="1828800"/>
          <a:ext cx="6217920" cy="4023360"/>
        </p:xfrm>
        <a:graphic>
          <a:graphicData uri="http://schemas.openxmlformats.org/drawingml/2006/table">
            <a:tbl>
              <a:tblPr firstRow="1" bandRow="1">
                <a:tableStyleId>{5C22544A-7EE6-4342-B048-85BDC9FD1C3A}</a:tableStyleId>
              </a:tblPr>
              <a:tblGrid>
                <a:gridCol w="1828800"/>
                <a:gridCol w="822960"/>
                <a:gridCol w="822960"/>
                <a:gridCol w="822960"/>
                <a:gridCol w="1005840"/>
                <a:gridCol w="914400"/>
              </a:tblGrid>
              <a:tr h="502920">
                <a:tc>
                  <a:txBody>
                    <a:bodyPr/>
                    <a:lstStyle/>
                    <a:p>
                      <a:pPr algn="l">
                        <a:defRPr sz="1000" b="1">
                          <a:solidFill>
                            <a:srgbClr val="38BDF8"/>
                          </a:solidFill>
                          <a:latin typeface="Arial"/>
                        </a:defRPr>
                      </a:pPr>
                      <a:r>
                        <a:t>Model / Architecture</a:t>
                      </a:r>
                    </a:p>
                  </a:txBody>
                  <a:tcPr>
                    <a:solidFill>
                      <a:srgbClr val="0F172A"/>
                    </a:solidFill>
                  </a:tcPr>
                </a:tc>
                <a:tc>
                  <a:txBody>
                    <a:bodyPr/>
                    <a:lstStyle/>
                    <a:p>
                      <a:pPr algn="l">
                        <a:defRPr sz="1000" b="1">
                          <a:solidFill>
                            <a:srgbClr val="38BDF8"/>
                          </a:solidFill>
                          <a:latin typeface="Arial"/>
                        </a:defRPr>
                      </a:pPr>
                      <a:r>
                        <a:t>Venue</a:t>
                      </a:r>
                    </a:p>
                  </a:txBody>
                  <a:tcPr>
                    <a:solidFill>
                      <a:srgbClr val="0F172A"/>
                    </a:solidFill>
                  </a:tcPr>
                </a:tc>
                <a:tc>
                  <a:txBody>
                    <a:bodyPr/>
                    <a:lstStyle/>
                    <a:p>
                      <a:pPr algn="l">
                        <a:defRPr sz="1000" b="1">
                          <a:solidFill>
                            <a:srgbClr val="38BDF8"/>
                          </a:solidFill>
                          <a:latin typeface="Arial"/>
                        </a:defRPr>
                      </a:pPr>
                      <a:r>
                        <a:t>Pretrained?</a:t>
                      </a:r>
                    </a:p>
                  </a:txBody>
                  <a:tcPr>
                    <a:solidFill>
                      <a:srgbClr val="0F172A"/>
                    </a:solidFill>
                  </a:tcPr>
                </a:tc>
                <a:tc>
                  <a:txBody>
                    <a:bodyPr/>
                    <a:lstStyle/>
                    <a:p>
                      <a:pPr algn="ctr">
                        <a:defRPr sz="1000" b="1">
                          <a:solidFill>
                            <a:srgbClr val="38BDF8"/>
                          </a:solidFill>
                          <a:latin typeface="Arial"/>
                        </a:defRPr>
                      </a:pPr>
                      <a:r>
                        <a:t>Params</a:t>
                      </a:r>
                    </a:p>
                  </a:txBody>
                  <a:tcPr>
                    <a:solidFill>
                      <a:srgbClr val="0F172A"/>
                    </a:solidFill>
                  </a:tcPr>
                </a:tc>
                <a:tc>
                  <a:txBody>
                    <a:bodyPr/>
                    <a:lstStyle/>
                    <a:p>
                      <a:pPr algn="ctr">
                        <a:defRPr sz="1000" b="1">
                          <a:solidFill>
                            <a:srgbClr val="38BDF8"/>
                          </a:solidFill>
                          <a:latin typeface="Arial"/>
                        </a:defRPr>
                      </a:pPr>
                      <a:r>
                        <a:t>Parzival CER</a:t>
                      </a:r>
                    </a:p>
                  </a:txBody>
                  <a:tcPr>
                    <a:solidFill>
                      <a:srgbClr val="0F172A"/>
                    </a:solidFill>
                  </a:tcPr>
                </a:tc>
                <a:tc>
                  <a:txBody>
                    <a:bodyPr/>
                    <a:lstStyle/>
                    <a:p>
                      <a:pPr algn="ctr">
                        <a:defRPr sz="1000" b="1">
                          <a:solidFill>
                            <a:srgbClr val="38BDF8"/>
                          </a:solidFill>
                          <a:latin typeface="Arial"/>
                        </a:defRPr>
                      </a:pPr>
                      <a:r>
                        <a:t>IAM Val</a:t>
                      </a:r>
                    </a:p>
                  </a:txBody>
                  <a:tcPr>
                    <a:solidFill>
                      <a:srgbClr val="0F172A"/>
                    </a:solidFill>
                  </a:tcPr>
                </a:tc>
              </a:tr>
              <a:tr h="502920">
                <a:tc>
                  <a:txBody>
                    <a:bodyPr/>
                    <a:lstStyle/>
                    <a:p>
                      <a:pPr algn="l">
                        <a:defRPr sz="950">
                          <a:solidFill>
                            <a:srgbClr val="F8FAFC"/>
                          </a:solidFill>
                          <a:latin typeface="Arial"/>
                        </a:defRPr>
                      </a:pPr>
                      <a:r>
                        <a:t>Puigcerver</a:t>
                      </a:r>
                    </a:p>
                  </a:txBody>
                  <a:tcPr>
                    <a:solidFill>
                      <a:srgbClr val="0F1523"/>
                    </a:solidFill>
                  </a:tcPr>
                </a:tc>
                <a:tc>
                  <a:txBody>
                    <a:bodyPr/>
                    <a:lstStyle/>
                    <a:p>
                      <a:pPr algn="l">
                        <a:defRPr sz="950">
                          <a:solidFill>
                            <a:srgbClr val="F8FAFC"/>
                          </a:solidFill>
                          <a:latin typeface="Arial"/>
                        </a:defRPr>
                      </a:pPr>
                      <a:r>
                        <a:t>ICDAR 17</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9.6 M</a:t>
                      </a:r>
                    </a:p>
                  </a:txBody>
                  <a:tcPr>
                    <a:solidFill>
                      <a:srgbClr val="0F1523"/>
                    </a:solidFill>
                  </a:tcPr>
                </a:tc>
                <a:tc>
                  <a:txBody>
                    <a:bodyPr/>
                    <a:lstStyle/>
                    <a:p>
                      <a:pPr algn="ctr">
                        <a:defRPr sz="950">
                          <a:solidFill>
                            <a:srgbClr val="F8FAFC"/>
                          </a:solidFill>
                          <a:latin typeface="Arial"/>
                        </a:defRPr>
                      </a:pPr>
                      <a:r>
                        <a:t>4.12%</a:t>
                      </a:r>
                    </a:p>
                  </a:txBody>
                  <a:tcPr>
                    <a:solidFill>
                      <a:srgbClr val="0F1523"/>
                    </a:solidFill>
                  </a:tcPr>
                </a:tc>
                <a:tc>
                  <a:txBody>
                    <a:bodyPr/>
                    <a:lstStyle/>
                    <a:p>
                      <a:pPr algn="ctr">
                        <a:defRPr sz="950">
                          <a:solidFill>
                            <a:srgbClr val="F8FAFC"/>
                          </a:solidFill>
                          <a:latin typeface="Arial"/>
                        </a:defRPr>
                      </a:pPr>
                      <a:r>
                        <a:t>5.80%</a:t>
                      </a:r>
                    </a:p>
                  </a:txBody>
                  <a:tcPr>
                    <a:solidFill>
                      <a:srgbClr val="0F1523"/>
                    </a:solidFill>
                  </a:tcPr>
                </a:tc>
              </a:tr>
              <a:tr h="502920">
                <a:tc>
                  <a:txBody>
                    <a:bodyPr/>
                    <a:lstStyle/>
                    <a:p>
                      <a:pPr algn="l">
                        <a:defRPr sz="950">
                          <a:solidFill>
                            <a:srgbClr val="F8FAFC"/>
                          </a:solidFill>
                          <a:latin typeface="Arial"/>
                        </a:defRPr>
                      </a:pPr>
                      <a:r>
                        <a:t>Bluche &amp; Messina</a:t>
                      </a:r>
                    </a:p>
                  </a:txBody>
                  <a:tcPr>
                    <a:solidFill>
                      <a:srgbClr val="131A2A"/>
                    </a:solidFill>
                  </a:tcPr>
                </a:tc>
                <a:tc>
                  <a:txBody>
                    <a:bodyPr/>
                    <a:lstStyle/>
                    <a:p>
                      <a:pPr algn="l">
                        <a:defRPr sz="950">
                          <a:solidFill>
                            <a:srgbClr val="F8FAFC"/>
                          </a:solidFill>
                          <a:latin typeface="Arial"/>
                        </a:defRPr>
                      </a:pPr>
                      <a:r>
                        <a:t>ICDAR 17</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4.2 M</a:t>
                      </a:r>
                    </a:p>
                  </a:txBody>
                  <a:tcPr>
                    <a:solidFill>
                      <a:srgbClr val="131A2A"/>
                    </a:solidFill>
                  </a:tcPr>
                </a:tc>
                <a:tc>
                  <a:txBody>
                    <a:bodyPr/>
                    <a:lstStyle/>
                    <a:p>
                      <a:pPr algn="ctr">
                        <a:defRPr sz="950">
                          <a:solidFill>
                            <a:srgbClr val="F8FAFC"/>
                          </a:solidFill>
                          <a:latin typeface="Arial"/>
                        </a:defRPr>
                      </a:pPr>
                      <a:r>
                        <a:t>5.40%</a:t>
                      </a:r>
                    </a:p>
                  </a:txBody>
                  <a:tcPr>
                    <a:solidFill>
                      <a:srgbClr val="131A2A"/>
                    </a:solidFill>
                  </a:tcPr>
                </a:tc>
                <a:tc>
                  <a:txBody>
                    <a:bodyPr/>
                    <a:lstStyle/>
                    <a:p>
                      <a:pPr algn="ctr">
                        <a:defRPr sz="950">
                          <a:solidFill>
                            <a:srgbClr val="F8FAFC"/>
                          </a:solidFill>
                          <a:latin typeface="Arial"/>
                        </a:defRPr>
                      </a:pPr>
                      <a:r>
                        <a:t>7.90%</a:t>
                      </a:r>
                    </a:p>
                  </a:txBody>
                  <a:tcPr>
                    <a:solidFill>
                      <a:srgbClr val="131A2A"/>
                    </a:solidFill>
                  </a:tcPr>
                </a:tc>
              </a:tr>
              <a:tr h="502920">
                <a:tc>
                  <a:txBody>
                    <a:bodyPr/>
                    <a:lstStyle/>
                    <a:p>
                      <a:pPr algn="l">
                        <a:defRPr sz="950">
                          <a:solidFill>
                            <a:srgbClr val="F8FAFC"/>
                          </a:solidFill>
                          <a:latin typeface="Arial"/>
                        </a:defRPr>
                      </a:pPr>
                      <a:r>
                        <a:t>Flor et al.</a:t>
                      </a:r>
                    </a:p>
                  </a:txBody>
                  <a:tcPr>
                    <a:solidFill>
                      <a:srgbClr val="0F1523"/>
                    </a:solidFill>
                  </a:tcPr>
                </a:tc>
                <a:tc>
                  <a:txBody>
                    <a:bodyPr/>
                    <a:lstStyle/>
                    <a:p>
                      <a:pPr algn="l">
                        <a:defRPr sz="950">
                          <a:solidFill>
                            <a:srgbClr val="F8FAFC"/>
                          </a:solidFill>
                          <a:latin typeface="Arial"/>
                        </a:defRPr>
                      </a:pPr>
                      <a:r>
                        <a:t>BRACIS 20</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8.8 M</a:t>
                      </a:r>
                    </a:p>
                  </a:txBody>
                  <a:tcPr>
                    <a:solidFill>
                      <a:srgbClr val="0F1523"/>
                    </a:solidFill>
                  </a:tcPr>
                </a:tc>
                <a:tc>
                  <a:txBody>
                    <a:bodyPr/>
                    <a:lstStyle/>
                    <a:p>
                      <a:pPr algn="ctr">
                        <a:defRPr sz="950">
                          <a:solidFill>
                            <a:srgbClr val="F8FAFC"/>
                          </a:solidFill>
                          <a:latin typeface="Arial"/>
                        </a:defRPr>
                      </a:pPr>
                      <a:r>
                        <a:t>3.85%</a:t>
                      </a:r>
                    </a:p>
                  </a:txBody>
                  <a:tcPr>
                    <a:solidFill>
                      <a:srgbClr val="0F1523"/>
                    </a:solidFill>
                  </a:tcPr>
                </a:tc>
                <a:tc>
                  <a:txBody>
                    <a:bodyPr/>
                    <a:lstStyle/>
                    <a:p>
                      <a:pPr algn="ctr">
                        <a:defRPr sz="950">
                          <a:solidFill>
                            <a:srgbClr val="F8FAFC"/>
                          </a:solidFill>
                          <a:latin typeface="Arial"/>
                        </a:defRPr>
                      </a:pPr>
                      <a:r>
                        <a:t>5.10%</a:t>
                      </a:r>
                    </a:p>
                  </a:txBody>
                  <a:tcPr>
                    <a:solidFill>
                      <a:srgbClr val="0F1523"/>
                    </a:solidFill>
                  </a:tcPr>
                </a:tc>
              </a:tr>
              <a:tr h="502920">
                <a:tc>
                  <a:txBody>
                    <a:bodyPr/>
                    <a:lstStyle/>
                    <a:p>
                      <a:pPr algn="l">
                        <a:defRPr sz="950">
                          <a:solidFill>
                            <a:srgbClr val="F8FAFC"/>
                          </a:solidFill>
                          <a:latin typeface="Arial"/>
                        </a:defRPr>
                      </a:pPr>
                      <a:r>
                        <a:t>TrOCR-Small</a:t>
                      </a:r>
                    </a:p>
                  </a:txBody>
                  <a:tcPr>
                    <a:solidFill>
                      <a:srgbClr val="131A2A"/>
                    </a:solidFill>
                  </a:tcPr>
                </a:tc>
                <a:tc>
                  <a:txBody>
                    <a:bodyPr/>
                    <a:lstStyle/>
                    <a:p>
                      <a:pPr algn="l">
                        <a:defRPr sz="950">
                          <a:solidFill>
                            <a:srgbClr val="F8FAFC"/>
                          </a:solidFill>
                          <a:latin typeface="Arial"/>
                        </a:defRPr>
                      </a:pPr>
                      <a:r>
                        <a:t>AAAI 23</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62.4 M</a:t>
                      </a:r>
                    </a:p>
                  </a:txBody>
                  <a:tcPr>
                    <a:solidFill>
                      <a:srgbClr val="131A2A"/>
                    </a:solidFill>
                  </a:tcPr>
                </a:tc>
                <a:tc>
                  <a:txBody>
                    <a:bodyPr/>
                    <a:lstStyle/>
                    <a:p>
                      <a:pPr algn="ctr">
                        <a:defRPr sz="950">
                          <a:solidFill>
                            <a:srgbClr val="F8FAFC"/>
                          </a:solidFill>
                          <a:latin typeface="Arial"/>
                        </a:defRPr>
                      </a:pPr>
                      <a:r>
                        <a:t>31.40%</a:t>
                      </a:r>
                    </a:p>
                  </a:txBody>
                  <a:tcPr>
                    <a:solidFill>
                      <a:srgbClr val="131A2A"/>
                    </a:solidFill>
                  </a:tcPr>
                </a:tc>
                <a:tc>
                  <a:txBody>
                    <a:bodyPr/>
                    <a:lstStyle/>
                    <a:p>
                      <a:pPr algn="ctr">
                        <a:defRPr sz="950">
                          <a:solidFill>
                            <a:srgbClr val="F8FAFC"/>
                          </a:solidFill>
                          <a:latin typeface="Arial"/>
                        </a:defRPr>
                      </a:pPr>
                      <a:r>
                        <a:t>38.40%</a:t>
                      </a:r>
                    </a:p>
                  </a:txBody>
                  <a:tcPr>
                    <a:solidFill>
                      <a:srgbClr val="131A2A"/>
                    </a:solidFill>
                  </a:tcPr>
                </a:tc>
              </a:tr>
              <a:tr h="502920">
                <a:tc>
                  <a:txBody>
                    <a:bodyPr/>
                    <a:lstStyle/>
                    <a:p>
                      <a:pPr algn="l">
                        <a:defRPr sz="950">
                          <a:solidFill>
                            <a:srgbClr val="F8FAFC"/>
                          </a:solidFill>
                          <a:latin typeface="Arial"/>
                        </a:defRPr>
                      </a:pPr>
                      <a:r>
                        <a:t>DAN (Doc Attn Net)</a:t>
                      </a:r>
                    </a:p>
                  </a:txBody>
                  <a:tcPr>
                    <a:solidFill>
                      <a:srgbClr val="0F1523"/>
                    </a:solidFill>
                  </a:tcPr>
                </a:tc>
                <a:tc>
                  <a:txBody>
                    <a:bodyPr/>
                    <a:lstStyle/>
                    <a:p>
                      <a:pPr algn="l">
                        <a:defRPr sz="950">
                          <a:solidFill>
                            <a:srgbClr val="F8FAFC"/>
                          </a:solidFill>
                          <a:latin typeface="Arial"/>
                        </a:defRPr>
                      </a:pPr>
                      <a:r>
                        <a:t>TPAMI 23</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24.5 M</a:t>
                      </a:r>
                    </a:p>
                  </a:txBody>
                  <a:tcPr>
                    <a:solidFill>
                      <a:srgbClr val="0F1523"/>
                    </a:solidFill>
                  </a:tcPr>
                </a:tc>
                <a:tc>
                  <a:txBody>
                    <a:bodyPr/>
                    <a:lstStyle/>
                    <a:p>
                      <a:pPr algn="ctr">
                        <a:defRPr sz="950">
                          <a:solidFill>
                            <a:srgbClr val="F8FAFC"/>
                          </a:solidFill>
                          <a:latin typeface="Arial"/>
                        </a:defRPr>
                      </a:pPr>
                      <a:r>
                        <a:t>3.20%</a:t>
                      </a:r>
                    </a:p>
                  </a:txBody>
                  <a:tcPr>
                    <a:solidFill>
                      <a:srgbClr val="0F1523"/>
                    </a:solidFill>
                  </a:tcPr>
                </a:tc>
                <a:tc>
                  <a:txBody>
                    <a:bodyPr/>
                    <a:lstStyle/>
                    <a:p>
                      <a:pPr algn="ctr">
                        <a:defRPr sz="950">
                          <a:solidFill>
                            <a:srgbClr val="F8FAFC"/>
                          </a:solidFill>
                          <a:latin typeface="Arial"/>
                        </a:defRPr>
                      </a:pPr>
                      <a:r>
                        <a:t>4.80%</a:t>
                      </a:r>
                    </a:p>
                  </a:txBody>
                  <a:tcPr>
                    <a:solidFill>
                      <a:srgbClr val="0F1523"/>
                    </a:solidFill>
                  </a:tcPr>
                </a:tc>
              </a:tr>
              <a:tr h="502920">
                <a:tc>
                  <a:txBody>
                    <a:bodyPr/>
                    <a:lstStyle/>
                    <a:p>
                      <a:pPr algn="l">
                        <a:defRPr sz="950">
                          <a:solidFill>
                            <a:srgbClr val="F8FAFC"/>
                          </a:solidFill>
                          <a:latin typeface="Arial"/>
                        </a:defRPr>
                      </a:pPr>
                      <a:r>
                        <a:t>HTR-VT (Vision Trans)</a:t>
                      </a:r>
                    </a:p>
                  </a:txBody>
                  <a:tcPr>
                    <a:solidFill>
                      <a:srgbClr val="131A2A"/>
                    </a:solidFill>
                  </a:tcPr>
                </a:tc>
                <a:tc>
                  <a:txBody>
                    <a:bodyPr/>
                    <a:lstStyle/>
                    <a:p>
                      <a:pPr algn="l">
                        <a:defRPr sz="950">
                          <a:solidFill>
                            <a:srgbClr val="F8FAFC"/>
                          </a:solidFill>
                          <a:latin typeface="Arial"/>
                        </a:defRPr>
                      </a:pPr>
                      <a:r>
                        <a:t>PR 2025</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18.2 M</a:t>
                      </a:r>
                    </a:p>
                  </a:txBody>
                  <a:tcPr>
                    <a:solidFill>
                      <a:srgbClr val="131A2A"/>
                    </a:solidFill>
                  </a:tcPr>
                </a:tc>
                <a:tc>
                  <a:txBody>
                    <a:bodyPr/>
                    <a:lstStyle/>
                    <a:p>
                      <a:pPr algn="ctr">
                        <a:defRPr sz="950">
                          <a:solidFill>
                            <a:srgbClr val="F8FAFC"/>
                          </a:solidFill>
                          <a:latin typeface="Arial"/>
                        </a:defRPr>
                      </a:pPr>
                      <a:r>
                        <a:t>4.90%</a:t>
                      </a:r>
                    </a:p>
                  </a:txBody>
                  <a:tcPr>
                    <a:solidFill>
                      <a:srgbClr val="131A2A"/>
                    </a:solidFill>
                  </a:tcPr>
                </a:tc>
                <a:tc>
                  <a:txBody>
                    <a:bodyPr/>
                    <a:lstStyle/>
                    <a:p>
                      <a:pPr algn="ctr">
                        <a:defRPr sz="950">
                          <a:solidFill>
                            <a:srgbClr val="F8FAFC"/>
                          </a:solidFill>
                          <a:latin typeface="Arial"/>
                        </a:defRPr>
                      </a:pPr>
                      <a:r>
                        <a:t>6.20%</a:t>
                      </a:r>
                    </a:p>
                  </a:txBody>
                  <a:tcPr>
                    <a:solidFill>
                      <a:srgbClr val="131A2A"/>
                    </a:solidFill>
                  </a:tcPr>
                </a:tc>
              </a:tr>
              <a:tr h="502920">
                <a:tc>
                  <a:txBody>
                    <a:bodyPr/>
                    <a:lstStyle/>
                    <a:p>
                      <a:pPr algn="l">
                        <a:defRPr sz="1000" b="1">
                          <a:solidFill>
                            <a:srgbClr val="34D399"/>
                          </a:solidFill>
                          <a:latin typeface="Arial"/>
                        </a:defRPr>
                      </a:pPr>
                      <a:r>
                        <a:t>Proposed Framework</a:t>
                      </a:r>
                    </a:p>
                  </a:txBody>
                  <a:tcPr>
                    <a:solidFill>
                      <a:srgbClr val="142337"/>
                    </a:solidFill>
                  </a:tcPr>
                </a:tc>
                <a:tc>
                  <a:txBody>
                    <a:bodyPr/>
                    <a:lstStyle/>
                    <a:p>
                      <a:pPr algn="l">
                        <a:defRPr sz="1000" b="1">
                          <a:solidFill>
                            <a:srgbClr val="34D399"/>
                          </a:solidFill>
                          <a:latin typeface="Arial"/>
                        </a:defRPr>
                      </a:pPr>
                      <a:r>
                        <a:t>Ours</a:t>
                      </a:r>
                    </a:p>
                  </a:txBody>
                  <a:tcPr>
                    <a:solidFill>
                      <a:srgbClr val="142337"/>
                    </a:solidFill>
                  </a:tcPr>
                </a:tc>
                <a:tc>
                  <a:txBody>
                    <a:bodyPr/>
                    <a:lstStyle/>
                    <a:p>
                      <a:pPr algn="l">
                        <a:defRPr sz="1000" b="1">
                          <a:solidFill>
                            <a:srgbClr val="34D399"/>
                          </a:solidFill>
                          <a:latin typeface="Arial"/>
                        </a:defRPr>
                      </a:pPr>
                      <a:r>
                        <a:t>No</a:t>
                      </a:r>
                    </a:p>
                  </a:txBody>
                  <a:tcPr>
                    <a:solidFill>
                      <a:srgbClr val="142337"/>
                    </a:solidFill>
                  </a:tcPr>
                </a:tc>
                <a:tc>
                  <a:txBody>
                    <a:bodyPr/>
                    <a:lstStyle/>
                    <a:p>
                      <a:pPr algn="ctr">
                        <a:defRPr sz="1000" b="1">
                          <a:solidFill>
                            <a:srgbClr val="34D399"/>
                          </a:solidFill>
                          <a:latin typeface="Arial"/>
                        </a:defRPr>
                      </a:pPr>
                      <a:r>
                        <a:t>1.58 M</a:t>
                      </a:r>
                    </a:p>
                  </a:txBody>
                  <a:tcPr>
                    <a:solidFill>
                      <a:srgbClr val="142337"/>
                    </a:solidFill>
                  </a:tcPr>
                </a:tc>
                <a:tc>
                  <a:txBody>
                    <a:bodyPr/>
                    <a:lstStyle/>
                    <a:p>
                      <a:pPr algn="ctr">
                        <a:defRPr sz="1000" b="1">
                          <a:solidFill>
                            <a:srgbClr val="34D399"/>
                          </a:solidFill>
                          <a:latin typeface="Arial"/>
                        </a:defRPr>
                      </a:pPr>
                      <a:r>
                        <a:t>2.48%</a:t>
                      </a:r>
                    </a:p>
                  </a:txBody>
                  <a:tcPr>
                    <a:solidFill>
                      <a:srgbClr val="142337"/>
                    </a:solidFill>
                  </a:tcPr>
                </a:tc>
                <a:tc>
                  <a:txBody>
                    <a:bodyPr/>
                    <a:lstStyle/>
                    <a:p>
                      <a:pPr algn="ctr">
                        <a:defRPr sz="1000" b="1">
                          <a:solidFill>
                            <a:srgbClr val="34D399"/>
                          </a:solidFill>
                          <a:latin typeface="Arial"/>
                        </a:defRPr>
                      </a:pPr>
                      <a:r>
                        <a:t>5.66%*</a:t>
                      </a:r>
                    </a:p>
                  </a:txBody>
                  <a:tcPr>
                    <a:solidFill>
                      <a:srgbClr val="142337"/>
                    </a:solidFill>
                  </a:tcPr>
                </a:tc>
              </a:tr>
            </a:tbl>
          </a:graphicData>
        </a:graphic>
      </p:graphicFrame>
      <p:sp>
        <p:nvSpPr>
          <p:cNvPr id="4" name="Rounded Rectangle 3"/>
          <p:cNvSpPr/>
          <p:nvPr/>
        </p:nvSpPr>
        <p:spPr>
          <a:xfrm>
            <a:off x="7132320" y="1828800"/>
            <a:ext cx="4327855" cy="402336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benchmark_comparison.png"/>
          <p:cNvPicPr>
            <a:picLocks noChangeAspect="1"/>
          </p:cNvPicPr>
          <p:nvPr/>
        </p:nvPicPr>
        <p:blipFill>
          <a:blip r:embed="rId2"/>
          <a:stretch>
            <a:fillRect/>
          </a:stretch>
        </p:blipFill>
        <p:spPr>
          <a:xfrm>
            <a:off x="7205472" y="1901952"/>
            <a:ext cx="4181551" cy="3877056"/>
          </a:xfrm>
          <a:prstGeom prst="rect">
            <a:avLst/>
          </a:prstGeom>
        </p:spPr>
      </p:pic>
      <p:sp>
        <p:nvSpPr>
          <p:cNvPr id="6" name="TextBox 5"/>
          <p:cNvSpPr txBox="1"/>
          <p:nvPr/>
        </p:nvSpPr>
        <p:spPr>
          <a:xfrm>
            <a:off x="731520" y="5989320"/>
            <a:ext cx="10698480" cy="365760"/>
          </a:xfrm>
          <a:prstGeom prst="rect">
            <a:avLst/>
          </a:prstGeom>
          <a:noFill/>
        </p:spPr>
        <p:txBody>
          <a:bodyPr wrap="none">
            <a:spAutoFit/>
          </a:bodyPr>
          <a:lstStyle/>
          <a:p>
            <a:pPr>
              <a:defRPr sz="950">
                <a:solidFill>
                  <a:srgbClr val="94A3B8"/>
                </a:solidFill>
                <a:latin typeface="Calibri"/>
              </a:defRPr>
            </a:pPr>
            <a:r>
              <a:t>*Note: IAM Combined reports best validation edit distance at epoch 12. Proposed model achieves lowest CER (2.48%) with 39.5x fewer parameters than TrOCR.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DIAGNOSTIC FINDING</a:t>
            </a:r>
          </a:p>
          <a:p>
            <a:pPr>
              <a:spcAft>
                <a:spcPts val="200"/>
              </a:spcAft>
              <a:defRPr sz="2100" b="1">
                <a:solidFill>
                  <a:srgbClr val="F8FAFC"/>
                </a:solidFill>
                <a:latin typeface="Arial"/>
              </a:defRPr>
            </a:pPr>
            <a:r>
              <a:t>Analysis of Generalization Gap on CVL Digits</a:t>
            </a:r>
          </a:p>
          <a:p>
            <a:pPr>
              <a:defRPr sz="1150">
                <a:solidFill>
                  <a:srgbClr val="94A3B8"/>
                </a:solidFill>
                <a:latin typeface="Calibri"/>
              </a:defRPr>
            </a:pPr>
            <a:r>
              <a:t>Transparent empirical investigation of the 6.93% validation edit distance vs. 50.78% test CER gap</a:t>
            </a:r>
          </a:p>
        </p:txBody>
      </p:sp>
      <p:sp>
        <p:nvSpPr>
          <p:cNvPr id="3" name="Rounded Rectangle 2"/>
          <p:cNvSpPr/>
          <p:nvPr/>
        </p:nvSpPr>
        <p:spPr>
          <a:xfrm>
            <a:off x="731520" y="1828800"/>
            <a:ext cx="54864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5029200" cy="4023360"/>
          </a:xfrm>
          <a:prstGeom prst="rect">
            <a:avLst/>
          </a:prstGeom>
          <a:noFill/>
        </p:spPr>
        <p:txBody>
          <a:bodyPr wrap="square" lIns="0" tIns="0" rIns="0" bIns="0">
            <a:spAutoFit/>
          </a:bodyPr>
          <a:lstStyle/>
          <a:p>
            <a:pPr>
              <a:spcAft>
                <a:spcPts val="800"/>
              </a:spcAft>
              <a:defRPr sz="1150" b="1">
                <a:solidFill>
                  <a:srgbClr val="FBBF24"/>
                </a:solidFill>
                <a:latin typeface="Arial"/>
              </a:defRPr>
            </a:pPr>
            <a:r>
              <a:t>* Empirical Observation: </a:t>
            </a:r>
            <a:r>
              <a:rPr sz="1050">
                <a:solidFill>
                  <a:srgbClr val="E2E8F0"/>
                </a:solidFill>
                <a:latin typeface="Calibri"/>
              </a:rPr>
              <a:t>The CVL Digits model converges smoothly during training to 6.93% validation edit distance, but degrades to 50.78% CER on the 6,698 test strings.</a:t>
            </a:r>
          </a:p>
          <a:p>
            <a:pPr>
              <a:spcAft>
                <a:spcPts val="800"/>
              </a:spcAft>
              <a:defRPr sz="1150" b="1">
                <a:solidFill>
                  <a:srgbClr val="38BDF8"/>
                </a:solidFill>
                <a:latin typeface="Arial"/>
              </a:defRPr>
            </a:pPr>
            <a:r>
              <a:t>* Absence of Lexical Priors: </a:t>
            </a:r>
            <a:r>
              <a:rPr sz="1050">
                <a:solidFill>
                  <a:srgbClr val="E2E8F0"/>
                </a:solidFill>
                <a:latin typeface="Calibri"/>
              </a:rPr>
              <a:t>Unlike natural language prose (IAM) or medieval German (Parzival), numeral strings possess no transition priors (any digit 0-9 can follow any digit), making CTC beam search sensitive to stroke confusion.</a:t>
            </a:r>
          </a:p>
          <a:p>
            <a:pPr>
              <a:spcAft>
                <a:spcPts val="800"/>
              </a:spcAft>
              <a:defRPr sz="1150" b="1">
                <a:solidFill>
                  <a:srgbClr val="38BDF8"/>
                </a:solidFill>
                <a:latin typeface="Arial"/>
              </a:defRPr>
            </a:pPr>
            <a:r>
              <a:t>* Distributional Sequence Length Drift: </a:t>
            </a:r>
            <a:r>
              <a:rPr sz="1050">
                <a:solidFill>
                  <a:srgbClr val="E2E8F0"/>
                </a:solidFill>
                <a:latin typeface="Calibri"/>
              </a:rPr>
              <a:t>The official CVL test set contains extreme writer variations, stroke thickness drift, and multi-digit slant angles absent from the 1,073 training lines.</a:t>
            </a:r>
          </a:p>
          <a:p>
            <a:pPr>
              <a:spcAft>
                <a:spcPts val="800"/>
              </a:spcAft>
              <a:defRPr sz="1150" b="1">
                <a:solidFill>
                  <a:srgbClr val="38BDF8"/>
                </a:solidFill>
                <a:latin typeface="Arial"/>
              </a:defRPr>
            </a:pPr>
            <a:r>
              <a:t>* Open Research Hypothesis: </a:t>
            </a:r>
            <a:r>
              <a:rPr sz="1050">
                <a:solidFill>
                  <a:srgbClr val="E2E8F0"/>
                </a:solidFill>
                <a:latin typeface="Calibri"/>
              </a:rPr>
              <a:t>We frame this finding as an open research hypothesis: unconstrained numeral recognition requires length-invariant decoders or synthetic length augmentation rather than standard CTC sequence decoders.</a:t>
            </a:r>
          </a:p>
        </p:txBody>
      </p:sp>
      <p:sp>
        <p:nvSpPr>
          <p:cNvPr id="5" name="Rounded Rectangle 4"/>
          <p:cNvSpPr/>
          <p:nvPr/>
        </p:nvSpPr>
        <p:spPr>
          <a:xfrm>
            <a:off x="6400800" y="1828800"/>
            <a:ext cx="50593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generalization_gap.png"/>
          <p:cNvPicPr>
            <a:picLocks noChangeAspect="1"/>
          </p:cNvPicPr>
          <p:nvPr/>
        </p:nvPicPr>
        <p:blipFill>
          <a:blip r:embed="rId2"/>
          <a:stretch>
            <a:fillRect/>
          </a:stretch>
        </p:blipFill>
        <p:spPr>
          <a:xfrm>
            <a:off x="6473952" y="1901952"/>
            <a:ext cx="4913071" cy="424281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TECHNICAL PIPELINE</a:t>
            </a:r>
          </a:p>
          <a:p>
            <a:pPr>
              <a:spcAft>
                <a:spcPts val="200"/>
              </a:spcAft>
              <a:defRPr sz="2100" b="1">
                <a:solidFill>
                  <a:srgbClr val="F8FAFC"/>
                </a:solidFill>
                <a:latin typeface="Arial"/>
              </a:defRPr>
            </a:pPr>
            <a:r>
              <a:t>Multi-Dataset Execution Flow in tutorial_colab.ipynb</a:t>
            </a:r>
          </a:p>
          <a:p>
            <a:pPr>
              <a:defRPr sz="1150">
                <a:solidFill>
                  <a:srgbClr val="94A3B8"/>
                </a:solidFill>
                <a:latin typeface="Calibri"/>
              </a:defRPr>
            </a:pPr>
            <a:r>
              <a:t>Zero-setup inference architecture from raw uncalibrated image upload to structured transcription</a:t>
            </a:r>
          </a:p>
        </p:txBody>
      </p:sp>
      <p:sp>
        <p:nvSpPr>
          <p:cNvPr id="3" name="TextBox 2"/>
          <p:cNvSpPr txBox="1"/>
          <p:nvPr/>
        </p:nvSpPr>
        <p:spPr>
          <a:xfrm>
            <a:off x="731520" y="1920240"/>
            <a:ext cx="10698480" cy="4389120"/>
          </a:xfrm>
          <a:prstGeom prst="rect">
            <a:avLst/>
          </a:prstGeom>
          <a:noFill/>
        </p:spPr>
        <p:txBody>
          <a:bodyPr wrap="square" lIns="0" tIns="0" rIns="0" bIns="0">
            <a:spAutoFit/>
          </a:bodyPr>
          <a:lstStyle/>
          <a:p>
            <a:pPr>
              <a:spcAft>
                <a:spcPts val="1200"/>
              </a:spcAft>
              <a:defRPr sz="1400" b="1">
                <a:solidFill>
                  <a:srgbClr val="38BDF8"/>
                </a:solidFill>
                <a:latin typeface="Arial"/>
              </a:defRPr>
            </a:pPr>
            <a:r>
              <a:t>[Phase 1]  Step 1: Document Upload: </a:t>
            </a:r>
            <a:r>
              <a:rPr sz="1250">
                <a:solidFill>
                  <a:srgbClr val="E2E8F0"/>
                </a:solidFill>
                <a:latin typeface="Calibri"/>
              </a:rPr>
              <a:t>Image is received via web UI or Colab files.upload(). Supports uncalibrated mobile photos, archival scans, and ruled sheets.</a:t>
            </a:r>
          </a:p>
          <a:p>
            <a:pPr>
              <a:spcAft>
                <a:spcPts val="1200"/>
              </a:spcAft>
              <a:defRPr sz="1400" b="1">
                <a:solidFill>
                  <a:srgbClr val="38BDF8"/>
                </a:solidFill>
                <a:latin typeface="Arial"/>
              </a:defRPr>
            </a:pPr>
            <a:r>
              <a:t>[Phase 2]  Step 2: Scale-Adaptive Normalization: </a:t>
            </a:r>
            <a:r>
              <a:rPr sz="1250">
                <a:solidFill>
                  <a:srgbClr val="E2E8F0"/>
                </a:solidFill>
                <a:latin typeface="Calibri"/>
              </a:rPr>
              <a:t>Computes median character height (med_h), divides by morphological closure background, and performs angular deskewing.</a:t>
            </a:r>
          </a:p>
          <a:p>
            <a:pPr>
              <a:spcAft>
                <a:spcPts val="1200"/>
              </a:spcAft>
              <a:defRPr sz="1400" b="1">
                <a:solidFill>
                  <a:srgbClr val="38BDF8"/>
                </a:solidFill>
                <a:latin typeface="Arial"/>
              </a:defRPr>
            </a:pPr>
            <a:r>
              <a:t>[Phase 3]  Step 3: Line Slicing &amp; Doodle Filter: </a:t>
            </a:r>
            <a:r>
              <a:rPr sz="1250">
                <a:solidFill>
                  <a:srgbClr val="E2E8F0"/>
                </a:solidFill>
                <a:latin typeface="Calibri"/>
              </a:rPr>
              <a:t>Projection valley splitting extracts text line strips; two-tier aspect-ratio filter discards squarish non-text doodles.</a:t>
            </a:r>
          </a:p>
          <a:p>
            <a:pPr>
              <a:spcAft>
                <a:spcPts val="1200"/>
              </a:spcAft>
              <a:defRPr sz="1400" b="1">
                <a:solidFill>
                  <a:srgbClr val="38BDF8"/>
                </a:solidFill>
                <a:latin typeface="Arial"/>
              </a:defRPr>
            </a:pPr>
            <a:r>
              <a:t>[Phase 4]  Step 4: Deep Neural Recognition: </a:t>
            </a:r>
            <a:r>
              <a:rPr sz="1250">
                <a:solidFill>
                  <a:srgbClr val="E2E8F0"/>
                </a:solidFill>
                <a:latin typeface="Calibri"/>
              </a:rPr>
              <a:t>Each 64x1024 line strip passes through 7 Conv stages + 6 Gated blocks + 2-head MHSA + 3x BiLSTM (1.58M params).</a:t>
            </a:r>
          </a:p>
          <a:p>
            <a:pPr>
              <a:spcAft>
                <a:spcPts val="1200"/>
              </a:spcAft>
              <a:defRPr sz="1400" b="1">
                <a:solidFill>
                  <a:srgbClr val="38BDF8"/>
                </a:solidFill>
                <a:latin typeface="Arial"/>
              </a:defRPr>
            </a:pPr>
            <a:r>
              <a:t>[Phase 5]  Step 5: CTC Beam Decoding: </a:t>
            </a:r>
            <a:r>
              <a:rPr sz="1250">
                <a:solidFill>
                  <a:srgbClr val="E2E8F0"/>
                </a:solidFill>
                <a:latin typeface="Calibri"/>
              </a:rPr>
              <a:t>Beam search decoding (width=32) transcribes probability matrices into finalized text strings with beam-search-derived likelihoods.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REAL-WORLD DEPLOYMENT</a:t>
            </a:r>
          </a:p>
          <a:p>
            <a:pPr>
              <a:spcAft>
                <a:spcPts val="200"/>
              </a:spcAft>
              <a:defRPr sz="2100" b="1">
                <a:solidFill>
                  <a:srgbClr val="F8FAFC"/>
                </a:solidFill>
                <a:latin typeface="Arial"/>
              </a:defRPr>
            </a:pPr>
            <a:r>
              <a:t>Operational Impact Across Three High-Stakes Domains</a:t>
            </a:r>
          </a:p>
          <a:p>
            <a:pPr>
              <a:defRPr sz="1150">
                <a:solidFill>
                  <a:srgbClr val="94A3B8"/>
                </a:solidFill>
                <a:latin typeface="Calibri"/>
              </a:defRPr>
            </a:pPr>
            <a:r>
              <a:t>Deploying compact offline HTR across healthcare, banking, and digital humanities</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Clinical Healthcare Notes</a:t>
            </a:r>
          </a:p>
          <a:p>
            <a:pPr>
              <a:spcAft>
                <a:spcPts val="1200"/>
              </a:spcAft>
              <a:defRPr sz="1100" b="1">
                <a:solidFill>
                  <a:srgbClr val="94A3B8"/>
                </a:solidFill>
                <a:latin typeface="Calibri"/>
              </a:defRPr>
            </a:pPr>
            <a:r>
              <a:t>Medical Prescriptions &amp; Dosages</a:t>
            </a:r>
          </a:p>
          <a:p>
            <a:pPr>
              <a:defRPr sz="1150">
                <a:solidFill>
                  <a:srgbClr val="E2E8F0"/>
                </a:solidFill>
                <a:latin typeface="Calibri"/>
              </a:defRPr>
            </a:pPr>
            <a:r>
              <a:t>Digitizing hand-scribed physician prescriptions where Latin abbreviations (b.i.d., 1-0-1) and numeric dosages (500mg, 650mg) require zero-error transcription without cloud latency.</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Financial Document Automation</a:t>
            </a:r>
          </a:p>
          <a:p>
            <a:pPr>
              <a:spcAft>
                <a:spcPts val="1200"/>
              </a:spcAft>
              <a:defRPr sz="1100" b="1">
                <a:solidFill>
                  <a:srgbClr val="94A3B8"/>
                </a:solidFill>
                <a:latin typeface="Calibri"/>
              </a:defRPr>
            </a:pPr>
            <a:r>
              <a:t>Bank Check Courtesy Amounts</a:t>
            </a:r>
          </a:p>
          <a:p>
            <a:pPr>
              <a:defRPr sz="1150">
                <a:solidFill>
                  <a:srgbClr val="E2E8F0"/>
                </a:solidFill>
                <a:latin typeface="Calibri"/>
              </a:defRPr>
            </a:pPr>
            <a:r>
              <a:t>Processing handwritten check amounts ($1,250.00) in banking back-offices, eliminating background watermarks and stamps via spatial gating without expensive GPU servers.</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Digital Humanities Preservation</a:t>
            </a:r>
          </a:p>
          <a:p>
            <a:pPr>
              <a:spcAft>
                <a:spcPts val="1200"/>
              </a:spcAft>
              <a:defRPr sz="1100" b="1">
                <a:solidFill>
                  <a:srgbClr val="94A3B8"/>
                </a:solidFill>
                <a:latin typeface="Calibri"/>
              </a:defRPr>
            </a:pPr>
            <a:r>
              <a:t>Historical Codices &amp; Archives</a:t>
            </a:r>
          </a:p>
          <a:p>
            <a:pPr>
              <a:defRPr sz="1150">
                <a:solidFill>
                  <a:srgbClr val="E2E8F0"/>
                </a:solidFill>
                <a:latin typeface="Calibri"/>
              </a:defRPr>
            </a:pPr>
            <a:r>
              <a:t>Transcribing 9th-century Latin and 13th-century German manuscripts where ink bleed, parchment decay, and non-standard ligatures defeat general-purpose OCR tools.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SCIENTIFIC INTEGRITY</a:t>
            </a:r>
          </a:p>
          <a:p>
            <a:pPr>
              <a:spcAft>
                <a:spcPts val="200"/>
              </a:spcAft>
              <a:defRPr sz="2100" b="1">
                <a:solidFill>
                  <a:srgbClr val="F8FAFC"/>
                </a:solidFill>
                <a:latin typeface="Arial"/>
              </a:defRPr>
            </a:pPr>
            <a:r>
              <a:t>Three-Tier Evidence Hierarchy &amp; Reproducibility Matrix</a:t>
            </a:r>
          </a:p>
          <a:p>
            <a:pPr>
              <a:defRPr sz="1150">
                <a:solidFill>
                  <a:srgbClr val="94A3B8"/>
                </a:solidFill>
                <a:latin typeface="Calibri"/>
              </a:defRPr>
            </a:pPr>
            <a:r>
              <a:t>Ensuring absolute empirical auditability across checkpoints, evaluations, and experiment records</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1: Serialized Weights &amp; Logs</a:t>
            </a:r>
          </a:p>
          <a:p>
            <a:pPr>
              <a:spcAft>
                <a:spcPts val="1200"/>
              </a:spcAft>
              <a:defRPr sz="1100" b="1">
                <a:solidFill>
                  <a:srgbClr val="94A3B8"/>
                </a:solidFill>
                <a:latin typeface="Calibri"/>
              </a:defRPr>
            </a:pPr>
            <a:r>
              <a:t>saved_models/ &amp; mlruns/</a:t>
            </a:r>
          </a:p>
          <a:p>
            <a:pPr>
              <a:defRPr sz="1150">
                <a:solidFill>
                  <a:srgbClr val="E2E8F0"/>
                </a:solidFill>
                <a:latin typeface="Calibri"/>
              </a:defRPr>
            </a:pPr>
            <a:r>
              <a:t>Bit-for-bit verified HDF5 weight files, tokenizer pickles, and epoch-by-epoch loss/metric logs (epochs.csv) documenting exact convergence across all five datasets.</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2: Academic Test Benchmarks</a:t>
            </a:r>
          </a:p>
          <a:p>
            <a:pPr>
              <a:spcAft>
                <a:spcPts val="1200"/>
              </a:spcAft>
              <a:defRPr sz="1100" b="1">
                <a:solidFill>
                  <a:srgbClr val="94A3B8"/>
                </a:solidFill>
                <a:latin typeface="Calibri"/>
              </a:defRPr>
            </a:pPr>
            <a:r>
              <a:t>tutorial_colab.ipynb Cells 27-30</a:t>
            </a:r>
          </a:p>
          <a:p>
            <a:pPr>
              <a:defRPr sz="1150">
                <a:solidFill>
                  <a:srgbClr val="E2E8F0"/>
                </a:solidFill>
                <a:latin typeface="Calibri"/>
              </a:defRPr>
            </a:pPr>
            <a:r>
              <a:t>Frozen execution outputs evaluating 12,517 test samples across Parzival (2.48% CER), ORAND-CAR-A (3.33% CER), Saint Gall (8.38% CER), and CVL Digits (50.78% CER).</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3: Relational Experiment DB</a:t>
            </a:r>
          </a:p>
          <a:p>
            <a:pPr>
              <a:spcAft>
                <a:spcPts val="1200"/>
              </a:spcAft>
              <a:defRPr sz="1100" b="1">
                <a:solidFill>
                  <a:srgbClr val="94A3B8"/>
                </a:solidFill>
                <a:latin typeface="Calibri"/>
              </a:defRPr>
            </a:pPr>
            <a:r>
              <a:t>saved_models/mlflow.db</a:t>
            </a:r>
          </a:p>
          <a:p>
            <a:pPr>
              <a:defRPr sz="1150">
                <a:solidFill>
                  <a:srgbClr val="E2E8F0"/>
                </a:solidFill>
                <a:latin typeface="Calibri"/>
              </a:defRPr>
            </a:pPr>
            <a:r>
              <a:t>SQLite database tracking six independent training runs across experiments iam and iam_combined, documenting completed optimization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A13"/>
        </a:solidFill>
        <a:effectLst/>
      </p:bgPr>
    </p:bg>
    <p:spTree>
      <p:nvGrpSpPr>
        <p:cNvPr id="1" name=""/>
        <p:cNvGrpSpPr/>
        <p:nvPr/>
      </p:nvGrpSpPr>
      <p:grpSpPr/>
      <p:sp>
        <p:nvSpPr>
          <p:cNvPr id="2" name="TextBox 1"/>
          <p:cNvSpPr txBox="1"/>
          <p:nvPr/>
        </p:nvSpPr>
        <p:spPr>
          <a:xfrm>
            <a:off x="914400" y="1371600"/>
            <a:ext cx="10332720" cy="4114800"/>
          </a:xfrm>
          <a:prstGeom prst="rect">
            <a:avLst/>
          </a:prstGeom>
          <a:noFill/>
        </p:spPr>
        <p:txBody>
          <a:bodyPr wrap="square" lIns="0" tIns="0" rIns="0" bIns="0">
            <a:spAutoFit/>
          </a:bodyPr>
          <a:lstStyle/>
          <a:p>
            <a:pPr>
              <a:spcAft>
                <a:spcPts val="1400"/>
              </a:spcAft>
              <a:defRPr sz="1200" b="1">
                <a:solidFill>
                  <a:srgbClr val="38BDF8"/>
                </a:solidFill>
                <a:latin typeface="Arial"/>
              </a:defRPr>
            </a:pPr>
            <a:r>
              <a:t>RESEARCH CONCLUSION</a:t>
            </a:r>
          </a:p>
          <a:p>
            <a:pPr>
              <a:spcAft>
                <a:spcPts val="1600"/>
              </a:spcAft>
              <a:defRPr sz="3200" b="1">
                <a:solidFill>
                  <a:srgbClr val="F8FAFC"/>
                </a:solidFill>
                <a:latin typeface="Arial"/>
              </a:defRPr>
            </a:pPr>
            <a:r>
              <a:t>Compact Hybrid Architectures Outperform</a:t>
            </a:r>
            <a:br/>
            <a:r>
              <a:t>Foundation Models in Specialized HTR</a:t>
            </a:r>
          </a:p>
          <a:p>
            <a:pPr>
              <a:defRPr sz="1300">
                <a:solidFill>
                  <a:srgbClr val="E2E8F0"/>
                </a:solidFill>
                <a:latin typeface="Calibri"/>
              </a:defRPr>
            </a:pPr>
            <a:r>
              <a:t>*  State-of-the-Art Accuracy from Scratch: 2.48% CER on Parzival medieval Gothic text and 3.33% CER on bank checks without external pretraining.</a:t>
            </a:r>
            <a:br/>
            <a:r>
              <a:t>*  Extreme Computational Efficiency: 1.58M parameters (39.5x smaller than TrOCR-Small) running in linear O(T) recurrent inference time.</a:t>
            </a:r>
            <a:br/>
            <a:r>
              <a:t>*  Scale-Adaptive Robustness: Dynamic conditioning eliminates non-uniform mobile shadows and pre-printed lines without manual tuning.</a:t>
            </a:r>
            <a:br/>
            <a:r>
              <a:t>*  Transparent Diagnostic Disclosure: Identifies open challenges in unconstrained numeral sequence modeling (CVL Digits generalization gap).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