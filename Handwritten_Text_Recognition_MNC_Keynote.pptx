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OFFLINE HANDWRITTEN TEXT RECOGNITION RESEARCH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Scale-Adaptive Document Conditioning &amp;</a:t>
            </a:r>
            <a:br/>
            <a:r>
              <a:t>Multi-Head Gated Convolutional Networks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A Compact 1.58M Parameter Architecture for Multi-Dataset HTR Without Pretrained Foundation Models</a:t>
            </a:r>
          </a:p>
          <a:p>
            <a:pPr>
              <a:defRPr sz="1200">
                <a:solidFill>
                  <a:srgbClr val="38BDF8"/>
                </a:solidFill>
                <a:latin typeface="Calibri"/>
              </a:defRPr>
            </a:pPr>
            <a:r>
              <a:t>Author: A. Venkata Balaji (Registration No: 23BCE20336)</a:t>
            </a:r>
            <a:br/>
            <a:r>
              <a:t>School of Computer Science and Engineering, Vellore Institute of Technology (VIT), Vellore, India</a:t>
            </a:r>
            <a:br/>
            <a:r>
              <a:t>Target Venue: IEEE Access | Open Source: https://github.com/Balaji268268/HandwrittenTextRecognition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PROBLEM CONTEXT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Real-World Document Degradation Challenge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Why classical OCR engines and naive binarization algorithms fail on genuine handwritten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Uncalibrated Camera Resolutions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Mobile captures range from 150 to 600+ DPI. Rigid kernel sizes either crush delicate character strokes or fail to bridge stroke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2384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Non-Uniform Shadow Gradients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Harsh desk-lamp gradients and hand cast shadows cause global Otsu thresholding to black out entire document quadrants.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48656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Ruled Notebook Paper Lines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Pre-printed ruling lines intersect character ascenders and descenders ('g', 'y', 'p'), fragmenting continuous stroke topology.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Dense Interlocking Ascenders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Historical manuscripts and cursive memos feature interlocking lines where ascenders and descenders collide without white margins.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Non-Text Drawings &amp; Doodles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Greeting cards, forms, and notebooks frequently contain smiling suns, stars, and emblems that cause sequence models to hallucinate.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ARCHITECTURE PHILOSOPHY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Foundation Model Trap: Why Pretrained ViTs Fail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Analyzing the severe operational limitations of massive Vision Transformers on resource-constrained HTR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FOUNDATION MODELS (TrOCR, Nougat, Donut) VS OUR ARCHITECTURE</a:t>
            </a:r>
          </a:p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Pretraining Dependency &amp; Scratch Failure: </a:t>
            </a:r>
            <a:r>
              <a:rPr sz="1300">
                <a:solidFill>
                  <a:srgbClr val="E2E8F0"/>
                </a:solidFill>
                <a:latin typeface="Calibri"/>
              </a:rPr>
              <a:t>TrOCR relies strictly on 684M synthetic pretraining images. Independent studies (Diaz et al., Kang et al.) prove that training ViTs from scratch on medium corpora yields CERs higher than 35%.</a:t>
            </a:r>
          </a:p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Massive Parameter Footprint: </a:t>
            </a:r>
            <a:r>
              <a:rPr sz="1300">
                <a:solidFill>
                  <a:srgbClr val="E2E8F0"/>
                </a:solidFill>
                <a:latin typeface="Calibri"/>
              </a:rPr>
              <a:t>TrOCR-Small requires 62.4M parameters; TrOCR-Large requires 558M parameters. In contrast, our hybrid model achieves high transcription fidelity with only 1.58M parameters (39.5x to 353x smaller).</a:t>
            </a:r>
          </a:p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Linear Computational Complexity O(T): </a:t>
            </a:r>
            <a:r>
              <a:rPr sz="1300">
                <a:solidFill>
                  <a:srgbClr val="E2E8F0"/>
                </a:solidFill>
                <a:latin typeface="Calibri"/>
              </a:rPr>
              <a:t>Autoregressive Transformers suffer from quadratic self-attention O(L^2) and token-by-token decoding. Our 1D convolutional and bidirectional recurrent decoder evaluates in linear time O(T) relative to sequence length.</a:t>
            </a:r>
          </a:p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*  Edge Deployability &amp; Data Sovereignty: </a:t>
            </a:r>
            <a:r>
              <a:rPr sz="1300">
                <a:solidFill>
                  <a:srgbClr val="E2E8F0"/>
                </a:solidFill>
                <a:latin typeface="Calibri"/>
              </a:rPr>
              <a:t>Billion-parameter cloud foundation models cannot run locally on privacy-sensitive medical tablets or on-premise banking check sorters due to strict regulatory compliance and hardware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INNOVATION #1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Scale-Adaptive Document Conditioning Engine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 mathematically grounded document conditioning pipeline that dynamically standardizes uncalibrated camera inputs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Median Height (med_h)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Connected component analysis dynamically determines median stroke height (med_h = median(H_valid)), eliminating fixed pixel assumptions.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Illumination Division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Morphological closure division using scale-proportional kernel max(15, int(med_h * 4)) adjusted to an odd size levels non-uniform smartphone shadow gradients.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Angular Deskewing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MinAreaRect bounding box analysis detects orientation angle theta and rectifies canvas skew via affine rotation warp.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Ruled-Line Suppression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Horizontal morphological opening using kernel K_line = rect(floor(2.5 * med_h), 1) strips notebook lines without severing vertical character descenders.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INNOVATION #2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Geometric Non-Text Rejection Heuristic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Preventing sequence model hallucinations by filtering squarish decorative drawings and stamps before recognition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THE RECEPTIVE FIELD TRAP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Why Standard HTR Models Hallucinate Doodles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In greeting cards, memos, and forms, users frequently draw doodles (stars, smiley faces, arrows, decorative dividers).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Dilated bounding box segmenters group text lines and doodles together, or pass isolated doodles into the OCR sequence model.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Deep convolutional receptive fields force the network to interpret continuous curves as character ligatures.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Result: A smiling sun doodle in sample-3.jpg is erroneously transcribed into arbitrary hallucinated consonant sequences.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TWO-TIER GEOMETRIC HEURISTIC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Implementation in sarah/data/utils.py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Valley-Sliced Path: Filters candidate line slices if AR &lt; 1.7 and (h &gt; 1.1 * med_h or y1 &lt; 0.35 * H_doc).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Sparse Region Path: Filters card/memo regions if AR_true &lt; 1.8 and (h &gt; 0.9 * med_h or y &lt; 0.40 * H_doc).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Un-Dilated Inspection: Bounding box aspect ratios are computed directly on raw ink contours before dilation stretches square shapes.</a:t>
            </a:r>
          </a:p>
          <a:p>
            <a:pPr>
              <a:spcAft>
                <a:spcPts val="60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t>*  Heuristic Grounding: Assumes non-text drawings remain roughly square (AR in [0.8, 1.5]), whereas genuine text lines have elongated ratios (AR &gt;= 2.2).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MODEL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Deep PySarah Flor Hybrid Neural Network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 lightweight 1.58M parameter architecture coupling Gated Convolutions with Self-Attention and BiLSTMs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STAGE 1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Gated-CNN Feature Extractor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7 Conv2D stages with 6 interleaved residual GatedConv2D blocks (501K params). Dynamically suppresses background parchment grain and shadows.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STAGE 2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Multi-Head Self-Attention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2-head self-attention layer (h=2, d_k=8) immediately following the encoder (8.3K params). Captures long-range horizontal character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STAGE 3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Stacked Bidirectional LSTMs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3 successive BiLSTM layers (128 units/dir = 256 dim, 1.05M params). Processes sequential representations bidirectionally for ligature continuity.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920240"/>
            <a:ext cx="24688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103120"/>
            <a:ext cx="2103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STAGE 4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Exact CTC Decoding &amp; Dense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Dense vocabulary projection (257 x C params) + CTC Beam Search (W=32). Parameter formula: P_total = 1,562,516 + 257C verified against all checkpoints.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EMPIRICAL VALIDATION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Master Multi-Dataset Benchmark Results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Quantitative results logged from trained checkpoints evaluated with CTC Beam Search (W=32)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PARZIVAL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13th-c. German Gothic Codex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TEST CER:</a:t>
            </a:r>
          </a:p>
          <a:p>
            <a:pPr>
              <a:spcAft>
                <a:spcPts val="6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2.48% CER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Metric: 8.53% WER</a:t>
            </a:r>
            <a:br/>
            <a:r>
              <a:t>Split: 1,328 test lines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model_parzival.weights.h5 (C=56, 1.57M params)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2384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ORAND-CAR-A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Bank Check Courtesy Amounts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TEST CER:</a:t>
            </a:r>
          </a:p>
          <a:p>
            <a:pPr>
              <a:spcAft>
                <a:spcPts val="6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3.33% CER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Metric: 96.67% Acc</a:t>
            </a:r>
            <a:br/>
            <a:r>
              <a:t>Split: 3,784 check amounts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model_orand-car-a.weights.h5 (C=14, 1.56M params)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48656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SAINT GALL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9th-c. Carolingian Latin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TEST CER:</a:t>
            </a:r>
          </a:p>
          <a:p>
            <a:pPr>
              <a:spcAft>
                <a:spcPts val="6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8.38% CER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Metric: 41.62% WER</a:t>
            </a:r>
            <a:br/>
            <a:r>
              <a:t>Split: 707 test lines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Provenance in Cell 28 (Binary omitted during export)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IAM COMBINED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Modern English Prose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VAL DIST:</a:t>
            </a:r>
          </a:p>
          <a:p>
            <a:pPr>
              <a:spcAft>
                <a:spcPts val="6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5.66% Val Dist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Metric: Epoch 12 Best</a:t>
            </a:r>
            <a:br/>
            <a:r>
              <a:t>Split: 966 val lines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model_iam_combined.weights.h5 (C=83, 1.58M params)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920240"/>
            <a:ext cx="2011680" cy="4297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0312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CVL DIGITS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Multi-Writer Digit Strings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TEST CER:</a:t>
            </a:r>
          </a:p>
          <a:p>
            <a:pPr>
              <a:spcAft>
                <a:spcPts val="600"/>
              </a:spcAft>
              <a:defRPr sz="2200" b="1">
                <a:solidFill>
                  <a:srgbClr val="FBBF24"/>
                </a:solidFill>
                <a:latin typeface="Arial"/>
              </a:defRPr>
            </a:pPr>
            <a:r>
              <a:t>50.78% CER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Metric: 6.93% Val Dist</a:t>
            </a:r>
            <a:br/>
            <a:r>
              <a:t>Split: 6,698 test strings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model_cvl-digits.weights.h5 (C=14, 1.56M params)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ARCHITECTURAL RATIONALE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Synergistic Structural Inductive Biases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Core structural inductive biases governing the 1.58M parameter hybrid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Scale-Adaptive Conditioning Engine</a:t>
            </a:r>
            <a:r>
              <a:rPr>
                <a:solidFill>
                  <a:srgbClr val="38BDF8"/>
                </a:solidFill>
              </a:rPr>
              <a:t>  [Scale Invariance]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Anchoring all geometric operations in characteristic median stroke height med_h ensures scale invariance across 150 DPI to 600 DPI captures.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920240"/>
            <a:ext cx="5120640" cy="2011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3855" y="214884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Background Closure Division</a:t>
            </a:r>
            <a:r>
              <a:rPr>
                <a:solidFill>
                  <a:srgbClr val="38BDF8"/>
                </a:solidFill>
              </a:rPr>
              <a:t>  [Shadow Suppression]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Grayscale closing with kernels larger than character strokes isolates the ambient illumination envelope, leveling mobile shadows.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Gated Convolutional Layers (Gated-CNN)</a:t>
            </a:r>
            <a:r>
              <a:rPr>
                <a:solidFill>
                  <a:srgbClr val="38BDF8"/>
                </a:solidFill>
              </a:rPr>
              <a:t>  [Dynamic Background Gating]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Spatial gating tensor G = sigmoid(X * W_g + b_g) dynamically zeroes out paper grain and ink bleed before spatial pooling.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4114800"/>
            <a:ext cx="5120640" cy="20116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3855" y="434340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Multi-Head Self-Attention (MHSA)</a:t>
            </a:r>
            <a:r>
              <a:rPr>
                <a:solidFill>
                  <a:srgbClr val="38BDF8"/>
                </a:solidFill>
              </a:rPr>
              <a:t>  [Horizontal Continuity]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Two-head attention (h=2, d_k=8) establishes direct horizontal contextual connections across 256 time steps before recurrent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TECHNICAL PIPELINE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Multi-Dataset Execution Flow in tutorial_colab.ipynb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Zero-setup inference architecture from raw uncalibrated image upload to structured transcription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1]  Step 1: Document Upload: </a:t>
            </a:r>
            <a:r>
              <a:rPr sz="1300">
                <a:solidFill>
                  <a:srgbClr val="E2E8F0"/>
                </a:solidFill>
                <a:latin typeface="Calibri"/>
              </a:rPr>
              <a:t>Image is received via web UI or Colab files.upload(). Supports uncalibrated mobile photos, archival scans, and ruled sheets.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2]  Step 2: Scale-Adaptive Normalization: </a:t>
            </a:r>
            <a:r>
              <a:rPr sz="1300">
                <a:solidFill>
                  <a:srgbClr val="E2E8F0"/>
                </a:solidFill>
                <a:latin typeface="Calibri"/>
              </a:rPr>
              <a:t>Computes median character height (med_h), divides by morphological closure background, and performs angular deskewing.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3]  Step 3: Line Slicing &amp; Doodle Filter: </a:t>
            </a:r>
            <a:r>
              <a:rPr sz="1300">
                <a:solidFill>
                  <a:srgbClr val="E2E8F0"/>
                </a:solidFill>
                <a:latin typeface="Calibri"/>
              </a:rPr>
              <a:t>Projection valley splitting extracts text line strips; two-tier aspect-ratio filter discards squarish non-text doodles.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4]  Step 4: Deep Neural Recognition: </a:t>
            </a:r>
            <a:r>
              <a:rPr sz="1300">
                <a:solidFill>
                  <a:srgbClr val="E2E8F0"/>
                </a:solidFill>
                <a:latin typeface="Calibri"/>
              </a:rPr>
              <a:t>Each 64x1024 line strip passes through 7 Conv stages + 6 Gated blocks + 2-head MHSA + 3x BiLSTM (1.58M params).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[Phase 5]  Step 5: CTC Beam Decoding: </a:t>
            </a:r>
            <a:r>
              <a:rPr sz="1300">
                <a:solidFill>
                  <a:srgbClr val="E2E8F0"/>
                </a:solidFill>
                <a:latin typeface="Calibri"/>
              </a:rPr>
              <a:t>Beam search decoding (width=32) transcribes probability matrices into finalized text strings with beam-search-derived likelihoods.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COMPETITIVE BENCHMARKS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Comprehensive SOTA Comparison (2023-2026 Architectures)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Comparing parameter efficiency and recognition accuracy against published baselines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828800"/>
                <a:gridCol w="1645920"/>
                <a:gridCol w="1554480"/>
                <a:gridCol w="146304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Model /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Publication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Pretrained Weights?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Parzival 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IAM Val Edit Dist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Puigcerver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ICDAR 2017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9.6 M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4.12%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5.80%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Bluche &amp; Messina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ICDAR 2017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4.2 M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5.40%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7.90%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Flor et al.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BRACIS 2020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8.8 M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3.85%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TrOCR-Small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AAAI 2023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62.4 M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31.40%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38.40%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DAN (Document Attention Net)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TPAMI 2023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24.5 M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3.20%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0F152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HTR-VT (Vision Transformer)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 2025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18.2 M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Proposed PySarah Flor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Ours (2026)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No (Scratch)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1.58 M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2.48%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5.66%*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*Note: IAM Combined reports best validation normalized edit distance at epoch 12 (Cell 39); independent test split CER is unreported (--).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DIAGNOSTIC FINDING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Analysis of Generalization Gap on CVL Digits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Transparent investigation of the 6.93% validation edit distance vs 50.78% test CER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*  Empirical Observation: </a:t>
            </a:r>
            <a:r>
              <a:rPr sz="1300">
                <a:solidFill>
                  <a:srgbClr val="E2E8F0"/>
                </a:solidFill>
                <a:latin typeface="Calibri"/>
              </a:rPr>
              <a:t>The CVL Digits model converges smoothly during training to 6.934% validation edit distance, but degrades to 50.78% CER on the 6,698 test strings.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Absence of Lexical Priors: </a:t>
            </a:r>
            <a:r>
              <a:rPr sz="1300">
                <a:solidFill>
                  <a:srgbClr val="E2E8F0"/>
                </a:solidFill>
                <a:latin typeface="Calibri"/>
              </a:rPr>
              <a:t>Unlike natural language prose (IAM) or medieval German (Parzival), numeral strings possess no transition priors (e.g., any digit 0-9 can follow any digit), making CTC beam search sensitive to stroke confusion.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Intra-Dataset Distribution Shift: </a:t>
            </a:r>
            <a:r>
              <a:rPr sz="1300">
                <a:solidFill>
                  <a:srgbClr val="E2E8F0"/>
                </a:solidFill>
                <a:latin typeface="Calibri"/>
              </a:rPr>
              <a:t>The official CVL test set contains extreme writer variations, stroke thickness drift, and multi-digit slant angles not represented in the 1,073 training lines.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Open Research Hypothesis: </a:t>
            </a:r>
            <a:r>
              <a:rPr sz="1300">
                <a:solidFill>
                  <a:srgbClr val="E2E8F0"/>
                </a:solidFill>
                <a:latin typeface="Calibri"/>
              </a:rPr>
              <a:t>We frame this finding as an open research hypothesis: unconstrained numeral recognition requires length-invariant decoders or synthetic length augmentation rather than standard CTC sequence decoders.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REAL-WORLD DEPLOYMENT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Production Applications &amp; Multi-Dataset Deployment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Demonstrated utility across archival digital humanities, financial automation, and administrative records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0698480" cy="118872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Historical Manuscript Digitization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Accurately transcribes 13th-century German Gothic codices (2.48% CER) and Carolingian Latin scripts (8.38% CER) with parameter-free shadow and deskew leveling.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118872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Financial Document Automation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Extracts unconstrained courtesy amounts from bank checks and deposit slips with 3.33% CER for automated clearing house digitization.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18872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25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Edge Administrative Scanning</a:t>
            </a:r>
          </a:p>
          <a:p>
            <a:pPr>
              <a:defRPr sz="1250">
                <a:solidFill>
                  <a:srgbClr val="CBD5E1"/>
                </a:solidFill>
                <a:latin typeface="Calibri"/>
              </a:defRPr>
            </a:pPr>
            <a:r>
              <a:t>Runs on edge hardware without cloud GPU clusters, enabling private document indexing in hospitals and government offices.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SCIENTIFIC INTEGRITY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Reproducibility &amp; Checkpoint Inventory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Complete checkpoint traceability and exact parameter reconciliation against stored weight tensors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Parameter Scaling Law: </a:t>
            </a:r>
            <a:r>
              <a:rPr sz="1300">
                <a:solidFill>
                  <a:srgbClr val="E2E8F0"/>
                </a:solidFill>
                <a:latin typeface="Calibri"/>
              </a:rPr>
              <a:t>P_total = 1,562,516 + 257C reconciled across all checkpoints: Parzival (C=56, 1,576,908 params), ORAND (C=14, 1,566,114 params), CVL (C=14, 1,566,114 params), IAM (C=83, 1,583,847 params).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Stored Tensors Verified: </a:t>
            </a:r>
            <a:r>
              <a:rPr sz="1300">
                <a:solidFill>
                  <a:srgbClr val="E2E8F0"/>
                </a:solidFill>
                <a:latin typeface="Calibri"/>
              </a:rPr>
              <a:t>Dense layer kernel dimensions in saved HDF5 files and tokenizer lexical_shape[-1] match the vocabulary class counts C exactly.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Notebook Execution Provenance: </a:t>
            </a:r>
            <a:r>
              <a:rPr sz="1300">
                <a:solidFill>
                  <a:srgbClr val="E2E8F0"/>
                </a:solidFill>
                <a:latin typeface="Calibri"/>
              </a:rPr>
              <a:t>All evaluation metrics are frozen in tutorial_colab.ipynb (Cells 27-30). Saint Gall evaluation is recorded in Cell 28 output (binary omitted during export).</a:t>
            </a:r>
          </a:p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*  MLflow Run Tracking: </a:t>
            </a:r>
            <a:r>
              <a:rPr sz="1300">
                <a:solidFill>
                  <a:srgbClr val="E2E8F0"/>
                </a:solidFill>
                <a:latin typeface="Calibri"/>
              </a:rPr>
              <a:t>SQLite database (mlflow.db) records active runs for experiments iam and iam_combined. Core benchmark provenance is established in the frozen notebook.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RESEARCH CONCLUSION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Engineering Rigor Over Foundation Scale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By replacing brute-force Vision Transformer pretraining with a Scale-Adaptive Document Conditioning Engine and a lightweight 1.58M parameter Gated-CNN + MHSA + BiLSTM network (P_total = 1,562,516 + 257C), we achieve 2.48% test CER on Parzival medieval German and 3.33% on ORAND bank checks, scaling with linear O(T) computational complexity.</a:t>
            </a:r>
            <a:br/>
            <a:br/>
            <a:r>
              <a:t>Thank you for your guidance and review. Open for Questions &amp;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