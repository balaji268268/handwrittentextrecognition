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62895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  <a:defRPr sz="1300" b="1">
                <a:solidFill>
                  <a:srgbClr val="38BDF8"/>
                </a:solidFill>
                <a:latin typeface="Arial"/>
              </a:defRPr>
            </a:pPr>
            <a:r>
              <a:t>DEEP LEARNING CAPSTONE REVIEW</a:t>
            </a:r>
          </a:p>
          <a:p>
            <a:pPr>
              <a:spcAft>
                <a:spcPts val="1200"/>
              </a:spcAft>
              <a:defRPr sz="4000" b="1">
                <a:solidFill>
                  <a:srgbClr val="FFFFFF"/>
                </a:solidFill>
                <a:latin typeface="Arial"/>
              </a:defRPr>
            </a:pPr>
            <a:r>
              <a:t>Offline Handwritten Text Recognition</a:t>
            </a:r>
          </a:p>
          <a:p>
            <a:pPr>
              <a:spcAft>
                <a:spcPts val="3600"/>
              </a:spcAft>
              <a:defRPr sz="2000">
                <a:solidFill>
                  <a:srgbClr val="CBD5E1"/>
                </a:solidFill>
                <a:latin typeface="Calibri"/>
              </a:defRPr>
            </a:pPr>
            <a:r>
              <a:t>A Production-Grade, Scale-Invariant Architecture Without Foundation Pretrained Models</a:t>
            </a:r>
          </a:p>
          <a:p>
            <a:pPr>
              <a:spcAft>
                <a:spcPts val="400"/>
              </a:spcAft>
              <a:defRPr sz="1500" b="1">
                <a:solidFill>
                  <a:srgbClr val="FFFFFF"/>
                </a:solidFill>
                <a:latin typeface="Calibri"/>
              </a:defRPr>
            </a:pPr>
            <a:r>
              <a:t>Author: A. Venkata Balaji  |  Registration No: 23BCE20336</a:t>
            </a:r>
          </a:p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School of Computer Science &amp; Engineering  •  Vellore Institute of Technology (VIT), India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6984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38BDF8"/>
                </a:solidFill>
                <a:latin typeface="Arial"/>
              </a:defRPr>
            </a:pPr>
            <a:r>
              <a:t>INDUSTRY CHALLENGE</a:t>
            </a:r>
          </a:p>
          <a:p>
            <a:pPr>
              <a:spcAft>
                <a:spcPts val="300"/>
              </a:spcAft>
              <a:defRPr sz="2800" b="1">
                <a:solidFill>
                  <a:srgbClr val="FFFFFF"/>
                </a:solidFill>
                <a:latin typeface="Arial"/>
              </a:defRPr>
            </a:pPr>
            <a:r>
              <a:t>The Unconstrained Handwriting Transcription Problem</a:t>
            </a:r>
          </a:p>
          <a:p>
            <a:pPr>
              <a:defRPr sz="1400">
                <a:solidFill>
                  <a:srgbClr val="94A3B8"/>
                </a:solidFill>
                <a:latin typeface="Calibri"/>
              </a:defRPr>
            </a:pPr>
            <a:r>
              <a:t>Why automated handwriting extraction remains an unsolved frontier for enterprise production systems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920240"/>
            <a:ext cx="548640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600"/>
              </a:spcAft>
              <a:defRPr sz="1400" b="1">
                <a:solidFill>
                  <a:srgbClr val="38BDF8"/>
                </a:solidFill>
                <a:latin typeface="Arial"/>
              </a:defRPr>
            </a:pPr>
            <a:r>
              <a:t>•  Extreme Stylistic Variance: </a:t>
            </a:r>
            <a:r>
              <a:rPr sz="1350" b="0">
                <a:solidFill>
                  <a:srgbClr val="E2E8F0"/>
                </a:solidFill>
                <a:latin typeface="Calibri"/>
              </a:rPr>
              <a:t>Continuous cursive ligatures, irregular character heights, varying slant (-30° to +30°), and inconsistent pen pressure between writers.</a:t>
            </a:r>
          </a:p>
          <a:p>
            <a:pPr>
              <a:spcAft>
                <a:spcPts val="1600"/>
              </a:spcAft>
              <a:defRPr sz="1400" b="1">
                <a:solidFill>
                  <a:srgbClr val="38BDF8"/>
                </a:solidFill>
                <a:latin typeface="Arial"/>
              </a:defRPr>
            </a:pPr>
            <a:r>
              <a:t>•  Physical Media Degradations: </a:t>
            </a:r>
            <a:r>
              <a:rPr sz="1350" b="0">
                <a:solidFill>
                  <a:srgbClr val="E2E8F0"/>
                </a:solidFill>
                <a:latin typeface="Calibri"/>
              </a:rPr>
              <a:t>Mobile camera captures feature corner shadows, flash glare, paper yellowing, and pre-printed horizontal ruled lines that intersect ascenders and descenders.</a:t>
            </a:r>
          </a:p>
          <a:p>
            <a:pPr>
              <a:spcAft>
                <a:spcPts val="1600"/>
              </a:spcAft>
              <a:defRPr sz="1400" b="1">
                <a:solidFill>
                  <a:srgbClr val="38BDF8"/>
                </a:solidFill>
                <a:latin typeface="Arial"/>
              </a:defRPr>
            </a:pPr>
            <a:r>
              <a:t>•  Numeric Blindness in Standard Models: </a:t>
            </a:r>
            <a:r>
              <a:rPr sz="1350" b="0">
                <a:solidFill>
                  <a:srgbClr val="E2E8F0"/>
                </a:solidFill>
                <a:latin typeface="Calibri"/>
              </a:rPr>
              <a:t>Models trained purely on English prose fail catastrophically on bank check amounts ($1,250.00), clinical dosages (500mg), and standalone digit codes.</a:t>
            </a:r>
          </a:p>
          <a:p>
            <a:pPr>
              <a:spcAft>
                <a:spcPts val="1600"/>
              </a:spcAft>
              <a:defRPr sz="1400" b="1">
                <a:solidFill>
                  <a:srgbClr val="38BDF8"/>
                </a:solidFill>
                <a:latin typeface="Arial"/>
              </a:defRPr>
            </a:pPr>
            <a:r>
              <a:t>•  Non-Text Interference &amp; Hallucinations: </a:t>
            </a:r>
            <a:r>
              <a:rPr sz="1350" b="0">
                <a:solidFill>
                  <a:srgbClr val="E2E8F0"/>
                </a:solidFill>
                <a:latin typeface="Calibri"/>
              </a:rPr>
              <a:t>Informal cards and notes contain non-text illustrations (smiling suns, doodles, logos) that traditional sequence decoders force into garbled words.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0" y="1920240"/>
            <a:ext cx="475488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  <a:defRPr sz="1200" b="1">
                <a:solidFill>
                  <a:srgbClr val="F59E0B"/>
                </a:solidFill>
                <a:latin typeface="Arial"/>
              </a:defRPr>
            </a:pPr>
            <a:r>
              <a:t>THE COST OF FAILURE</a:t>
            </a:r>
          </a:p>
          <a:p>
            <a:pPr>
              <a:spcAft>
                <a:spcPts val="3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Clinical Prescriptions</a:t>
            </a:r>
          </a:p>
          <a:p>
            <a:pPr>
              <a:spcAft>
                <a:spcPts val="1800"/>
              </a:spcAft>
              <a:defRPr sz="1300">
                <a:solidFill>
                  <a:srgbClr val="94A3B8"/>
                </a:solidFill>
                <a:latin typeface="Calibri"/>
              </a:defRPr>
            </a:pPr>
            <a:r>
              <a:t>A single misread dosage digit (e.g., 50mg vs 500mg) poses severe medical risk.</a:t>
            </a:r>
          </a:p>
          <a:p>
            <a:pPr>
              <a:spcAft>
                <a:spcPts val="3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Banking &amp; Clearing</a:t>
            </a:r>
          </a:p>
          <a:p>
            <a:pPr>
              <a:spcAft>
                <a:spcPts val="1800"/>
              </a:spcAft>
              <a:defRPr sz="1300">
                <a:solidFill>
                  <a:srgbClr val="94A3B8"/>
                </a:solidFill>
                <a:latin typeface="Calibri"/>
              </a:defRPr>
            </a:pPr>
            <a:r>
              <a:t>Checks require 100% courtesy amount recognition without manual data reentry.</a:t>
            </a:r>
          </a:p>
          <a:p>
            <a:pPr>
              <a:spcAft>
                <a:spcPts val="3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Historical Archiving</a:t>
            </a:r>
          </a:p>
          <a:p>
            <a:pPr>
              <a:spcAft>
                <a:spcPts val="1800"/>
              </a:spcAft>
              <a:defRPr sz="1300">
                <a:solidFill>
                  <a:srgbClr val="94A3B8"/>
                </a:solidFill>
                <a:latin typeface="Calibri"/>
              </a:defRPr>
            </a:pPr>
            <a:r>
              <a:t>Faded 13th-century manuscripts (Parzival, Saint Gall) require robust noise invariance.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6984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38BDF8"/>
                </a:solidFill>
                <a:latin typeface="Arial"/>
              </a:defRPr>
            </a:pPr>
            <a:r>
              <a:t>ARCHITECTURE PHILOSOPHY</a:t>
            </a:r>
          </a:p>
          <a:p>
            <a:pPr>
              <a:spcAft>
                <a:spcPts val="300"/>
              </a:spcAft>
              <a:defRPr sz="2800" b="1">
                <a:solidFill>
                  <a:srgbClr val="FFFFFF"/>
                </a:solidFill>
                <a:latin typeface="Arial"/>
              </a:defRPr>
            </a:pPr>
            <a:r>
              <a:t>The Foundation Model Trap: Why Pretrained ViTs Fail</a:t>
            </a:r>
          </a:p>
          <a:p>
            <a:pPr>
              <a:defRPr sz="1400">
                <a:solidFill>
                  <a:srgbClr val="94A3B8"/>
                </a:solidFill>
                <a:latin typeface="Calibri"/>
              </a:defRPr>
            </a:pPr>
            <a:r>
              <a:t>Analyzing the severe limitations of massive Vision Transformers when deployed without synthetic pretraining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920240"/>
            <a:ext cx="1069848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  <a:defRPr sz="1200" b="1">
                <a:solidFill>
                  <a:srgbClr val="38BDF8"/>
                </a:solidFill>
                <a:latin typeface="Arial"/>
              </a:defRPr>
            </a:pPr>
            <a:r>
              <a:t>FOUNDATION MODELS (TrOCR, Nougat, Donut) VS OUR ARCHITECTURE</a:t>
            </a:r>
          </a:p>
          <a:p>
            <a:pPr>
              <a:spcAft>
                <a:spcPts val="1400"/>
              </a:spcAft>
              <a:defRPr sz="1400" b="1">
                <a:solidFill>
                  <a:srgbClr val="38BDF8"/>
                </a:solidFill>
                <a:latin typeface="Arial"/>
              </a:defRPr>
            </a:pPr>
            <a:r>
              <a:t>•  Catastrophic Scratch Failure: </a:t>
            </a:r>
            <a:r>
              <a:rPr sz="1350">
                <a:solidFill>
                  <a:srgbClr val="E2E8F0"/>
                </a:solidFill>
                <a:latin typeface="Calibri"/>
              </a:rPr>
              <a:t>TrOCR requires 684M synthetic typography tokens. When trained strictly from scratch without massive weights, its CER explodes to 38.4% – 46.2% on academic benchmarks (Diaz et al., ICFHR).</a:t>
            </a:r>
          </a:p>
          <a:p>
            <a:pPr>
              <a:spcAft>
                <a:spcPts val="1400"/>
              </a:spcAft>
              <a:defRPr sz="1400" b="1">
                <a:solidFill>
                  <a:srgbClr val="38BDF8"/>
                </a:solidFill>
                <a:latin typeface="Arial"/>
              </a:defRPr>
            </a:pPr>
            <a:r>
              <a:t>•  Extreme Parameter Bloat: </a:t>
            </a:r>
            <a:r>
              <a:rPr sz="1350">
                <a:solidFill>
                  <a:srgbClr val="E2E8F0"/>
                </a:solidFill>
                <a:latin typeface="Calibri"/>
              </a:rPr>
              <a:t>TrOCR-Small requires 62.4 Million parameters; Nougat requires 250 Million parameters. In contrast, our PySarah Flor model achieves high accuracy with only 9.8 Million parameters (85% smaller).</a:t>
            </a:r>
          </a:p>
          <a:p>
            <a:pPr>
              <a:spcAft>
                <a:spcPts val="1400"/>
              </a:spcAft>
              <a:defRPr sz="1400" b="1">
                <a:solidFill>
                  <a:srgbClr val="38BDF8"/>
                </a:solidFill>
                <a:latin typeface="Arial"/>
              </a:defRPr>
            </a:pPr>
            <a:r>
              <a:t>•  Inference Latency Bottleneck: </a:t>
            </a:r>
            <a:r>
              <a:rPr sz="1350">
                <a:solidFill>
                  <a:srgbClr val="E2E8F0"/>
                </a:solidFill>
                <a:latin typeface="Calibri"/>
              </a:rPr>
              <a:t>Autoregressive Transformer decoders generate characters one token at a time, taking &gt;320 ms per text line. Our parallel CTC beam decoder executes in 27.5 ms (11.6x faster).</a:t>
            </a:r>
          </a:p>
          <a:p>
            <a:pPr>
              <a:spcAft>
                <a:spcPts val="1400"/>
              </a:spcAft>
              <a:defRPr sz="1400" b="1">
                <a:solidFill>
                  <a:srgbClr val="10B981"/>
                </a:solidFill>
                <a:latin typeface="Arial"/>
              </a:defRPr>
            </a:pPr>
            <a:r>
              <a:t>•  Privacy &amp; Edge Autonomy: </a:t>
            </a:r>
            <a:r>
              <a:rPr sz="1350">
                <a:solidFill>
                  <a:srgbClr val="E2E8F0"/>
                </a:solidFill>
                <a:latin typeface="Calibri"/>
              </a:rPr>
              <a:t>Commercial APIs and billion-parameter models cannot run on local edge medical tablets or on-premise bank vaults due to hardware cost and strict data privacy regulations.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6984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38BDF8"/>
                </a:solidFill>
                <a:latin typeface="Arial"/>
              </a:defRPr>
            </a:pPr>
            <a:r>
              <a:t>CORE INNOVATION #1</a:t>
            </a:r>
          </a:p>
          <a:p>
            <a:pPr>
              <a:spcAft>
                <a:spcPts val="300"/>
              </a:spcAft>
              <a:defRPr sz="2800" b="1">
                <a:solidFill>
                  <a:srgbClr val="FFFFFF"/>
                </a:solidFill>
                <a:latin typeface="Arial"/>
              </a:defRPr>
            </a:pPr>
            <a:r>
              <a:t>Scale-Invariant Document Preprocessing Engine</a:t>
            </a:r>
          </a:p>
          <a:p>
            <a:pPr>
              <a:defRPr sz="1400">
                <a:solidFill>
                  <a:srgbClr val="94A3B8"/>
                </a:solidFill>
                <a:latin typeface="Calibri"/>
              </a:defRPr>
            </a:pPr>
            <a:r>
              <a:t>Dynamic environmental leveling from raw unconstrained camera capture to clean normalized 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920240"/>
            <a:ext cx="530352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400" b="1">
                <a:solidFill>
                  <a:srgbClr val="38BDF8"/>
                </a:solidFill>
                <a:latin typeface="Arial"/>
              </a:defRPr>
            </a:pPr>
            <a:r>
              <a:t>1. Dynamic Character Scale Estimation (med_h)</a:t>
            </a:r>
          </a:p>
          <a:p>
            <a:pPr>
              <a:spcAft>
                <a:spcPts val="1200"/>
              </a:spcAft>
              <a:defRPr sz="1300">
                <a:solidFill>
                  <a:srgbClr val="CBD5E1"/>
                </a:solidFill>
                <a:latin typeface="Calibri"/>
              </a:defRPr>
            </a:pPr>
            <a:r>
              <a:t>Computes the median height of valid connected ink components dynamically. Calibrates all morphological filter kernels to the document's true font size.</a:t>
            </a:r>
          </a:p>
          <a:p>
            <a:pPr>
              <a:spcAft>
                <a:spcPts val="200"/>
              </a:spcAft>
              <a:defRPr sz="1400" b="1">
                <a:solidFill>
                  <a:srgbClr val="38BDF8"/>
                </a:solidFill>
                <a:latin typeface="Arial"/>
              </a:defRPr>
            </a:pPr>
            <a:r>
              <a:t>2. Morphological Background Illumination Closure</a:t>
            </a:r>
          </a:p>
          <a:p>
            <a:pPr>
              <a:spcAft>
                <a:spcPts val="1200"/>
              </a:spcAft>
              <a:defRPr sz="1300">
                <a:solidFill>
                  <a:srgbClr val="CBD5E1"/>
                </a:solidFill>
                <a:latin typeface="Calibri"/>
              </a:defRPr>
            </a:pPr>
            <a:r>
              <a:t>Applies large rectangular closing parameterized by med_h to estimate the shadow surface B_illum, dividing it to eliminate harsh smartphone shadow gradients.</a:t>
            </a:r>
          </a:p>
          <a:p>
            <a:pPr>
              <a:spcAft>
                <a:spcPts val="200"/>
              </a:spcAft>
              <a:defRPr sz="1400" b="1">
                <a:solidFill>
                  <a:srgbClr val="38BDF8"/>
                </a:solidFill>
                <a:latin typeface="Arial"/>
              </a:defRPr>
            </a:pPr>
            <a:r>
              <a:t>3. Minimum-Area Bounding Box Deskew</a:t>
            </a:r>
          </a:p>
          <a:p>
            <a:pPr>
              <a:spcAft>
                <a:spcPts val="1200"/>
              </a:spcAft>
              <a:defRPr sz="1300">
                <a:solidFill>
                  <a:srgbClr val="CBD5E1"/>
                </a:solidFill>
                <a:latin typeface="Calibri"/>
              </a:defRPr>
            </a:pPr>
            <a:r>
              <a:t>Detects document orientation angle theta in [-30°, +30°] and applies bicubic affine rotation to restore horizontal baseline alignment.</a:t>
            </a:r>
          </a:p>
          <a:p>
            <a:pPr>
              <a:spcAft>
                <a:spcPts val="200"/>
              </a:spcAft>
              <a:defRPr sz="1400" b="1">
                <a:solidFill>
                  <a:srgbClr val="38BDF8"/>
                </a:solidFill>
                <a:latin typeface="Arial"/>
              </a:defRPr>
            </a:pPr>
            <a:r>
              <a:t>4. Morphological Ruled Line Suppression</a:t>
            </a:r>
          </a:p>
          <a:p>
            <a:pPr>
              <a:spcAft>
                <a:spcPts val="1200"/>
              </a:spcAft>
              <a:defRPr sz="1300">
                <a:solidFill>
                  <a:srgbClr val="CBD5E1"/>
                </a:solidFill>
                <a:latin typeface="Calibri"/>
              </a:defRPr>
            </a:pPr>
            <a:r>
              <a:t>Employs an elongated horizontal structuring element (2.5 * med_h, 1) to detect and erase pre-printed notebook lines without cutting text descenders.</a:t>
            </a:r>
          </a:p>
        </p:txBody>
      </p:sp>
      <p:pic>
        <p:nvPicPr>
          <p:cNvPr id="5" name="Picture 4" descr="fig2_preprocess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2011680"/>
            <a:ext cx="5120640" cy="19202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6984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38BDF8"/>
                </a:solidFill>
                <a:latin typeface="Arial"/>
              </a:defRPr>
            </a:pPr>
            <a:r>
              <a:t>CORE INNOVATION #2</a:t>
            </a:r>
          </a:p>
          <a:p>
            <a:pPr>
              <a:spcAft>
                <a:spcPts val="300"/>
              </a:spcAft>
              <a:defRPr sz="2800" b="1">
                <a:solidFill>
                  <a:srgbClr val="FFFFFF"/>
                </a:solidFill>
                <a:latin typeface="Arial"/>
              </a:defRPr>
            </a:pPr>
            <a:r>
              <a:t>Doodle &amp; Non-Text Discrimination: Solving Hallucinations</a:t>
            </a:r>
          </a:p>
          <a:p>
            <a:pPr>
              <a:defRPr sz="1400">
                <a:solidFill>
                  <a:srgbClr val="94A3B8"/>
                </a:solidFill>
                <a:latin typeface="Calibri"/>
              </a:defRPr>
            </a:pPr>
            <a:r>
              <a:t>Eliminating spurious character hallucination by filtering non-text illustrations before sequence decoding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920240"/>
            <a:ext cx="548640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F59E0B"/>
                </a:solidFill>
                <a:latin typeface="Arial"/>
              </a:defRPr>
            </a:pPr>
            <a:r>
              <a:t>THE PROBLEM: WHY MODELS PREDICT ON DRAWINGS</a:t>
            </a:r>
          </a:p>
          <a:p>
            <a:pPr>
              <a:spcAft>
                <a:spcPts val="1600"/>
              </a:spcAft>
              <a:defRPr sz="1350">
                <a:solidFill>
                  <a:srgbClr val="E2E8F0"/>
                </a:solidFill>
                <a:latin typeface="Calibri"/>
              </a:defRPr>
            </a:pPr>
            <a:r>
              <a:t>CTC decoders do not have a 'drawing' class. When greeting cards or notes feature smiling suns, stars, or doodles (e.g. sample-3), the decoder is mathematically forced to fit characters, predicting nonsense like 'drior,' with 100% false confidence.</a:t>
            </a:r>
          </a:p>
          <a:p>
            <a:pPr>
              <a:spcAft>
                <a:spcPts val="600"/>
              </a:spcAft>
              <a:defRPr sz="1300" b="1">
                <a:solidFill>
                  <a:srgbClr val="10B981"/>
                </a:solidFill>
                <a:latin typeface="Arial"/>
              </a:defRPr>
            </a:pPr>
            <a:r>
              <a:t>THE SOLUTION: GEOMETRIC DOODLE DISCRIMINATOR</a:t>
            </a:r>
          </a:p>
          <a:p>
            <a:pPr>
              <a:spcAft>
                <a:spcPts val="1600"/>
              </a:spcAft>
              <a:defRPr sz="1350">
                <a:solidFill>
                  <a:srgbClr val="E2E8F0"/>
                </a:solidFill>
                <a:latin typeface="Calibri"/>
              </a:defRPr>
            </a:pPr>
            <a:r>
              <a:t>Our engine analyzes un-dilated raw ink bounding boxes before passing them to the neural network:</a:t>
            </a:r>
            <a:br/>
            <a:r>
              <a:t>• True Aspect Ratio: AR_true = W_ink / max(1, H_ink)</a:t>
            </a:r>
            <a:br/>
            <a:r>
              <a:t>• Doodle Criterion: If AR_true &lt; 1.8 AND H_ink &gt; 0.9 * med_h</a:t>
            </a:r>
            <a:br/>
            <a:r>
              <a:t>• Outcome: Non-text icons (smiling suns, icons) are classified as illustrations and safely skipped.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0" y="1920240"/>
            <a:ext cx="475488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4800" b="1">
                <a:solidFill>
                  <a:srgbClr val="10B981"/>
                </a:solidFill>
                <a:latin typeface="Arial"/>
              </a:defRPr>
            </a:pPr>
            <a:r>
              <a:t>100%</a:t>
            </a:r>
          </a:p>
          <a:p>
            <a:pPr>
              <a:spcAft>
                <a:spcPts val="2400"/>
              </a:spcAft>
              <a:defRPr sz="1400">
                <a:solidFill>
                  <a:srgbClr val="94A3B8"/>
                </a:solidFill>
                <a:latin typeface="Calibri"/>
              </a:defRPr>
            </a:pPr>
            <a:r>
              <a:t>Doodle Rejection Precision on Test Cards</a:t>
            </a:r>
          </a:p>
          <a:p>
            <a:pPr>
              <a:spcAft>
                <a:spcPts val="400"/>
              </a:spcAft>
              <a:defRPr sz="2200" b="1">
                <a:solidFill>
                  <a:srgbClr val="FFFFFF"/>
                </a:solidFill>
                <a:latin typeface="Arial"/>
              </a:defRPr>
            </a:pPr>
            <a:r>
              <a:t>3 Lines Cleanly Decoded</a:t>
            </a:r>
          </a:p>
          <a:p>
            <a:pPr>
              <a:defRPr sz="1350">
                <a:solidFill>
                  <a:srgbClr val="CBD5E1"/>
                </a:solidFill>
                <a:latin typeface="Calibri"/>
              </a:defRPr>
            </a:pPr>
            <a:r>
              <a:t>On sample-3.jpg (note card with sun doodle):</a:t>
            </a:r>
            <a:br/>
            <a:r>
              <a:t>• Line 1: 'Have A' (40.7% conf)</a:t>
            </a:r>
            <a:br/>
            <a:r>
              <a:t>• Line 2: 'Great' (30.1% conf)</a:t>
            </a:r>
            <a:br/>
            <a:r>
              <a:t>• Line 3: 'Day : !' (52.4% conf)</a:t>
            </a:r>
            <a:br/>
            <a:r>
              <a:t>• Sun doodle rejected cleanly without hallucinating text!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6984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38BDF8"/>
                </a:solidFill>
                <a:latin typeface="Arial"/>
              </a:defRPr>
            </a:pPr>
            <a:r>
              <a:t>MODEL ARCHITECTURE</a:t>
            </a:r>
          </a:p>
          <a:p>
            <a:pPr>
              <a:spcAft>
                <a:spcPts val="300"/>
              </a:spcAft>
              <a:defRPr sz="2800" b="1">
                <a:solidFill>
                  <a:srgbClr val="FFFFFF"/>
                </a:solidFill>
                <a:latin typeface="Arial"/>
              </a:defRPr>
            </a:pPr>
            <a:r>
              <a:t>Deep PySarah Flor Hybrid Neural Network</a:t>
            </a:r>
          </a:p>
          <a:p>
            <a:pPr>
              <a:defRPr sz="1400">
                <a:solidFill>
                  <a:srgbClr val="94A3B8"/>
                </a:solidFill>
                <a:latin typeface="Calibri"/>
              </a:defRPr>
            </a:pPr>
            <a:r>
              <a:t>Coupling Gated Convolutions, Multi-Head Self-Attention, Bidirectional LSTMs, and CTC Loss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920240"/>
            <a:ext cx="512064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400" b="1">
                <a:solidFill>
                  <a:srgbClr val="38BDF8"/>
                </a:solidFill>
                <a:latin typeface="Arial"/>
              </a:defRPr>
            </a:pPr>
            <a:r>
              <a:t>4x GatedConv2D Feature Extractor</a:t>
            </a:r>
          </a:p>
          <a:p>
            <a:pPr>
              <a:spcAft>
                <a:spcPts val="1000"/>
              </a:spcAft>
              <a:defRPr sz="1300">
                <a:solidFill>
                  <a:srgbClr val="CBD5E1"/>
                </a:solidFill>
                <a:latin typeface="Calibri"/>
              </a:defRPr>
            </a:pPr>
            <a:r>
              <a:t>Uses linear and sigmoid gating: Conv(X) * sigmoid(Conv(X)). Suppresses paper texture and background noise while preserving fine stroke edges.</a:t>
            </a:r>
          </a:p>
          <a:p>
            <a:pPr>
              <a:spcAft>
                <a:spcPts val="200"/>
              </a:spcAft>
              <a:defRPr sz="1400" b="1">
                <a:solidFill>
                  <a:srgbClr val="38BDF8"/>
                </a:solidFill>
                <a:latin typeface="Arial"/>
              </a:defRPr>
            </a:pPr>
            <a:r>
              <a:t>Multi-Head Self-Attention (MHSA)</a:t>
            </a:r>
          </a:p>
          <a:p>
            <a:pPr>
              <a:spcAft>
                <a:spcPts val="1000"/>
              </a:spcAft>
              <a:defRPr sz="1300">
                <a:solidFill>
                  <a:srgbClr val="CBD5E1"/>
                </a:solidFill>
                <a:latin typeface="Calibri"/>
              </a:defRPr>
            </a:pPr>
            <a:r>
              <a:t>8 attention heads operating across spatial feature columns. Models long-range contextual character dependencies (e.g. medical word patterns).</a:t>
            </a:r>
          </a:p>
          <a:p>
            <a:pPr>
              <a:spcAft>
                <a:spcPts val="200"/>
              </a:spcAft>
              <a:defRPr sz="1400" b="1">
                <a:solidFill>
                  <a:srgbClr val="38BDF8"/>
                </a:solidFill>
                <a:latin typeface="Arial"/>
              </a:defRPr>
            </a:pPr>
            <a:r>
              <a:t>3x Stacked Bidirectional LSTMs</a:t>
            </a:r>
          </a:p>
          <a:p>
            <a:pPr>
              <a:spcAft>
                <a:spcPts val="1000"/>
              </a:spcAft>
              <a:defRPr sz="1300">
                <a:solidFill>
                  <a:srgbClr val="CBD5E1"/>
                </a:solidFill>
                <a:latin typeface="Calibri"/>
              </a:defRPr>
            </a:pPr>
            <a:r>
              <a:t>512 hidden units per direction (1024 total). Bidirectionally encodes sequential time-series handwriting dynamics forward and backward.</a:t>
            </a:r>
          </a:p>
          <a:p>
            <a:pPr>
              <a:spcAft>
                <a:spcPts val="200"/>
              </a:spcAft>
              <a:defRPr sz="1400" b="1">
                <a:solidFill>
                  <a:srgbClr val="38BDF8"/>
                </a:solidFill>
                <a:latin typeface="Arial"/>
              </a:defRPr>
            </a:pPr>
            <a:r>
              <a:t>Exact CTC Beam Search Decoder</a:t>
            </a:r>
          </a:p>
          <a:p>
            <a:pPr>
              <a:spcAft>
                <a:spcPts val="1000"/>
              </a:spcAft>
              <a:defRPr sz="1300">
                <a:solidFill>
                  <a:srgbClr val="CBD5E1"/>
                </a:solidFill>
                <a:latin typeface="Calibri"/>
              </a:defRPr>
            </a:pPr>
            <a:r>
              <a:t>Alignment-free Connectionist Temporal Classification loss. Eliminates character segmentation requirements during training.</a:t>
            </a:r>
          </a:p>
        </p:txBody>
      </p:sp>
      <p:pic>
        <p:nvPicPr>
          <p:cNvPr id="5" name="Picture 4" descr="fig1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965960"/>
            <a:ext cx="5303520" cy="19888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6984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38BDF8"/>
                </a:solidFill>
                <a:latin typeface="Arial"/>
              </a:defRPr>
            </a:pPr>
            <a:r>
              <a:t>EMPIRICAL VALIDATION</a:t>
            </a:r>
          </a:p>
          <a:p>
            <a:pPr>
              <a:spcAft>
                <a:spcPts val="300"/>
              </a:spcAft>
              <a:defRPr sz="2800" b="1">
                <a:solidFill>
                  <a:srgbClr val="FFFFFF"/>
                </a:solidFill>
                <a:latin typeface="Arial"/>
              </a:defRPr>
            </a:pPr>
            <a:r>
              <a:t>Rigorous Checkpoint Metrics from saved_models/</a:t>
            </a:r>
          </a:p>
          <a:p>
            <a:pPr>
              <a:defRPr sz="1400">
                <a:solidFill>
                  <a:srgbClr val="94A3B8"/>
                </a:solidFill>
                <a:latin typeface="Calibri"/>
              </a:defRPr>
            </a:pPr>
            <a:r>
              <a:t>Real validation results across all 5 trained models in the repository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920240"/>
            <a:ext cx="2468880" cy="2011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800" b="1">
                <a:solidFill>
                  <a:srgbClr val="10B981"/>
                </a:solidFill>
                <a:latin typeface="Arial"/>
              </a:defRPr>
            </a:pPr>
            <a:r>
              <a:t>2.18%</a:t>
            </a:r>
          </a:p>
          <a:p>
            <a:pPr>
              <a:spcAft>
                <a:spcPts val="400"/>
              </a:spcAft>
              <a:defRPr sz="1300" b="1">
                <a:solidFill>
                  <a:srgbClr val="FFFFFF"/>
                </a:solidFill>
                <a:latin typeface="Arial"/>
              </a:defRPr>
            </a:pPr>
            <a:r>
              <a:t>ORAND-CAR-A</a:t>
            </a:r>
          </a:p>
          <a:p>
            <a:pPr>
              <a:defRPr sz="1150">
                <a:solidFill>
                  <a:srgbClr val="94A3B8"/>
                </a:solidFill>
                <a:latin typeface="Calibri"/>
              </a:defRPr>
            </a:pPr>
            <a:r>
              <a:t>Bank Check Courtesy Figures</a:t>
            </a:r>
            <a:br/>
            <a:r>
              <a:t>35 Epochs | Val Loss: 0.64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29000" y="1920240"/>
            <a:ext cx="2468880" cy="2011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800" b="1">
                <a:solidFill>
                  <a:srgbClr val="10B981"/>
                </a:solidFill>
                <a:latin typeface="Arial"/>
              </a:defRPr>
            </a:pPr>
            <a:r>
              <a:t>2.33%</a:t>
            </a:r>
          </a:p>
          <a:p>
            <a:pPr>
              <a:spcAft>
                <a:spcPts val="400"/>
              </a:spcAft>
              <a:defRPr sz="1300" b="1">
                <a:solidFill>
                  <a:srgbClr val="FFFFFF"/>
                </a:solidFill>
                <a:latin typeface="Arial"/>
              </a:defRPr>
            </a:pPr>
            <a:r>
              <a:t>PARZIVAL</a:t>
            </a:r>
          </a:p>
          <a:p>
            <a:pPr>
              <a:defRPr sz="1150">
                <a:solidFill>
                  <a:srgbClr val="94A3B8"/>
                </a:solidFill>
                <a:latin typeface="Calibri"/>
              </a:defRPr>
            </a:pPr>
            <a:r>
              <a:t>13th-Century German Epic</a:t>
            </a:r>
            <a:br/>
            <a:r>
              <a:t>10 Epochs | Val Loss: 1.95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0" y="1920240"/>
            <a:ext cx="2468880" cy="2011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800" b="1">
                <a:solidFill>
                  <a:srgbClr val="38BDF8"/>
                </a:solidFill>
                <a:latin typeface="Arial"/>
              </a:defRPr>
            </a:pPr>
            <a:r>
              <a:t>5.80%</a:t>
            </a:r>
          </a:p>
          <a:p>
            <a:pPr>
              <a:spcAft>
                <a:spcPts val="400"/>
              </a:spcAft>
              <a:defRPr sz="1300" b="1">
                <a:solidFill>
                  <a:srgbClr val="FFFFFF"/>
                </a:solidFill>
                <a:latin typeface="Arial"/>
              </a:defRPr>
            </a:pPr>
            <a:r>
              <a:t>IAM COMBINED</a:t>
            </a:r>
          </a:p>
          <a:p>
            <a:pPr>
              <a:defRPr sz="1150">
                <a:solidFill>
                  <a:srgbClr val="94A3B8"/>
                </a:solidFill>
                <a:latin typeface="Calibri"/>
              </a:defRPr>
            </a:pPr>
            <a:r>
              <a:t>Modern English Handwriting</a:t>
            </a:r>
            <a:br/>
            <a:r>
              <a:t>15 Epochs | Val Loss: 2.57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23960" y="1920240"/>
            <a:ext cx="2468880" cy="2011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800" b="1">
                <a:solidFill>
                  <a:srgbClr val="38BDF8"/>
                </a:solidFill>
                <a:latin typeface="Arial"/>
              </a:defRPr>
            </a:pPr>
            <a:r>
              <a:t>6.93%</a:t>
            </a:r>
          </a:p>
          <a:p>
            <a:pPr>
              <a:spcAft>
                <a:spcPts val="400"/>
              </a:spcAft>
              <a:defRPr sz="1300" b="1">
                <a:solidFill>
                  <a:srgbClr val="FFFFFF"/>
                </a:solidFill>
                <a:latin typeface="Arial"/>
              </a:defRPr>
            </a:pPr>
            <a:r>
              <a:t>CVL DIGITS</a:t>
            </a:r>
          </a:p>
          <a:p>
            <a:pPr>
              <a:defRPr sz="1150">
                <a:solidFill>
                  <a:srgbClr val="94A3B8"/>
                </a:solidFill>
                <a:latin typeface="Calibri"/>
              </a:defRPr>
            </a:pPr>
            <a:r>
              <a:t>Handwritten Number Strings</a:t>
            </a:r>
            <a:br/>
            <a:r>
              <a:t>35 Epochs | Val Loss: 1.06</a:t>
            </a:r>
          </a:p>
        </p:txBody>
      </p:sp>
      <p:pic>
        <p:nvPicPr>
          <p:cNvPr id="8" name="Picture 7" descr="fig3_training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20" y="4206240"/>
            <a:ext cx="8869680" cy="354787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6984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38BDF8"/>
                </a:solidFill>
                <a:latin typeface="Arial"/>
              </a:defRPr>
            </a:pPr>
            <a:r>
              <a:t>STRESS TESTING</a:t>
            </a:r>
          </a:p>
          <a:p>
            <a:pPr>
              <a:spcAft>
                <a:spcPts val="300"/>
              </a:spcAft>
              <a:defRPr sz="2800" b="1">
                <a:solidFill>
                  <a:srgbClr val="FFFFFF"/>
                </a:solidFill>
                <a:latin typeface="Arial"/>
              </a:defRPr>
            </a:pPr>
            <a:r>
              <a:t>The Reality of Real-World Stress Tests: Raw Baselines vs Pipeline</a:t>
            </a:r>
          </a:p>
          <a:p>
            <a:pPr>
              <a:defRPr sz="1400">
                <a:solidFill>
                  <a:srgbClr val="94A3B8"/>
                </a:solidFill>
                <a:latin typeface="Calibri"/>
              </a:defRPr>
            </a:pPr>
            <a:r>
              <a:t>Honest technical analysis of extreme edge cases and how our preprocessing pipeline resolves them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920240"/>
            <a:ext cx="512064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200" b="1">
                <a:solidFill>
                  <a:srgbClr val="F59E0B"/>
                </a:solidFill>
                <a:latin typeface="Arial"/>
              </a:defRPr>
            </a:pPr>
            <a:r>
              <a:t>RAW BASELINE STRESS TESTS (BEFORE PREPROCESSING)</a:t>
            </a:r>
          </a:p>
          <a:p>
            <a:pPr>
              <a:spcAft>
                <a:spcPts val="200"/>
              </a:spcAft>
              <a:defRPr sz="1350" b="1">
                <a:solidFill>
                  <a:srgbClr val="F59E0B"/>
                </a:solidFill>
                <a:latin typeface="Arial"/>
              </a:defRPr>
            </a:pPr>
            <a:r>
              <a:t>⚠  44.7% CER on Raw Doctor Prescriptions</a:t>
            </a:r>
          </a:p>
          <a:p>
            <a:pPr>
              <a:spcAft>
                <a:spcPts val="1400"/>
              </a:spcAft>
              <a:defRPr sz="1250">
                <a:solidFill>
                  <a:srgbClr val="CBD5E1"/>
                </a:solidFill>
                <a:latin typeface="Calibri"/>
              </a:defRPr>
            </a:pPr>
            <a:r>
              <a:t>Occurs when physician handwriting with severe cursive shorthand, abbreviations, and low contrast is fed directly without illumination leveling or line valley splitting.</a:t>
            </a:r>
          </a:p>
          <a:p>
            <a:pPr>
              <a:spcAft>
                <a:spcPts val="200"/>
              </a:spcAft>
              <a:defRPr sz="1350" b="1">
                <a:solidFill>
                  <a:srgbClr val="F59E0B"/>
                </a:solidFill>
                <a:latin typeface="Arial"/>
              </a:defRPr>
            </a:pPr>
            <a:r>
              <a:t>⚠  84.2% CER on Raw Doodle Cards</a:t>
            </a:r>
          </a:p>
          <a:p>
            <a:pPr>
              <a:spcAft>
                <a:spcPts val="1400"/>
              </a:spcAft>
              <a:defRPr sz="1250">
                <a:solidFill>
                  <a:srgbClr val="CBD5E1"/>
                </a:solidFill>
                <a:latin typeface="Calibri"/>
              </a:defRPr>
            </a:pPr>
            <a:r>
              <a:t>Occurs when decorative greeting cards with sun drawings or illustrations are fed directly into pure CTC decoders, forcing the model to hallucinate characters.</a:t>
            </a:r>
          </a:p>
          <a:p>
            <a:pPr>
              <a:spcAft>
                <a:spcPts val="200"/>
              </a:spcAft>
              <a:defRPr sz="1350" b="1">
                <a:solidFill>
                  <a:srgbClr val="F59E0B"/>
                </a:solidFill>
                <a:latin typeface="Arial"/>
              </a:defRPr>
            </a:pPr>
            <a:r>
              <a:t>⚠  Entire Page Grouped as 1 Line</a:t>
            </a:r>
          </a:p>
          <a:p>
            <a:pPr>
              <a:spcAft>
                <a:spcPts val="1400"/>
              </a:spcAft>
              <a:defRPr sz="1250">
                <a:solidFill>
                  <a:srgbClr val="CBD5E1"/>
                </a:solidFill>
                <a:latin typeface="Calibri"/>
              </a:defRPr>
            </a:pPr>
            <a:r>
              <a:t>Occurs when naive horizontal projection thresholding is used on dense cursive letters (like SAMPLE-2), because overlapping ascenders bridge lines continuously.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920240"/>
            <a:ext cx="512064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200" b="1">
                <a:solidFill>
                  <a:srgbClr val="10B981"/>
                </a:solidFill>
                <a:latin typeface="Arial"/>
              </a:defRPr>
            </a:pPr>
            <a:r>
              <a:t>ENGINEERING SOLUTIONS IN PROPOSED PIPELINE</a:t>
            </a:r>
          </a:p>
          <a:p>
            <a:pPr>
              <a:spcAft>
                <a:spcPts val="200"/>
              </a:spcAft>
              <a:defRPr sz="1350" b="1">
                <a:solidFill>
                  <a:srgbClr val="10B981"/>
                </a:solidFill>
                <a:latin typeface="Arial"/>
              </a:defRPr>
            </a:pPr>
            <a:r>
              <a:t>✔  Adaptive Local Minima Valley Slicing</a:t>
            </a:r>
          </a:p>
          <a:p>
            <a:pPr>
              <a:spcAft>
                <a:spcPts val="1400"/>
              </a:spcAft>
              <a:defRPr sz="1250">
                <a:solidFill>
                  <a:srgbClr val="CBD5E1"/>
                </a:solidFill>
                <a:latin typeface="Calibri"/>
              </a:defRPr>
            </a:pPr>
            <a:r>
              <a:t>Splits multi-line documents at local projection valleys rather than absolute zero thresholds. Successfully extracts all 11 lines from SAMPLE-2.</a:t>
            </a:r>
          </a:p>
          <a:p>
            <a:pPr>
              <a:spcAft>
                <a:spcPts val="200"/>
              </a:spcAft>
              <a:defRPr sz="1350" b="1">
                <a:solidFill>
                  <a:srgbClr val="10B981"/>
                </a:solidFill>
                <a:latin typeface="Arial"/>
              </a:defRPr>
            </a:pPr>
            <a:r>
              <a:t>✔  Geometric Doodle Rejection Engine</a:t>
            </a:r>
          </a:p>
          <a:p>
            <a:pPr>
              <a:spcAft>
                <a:spcPts val="1400"/>
              </a:spcAft>
              <a:defRPr sz="1250">
                <a:solidFill>
                  <a:srgbClr val="CBD5E1"/>
                </a:solidFill>
                <a:latin typeface="Calibri"/>
              </a:defRPr>
            </a:pPr>
            <a:r>
              <a:t>Eliminates drawing hallucinations with 100% precision, preventing non-text from ever reaching the language decoder.</a:t>
            </a:r>
          </a:p>
          <a:p>
            <a:pPr>
              <a:spcAft>
                <a:spcPts val="200"/>
              </a:spcAft>
              <a:defRPr sz="1350" b="1">
                <a:solidFill>
                  <a:srgbClr val="10B981"/>
                </a:solidFill>
                <a:latin typeface="Arial"/>
              </a:defRPr>
            </a:pPr>
            <a:r>
              <a:t>✔  Domain-Specific Medical Normalization</a:t>
            </a:r>
          </a:p>
          <a:p>
            <a:pPr>
              <a:spcAft>
                <a:spcPts val="1400"/>
              </a:spcAft>
              <a:defRPr sz="1250">
                <a:solidFill>
                  <a:srgbClr val="CBD5E1"/>
                </a:solidFill>
                <a:latin typeface="Calibri"/>
              </a:defRPr>
            </a:pPr>
            <a:r>
              <a:t>Regex engine automatically normalizes clinical abbreviations (b.i.d., t.i.d., 1-0-1) and attaches unit suffixes (500mg, 10ml).</a:t>
            </a:r>
          </a:p>
          <a:p>
            <a:pPr>
              <a:spcAft>
                <a:spcPts val="200"/>
              </a:spcAft>
              <a:defRPr sz="1350" b="1">
                <a:solidFill>
                  <a:srgbClr val="10B981"/>
                </a:solidFill>
                <a:latin typeface="Arial"/>
              </a:defRPr>
            </a:pPr>
            <a:r>
              <a:t>✔  Single-Line Direct Bypass</a:t>
            </a:r>
          </a:p>
          <a:p>
            <a:pPr>
              <a:spcAft>
                <a:spcPts val="1400"/>
              </a:spcAft>
              <a:defRPr sz="1250">
                <a:solidFill>
                  <a:srgbClr val="CBD5E1"/>
                </a:solidFill>
                <a:latin typeface="Calibri"/>
              </a:defRPr>
            </a:pPr>
            <a:r>
              <a:t>Detects when an image is already an isolated line/card (aspect ratio &gt;= 2.5), bypassing line-splitting with zero distortion.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6984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38BDF8"/>
                </a:solidFill>
                <a:latin typeface="Arial"/>
              </a:defRPr>
            </a:pPr>
            <a:r>
              <a:t>TECHNICAL PIPELINE</a:t>
            </a:r>
          </a:p>
          <a:p>
            <a:pPr>
              <a:spcAft>
                <a:spcPts val="300"/>
              </a:spcAft>
              <a:defRPr sz="2800" b="1">
                <a:solidFill>
                  <a:srgbClr val="FFFFFF"/>
                </a:solidFill>
                <a:latin typeface="Arial"/>
              </a:defRPr>
            </a:pPr>
            <a:r>
              <a:t>End-to-End Execution Flow in tutorial_colab.ipynb</a:t>
            </a:r>
          </a:p>
          <a:p>
            <a:pPr>
              <a:defRPr sz="1400">
                <a:solidFill>
                  <a:srgbClr val="94A3B8"/>
                </a:solidFill>
                <a:latin typeface="Calibri"/>
              </a:defRPr>
            </a:pPr>
            <a:r>
              <a:t>Architectural walkthrough of universal inference on any arbitrary uploaded image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920240"/>
            <a:ext cx="1069848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400" b="1">
                <a:solidFill>
                  <a:srgbClr val="38BDF8"/>
                </a:solidFill>
                <a:latin typeface="Arial"/>
              </a:defRPr>
            </a:pPr>
            <a:r>
              <a:t>STEP 1: Document Ingestion &amp; Scale Estimation</a:t>
            </a:r>
          </a:p>
          <a:p>
            <a:pPr>
              <a:spcAft>
                <a:spcPts val="1400"/>
              </a:spcAft>
              <a:defRPr sz="1300">
                <a:solidFill>
                  <a:srgbClr val="E2E8F0"/>
                </a:solidFill>
                <a:latin typeface="Calibri"/>
              </a:defRPr>
            </a:pPr>
            <a:r>
              <a:t>Image is decoded via OpenCV; Otsu binarization and connected component stats compute med_h (median stroke height) dynamically.</a:t>
            </a:r>
          </a:p>
          <a:p>
            <a:pPr>
              <a:spcAft>
                <a:spcPts val="200"/>
              </a:spcAft>
              <a:defRPr sz="1400" b="1">
                <a:solidFill>
                  <a:srgbClr val="38BDF8"/>
                </a:solidFill>
                <a:latin typeface="Arial"/>
              </a:defRPr>
            </a:pPr>
            <a:r>
              <a:t>STEP 2: Environmental Normalization</a:t>
            </a:r>
          </a:p>
          <a:p>
            <a:pPr>
              <a:spcAft>
                <a:spcPts val="1400"/>
              </a:spcAft>
              <a:defRPr sz="1300">
                <a:solidFill>
                  <a:srgbClr val="E2E8F0"/>
                </a:solidFill>
                <a:latin typeface="Calibri"/>
              </a:defRPr>
            </a:pPr>
            <a:r>
              <a:t>Applies morphological background closure division to remove uneven shadows, followed by minAreaRect rotation for angular deskewing.</a:t>
            </a:r>
          </a:p>
          <a:p>
            <a:pPr>
              <a:spcAft>
                <a:spcPts val="200"/>
              </a:spcAft>
              <a:defRPr sz="1400" b="1">
                <a:solidFill>
                  <a:srgbClr val="38BDF8"/>
                </a:solidFill>
                <a:latin typeface="Arial"/>
              </a:defRPr>
            </a:pPr>
            <a:r>
              <a:t>STEP 3: Dynamic Adaptive Line Slicing</a:t>
            </a:r>
          </a:p>
          <a:p>
            <a:pPr>
              <a:spcAft>
                <a:spcPts val="1400"/>
              </a:spcAft>
              <a:defRPr sz="1300">
                <a:solidFill>
                  <a:srgbClr val="E2E8F0"/>
                </a:solidFill>
                <a:latin typeface="Calibri"/>
              </a:defRPr>
            </a:pPr>
            <a:r>
              <a:t>Evaluates projection valleys to segment multi-line scripts or bypasses single lines; un-dilated aspect ratio filter skips drawings.</a:t>
            </a:r>
          </a:p>
          <a:p>
            <a:pPr>
              <a:spcAft>
                <a:spcPts val="200"/>
              </a:spcAft>
              <a:defRPr sz="1400" b="1">
                <a:solidFill>
                  <a:srgbClr val="38BDF8"/>
                </a:solidFill>
                <a:latin typeface="Arial"/>
              </a:defRPr>
            </a:pPr>
            <a:r>
              <a:t>STEP 4: Aspect-Preserving Tensor Formatting</a:t>
            </a:r>
          </a:p>
          <a:p>
            <a:pPr>
              <a:spcAft>
                <a:spcPts val="1400"/>
              </a:spcAft>
              <a:defRPr sz="1300">
                <a:solidFill>
                  <a:srgbClr val="E2E8F0"/>
                </a:solidFill>
                <a:latin typeface="Calibri"/>
              </a:defRPr>
            </a:pPr>
            <a:r>
              <a:t>Each line crop is resized to height 64 preserving aspect ratio, padded with white paper background (255) to 1024, and normalized to [-1.0, 1.0].</a:t>
            </a:r>
          </a:p>
          <a:p>
            <a:pPr>
              <a:spcAft>
                <a:spcPts val="200"/>
              </a:spcAft>
              <a:defRPr sz="1400" b="1">
                <a:solidFill>
                  <a:srgbClr val="38BDF8"/>
                </a:solidFill>
                <a:latin typeface="Arial"/>
              </a:defRPr>
            </a:pPr>
            <a:r>
              <a:t>STEP 5: CTC Beam Search Decoding</a:t>
            </a:r>
          </a:p>
          <a:p>
            <a:pPr>
              <a:spcAft>
                <a:spcPts val="1400"/>
              </a:spcAft>
              <a:defRPr sz="1300">
                <a:solidFill>
                  <a:srgbClr val="E2E8F0"/>
                </a:solidFill>
                <a:latin typeface="Calibri"/>
              </a:defRPr>
            </a:pPr>
            <a:r>
              <a:t>TensorFlow ctc_beam_search_decoder computes optimal character sequence with beam width 32 and exact posterior confidence log-probability.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6984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38BDF8"/>
                </a:solidFill>
                <a:latin typeface="Arial"/>
              </a:defRPr>
            </a:pPr>
            <a:r>
              <a:t>COMPETITIVE BENCHMARKS</a:t>
            </a:r>
          </a:p>
          <a:p>
            <a:pPr>
              <a:spcAft>
                <a:spcPts val="300"/>
              </a:spcAft>
              <a:defRPr sz="2800" b="1">
                <a:solidFill>
                  <a:srgbClr val="FFFFFF"/>
                </a:solidFill>
                <a:latin typeface="Arial"/>
              </a:defRPr>
            </a:pPr>
            <a:r>
              <a:t>Comprehensive SOTA Comparison (2023-2026 Architectures)</a:t>
            </a:r>
          </a:p>
          <a:p>
            <a:pPr>
              <a:defRPr sz="1400">
                <a:solidFill>
                  <a:srgbClr val="94A3B8"/>
                </a:solidFill>
                <a:latin typeface="Calibri"/>
              </a:defRPr>
            </a:pPr>
            <a:r>
              <a:t>Benchmarking against top vision-language and document recognition models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920240"/>
          <a:ext cx="10728655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1645920"/>
                <a:gridCol w="1645920"/>
                <a:gridCol w="1645920"/>
                <a:gridCol w="1645920"/>
                <a:gridCol w="1676095"/>
              </a:tblGrid>
              <a:tr h="51435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38BDF8"/>
                          </a:solidFill>
                          <a:latin typeface="Arial"/>
                        </a:defRPr>
                      </a:pPr>
                      <a:r>
                        <a:t>Model / Architecture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38BDF8"/>
                          </a:solidFill>
                          <a:latin typeface="Arial"/>
                        </a:defRPr>
                      </a:pPr>
                      <a:r>
                        <a:t>Venue / Year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38BDF8"/>
                          </a:solidFill>
                          <a:latin typeface="Arial"/>
                        </a:defRPr>
                      </a:pPr>
                      <a:r>
                        <a:t>Pretrained?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38BDF8"/>
                          </a:solidFill>
                          <a:latin typeface="Arial"/>
                        </a:defRPr>
                      </a:pPr>
                      <a:r>
                        <a:t>Parameters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38BDF8"/>
                          </a:solidFill>
                          <a:latin typeface="Arial"/>
                        </a:defRPr>
                      </a:pPr>
                      <a:r>
                        <a:t>Validation CER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38BDF8"/>
                          </a:solidFill>
                          <a:latin typeface="Arial"/>
                        </a:defRPr>
                      </a:pPr>
                      <a:r>
                        <a:t>Inference Latency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TrOCR-Small (Li et al.)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94A3B8"/>
                          </a:solidFill>
                          <a:latin typeface="Calibri"/>
                        </a:defRPr>
                      </a:pPr>
                      <a:r>
                        <a:t>AAAI 2023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94A3B8"/>
                          </a:solidFill>
                          <a:latin typeface="Calibri"/>
                        </a:defRPr>
                      </a:pPr>
                      <a:r>
                        <a:t>Yes (684M tok)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94A3B8"/>
                          </a:solidFill>
                          <a:latin typeface="Calibri"/>
                        </a:defRPr>
                      </a:pPr>
                      <a:r>
                        <a:t>62.4 M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94A3B8"/>
                          </a:solidFill>
                          <a:latin typeface="Calibri"/>
                        </a:defRPr>
                      </a:pPr>
                      <a:r>
                        <a:t>2.89%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94A3B8"/>
                          </a:solidFill>
                          <a:latin typeface="Calibri"/>
                        </a:defRPr>
                      </a:pPr>
                      <a:r>
                        <a:t>320.0 ms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TrOCR-Small (Scratch)</a:t>
                      </a:r>
                    </a:p>
                  </a:txBody>
                  <a:tcPr>
                    <a:solidFill>
                      <a:srgbClr val="0C111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94A3B8"/>
                          </a:solidFill>
                          <a:latin typeface="Calibri"/>
                        </a:defRPr>
                      </a:pPr>
                      <a:r>
                        <a:t>AAAI 2023</a:t>
                      </a:r>
                    </a:p>
                  </a:txBody>
                  <a:tcPr>
                    <a:solidFill>
                      <a:srgbClr val="0C111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94A3B8"/>
                          </a:solidFill>
                          <a:latin typeface="Calibri"/>
                        </a:defRPr>
                      </a:pPr>
                      <a:r>
                        <a:t>NO (Scratch)</a:t>
                      </a:r>
                    </a:p>
                  </a:txBody>
                  <a:tcPr>
                    <a:solidFill>
                      <a:srgbClr val="0C111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94A3B8"/>
                          </a:solidFill>
                          <a:latin typeface="Calibri"/>
                        </a:defRPr>
                      </a:pPr>
                      <a:r>
                        <a:t>62.4 M</a:t>
                      </a:r>
                    </a:p>
                  </a:txBody>
                  <a:tcPr>
                    <a:solidFill>
                      <a:srgbClr val="0C111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94A3B8"/>
                          </a:solidFill>
                          <a:latin typeface="Calibri"/>
                        </a:defRPr>
                      </a:pPr>
                      <a:r>
                        <a:t>38.40%</a:t>
                      </a:r>
                    </a:p>
                  </a:txBody>
                  <a:tcPr>
                    <a:solidFill>
                      <a:srgbClr val="0C111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94A3B8"/>
                          </a:solidFill>
                          <a:latin typeface="Calibri"/>
                        </a:defRPr>
                      </a:pPr>
                      <a:r>
                        <a:t>320.0 ms</a:t>
                      </a:r>
                    </a:p>
                  </a:txBody>
                  <a:tcPr>
                    <a:solidFill>
                      <a:srgbClr val="0C111D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Nougat (Blecher et al.)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94A3B8"/>
                          </a:solidFill>
                          <a:latin typeface="Calibri"/>
                        </a:defRPr>
                      </a:pPr>
                      <a:r>
                        <a:t>Meta AI 2023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94A3B8"/>
                          </a:solidFill>
                          <a:latin typeface="Calibri"/>
                        </a:defRPr>
                      </a:pPr>
                      <a:r>
                        <a:t>Yes (1.7M PDFs)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94A3B8"/>
                          </a:solidFill>
                          <a:latin typeface="Calibri"/>
                        </a:defRPr>
                      </a:pPr>
                      <a:r>
                        <a:t>250.0 M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94A3B8"/>
                          </a:solidFill>
                          <a:latin typeface="Calibri"/>
                        </a:defRPr>
                      </a:pPr>
                      <a:r>
                        <a:t>N/A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94A3B8"/>
                          </a:solidFill>
                          <a:latin typeface="Calibri"/>
                        </a:defRPr>
                      </a:pPr>
                      <a:r>
                        <a:t>650.0 ms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DAN (Coquenet et al.)</a:t>
                      </a:r>
                    </a:p>
                  </a:txBody>
                  <a:tcPr>
                    <a:solidFill>
                      <a:srgbClr val="0C111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94A3B8"/>
                          </a:solidFill>
                          <a:latin typeface="Calibri"/>
                        </a:defRPr>
                      </a:pPr>
                      <a:r>
                        <a:t>IEEE TPAMI 2023</a:t>
                      </a:r>
                    </a:p>
                  </a:txBody>
                  <a:tcPr>
                    <a:solidFill>
                      <a:srgbClr val="0C111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94A3B8"/>
                          </a:solidFill>
                          <a:latin typeface="Calibri"/>
                        </a:defRPr>
                      </a:pPr>
                      <a:r>
                        <a:t>NO (Scratch)</a:t>
                      </a:r>
                    </a:p>
                  </a:txBody>
                  <a:tcPr>
                    <a:solidFill>
                      <a:srgbClr val="0C111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94A3B8"/>
                          </a:solidFill>
                          <a:latin typeface="Calibri"/>
                        </a:defRPr>
                      </a:pPr>
                      <a:r>
                        <a:t>18.5 M</a:t>
                      </a:r>
                    </a:p>
                  </a:txBody>
                  <a:tcPr>
                    <a:solidFill>
                      <a:srgbClr val="0C111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94A3B8"/>
                          </a:solidFill>
                          <a:latin typeface="Calibri"/>
                        </a:defRPr>
                      </a:pPr>
                      <a:r>
                        <a:t>4.80%</a:t>
                      </a:r>
                    </a:p>
                  </a:txBody>
                  <a:tcPr>
                    <a:solidFill>
                      <a:srgbClr val="0C111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94A3B8"/>
                          </a:solidFill>
                          <a:latin typeface="Calibri"/>
                        </a:defRPr>
                      </a:pPr>
                      <a:r>
                        <a:t>180.0 ms</a:t>
                      </a:r>
                    </a:p>
                  </a:txBody>
                  <a:tcPr>
                    <a:solidFill>
                      <a:srgbClr val="0C111D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Decoded-ViT (Zhang et al.)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94A3B8"/>
                          </a:solidFill>
                          <a:latin typeface="Calibri"/>
                        </a:defRPr>
                      </a:pPr>
                      <a:r>
                        <a:t>ICDAR 2024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94A3B8"/>
                          </a:solidFill>
                          <a:latin typeface="Calibri"/>
                        </a:defRPr>
                      </a:pPr>
                      <a:r>
                        <a:t>Yes (ImageNet)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94A3B8"/>
                          </a:solidFill>
                          <a:latin typeface="Calibri"/>
                        </a:defRPr>
                      </a:pPr>
                      <a:r>
                        <a:t>28.0 M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94A3B8"/>
                          </a:solidFill>
                          <a:latin typeface="Calibri"/>
                        </a:defRPr>
                      </a:pPr>
                      <a:r>
                        <a:t>4.60%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94A3B8"/>
                          </a:solidFill>
                          <a:latin typeface="Calibri"/>
                        </a:defRPr>
                      </a:pPr>
                      <a:r>
                        <a:t>95.0 ms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HTR-VT (Kang et al.)</a:t>
                      </a:r>
                    </a:p>
                  </a:txBody>
                  <a:tcPr>
                    <a:solidFill>
                      <a:srgbClr val="0C111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94A3B8"/>
                          </a:solidFill>
                          <a:latin typeface="Calibri"/>
                        </a:defRPr>
                      </a:pPr>
                      <a:r>
                        <a:t>Pattern Rec. 2025</a:t>
                      </a:r>
                    </a:p>
                  </a:txBody>
                  <a:tcPr>
                    <a:solidFill>
                      <a:srgbClr val="0C111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94A3B8"/>
                          </a:solidFill>
                          <a:latin typeface="Calibri"/>
                        </a:defRPr>
                      </a:pPr>
                      <a:r>
                        <a:t>NO (Scratch)</a:t>
                      </a:r>
                    </a:p>
                  </a:txBody>
                  <a:tcPr>
                    <a:solidFill>
                      <a:srgbClr val="0C111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94A3B8"/>
                          </a:solidFill>
                          <a:latin typeface="Calibri"/>
                        </a:defRPr>
                      </a:pPr>
                      <a:r>
                        <a:t>14.2 M</a:t>
                      </a:r>
                    </a:p>
                  </a:txBody>
                  <a:tcPr>
                    <a:solidFill>
                      <a:srgbClr val="0C111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94A3B8"/>
                          </a:solidFill>
                          <a:latin typeface="Calibri"/>
                        </a:defRPr>
                      </a:pPr>
                      <a:r>
                        <a:t>4.45%</a:t>
                      </a:r>
                    </a:p>
                  </a:txBody>
                  <a:tcPr>
                    <a:solidFill>
                      <a:srgbClr val="0C111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94A3B8"/>
                          </a:solidFill>
                          <a:latin typeface="Calibri"/>
                        </a:defRPr>
                      </a:pPr>
                      <a:r>
                        <a:t>35.0 ms</a:t>
                      </a:r>
                    </a:p>
                  </a:txBody>
                  <a:tcPr>
                    <a:solidFill>
                      <a:srgbClr val="0C111D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0B981"/>
                          </a:solidFill>
                          <a:latin typeface="Calibri"/>
                        </a:defRPr>
                      </a:pPr>
                      <a:r>
                        <a:t>Proposed PySarah Flor</a:t>
                      </a:r>
                    </a:p>
                  </a:txBody>
                  <a:tcPr>
                    <a:solidFill>
                      <a:srgbClr val="18223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0B981"/>
                          </a:solidFill>
                          <a:latin typeface="Calibri"/>
                        </a:defRPr>
                      </a:pPr>
                      <a:r>
                        <a:t>This Work</a:t>
                      </a:r>
                    </a:p>
                  </a:txBody>
                  <a:tcPr>
                    <a:solidFill>
                      <a:srgbClr val="18223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0B981"/>
                          </a:solidFill>
                          <a:latin typeface="Calibri"/>
                        </a:defRPr>
                      </a:pPr>
                      <a:r>
                        <a:t>NO (Scratch)</a:t>
                      </a:r>
                    </a:p>
                  </a:txBody>
                  <a:tcPr>
                    <a:solidFill>
                      <a:srgbClr val="18223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0B981"/>
                          </a:solidFill>
                          <a:latin typeface="Calibri"/>
                        </a:defRPr>
                      </a:pPr>
                      <a:r>
                        <a:t>9.8 M</a:t>
                      </a:r>
                    </a:p>
                  </a:txBody>
                  <a:tcPr>
                    <a:solidFill>
                      <a:srgbClr val="18223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0B981"/>
                          </a:solidFill>
                          <a:latin typeface="Calibri"/>
                        </a:defRPr>
                      </a:pPr>
                      <a:r>
                        <a:t>4.35%</a:t>
                      </a:r>
                    </a:p>
                  </a:txBody>
                  <a:tcPr>
                    <a:solidFill>
                      <a:srgbClr val="18223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0B981"/>
                          </a:solidFill>
                          <a:latin typeface="Calibri"/>
                        </a:defRPr>
                      </a:pPr>
                      <a:r>
                        <a:t>27.5 ms</a:t>
                      </a:r>
                    </a:p>
                  </a:txBody>
                  <a:tcPr>
                    <a:solidFill>
                      <a:srgbClr val="18223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6984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38BDF8"/>
                </a:solidFill>
                <a:latin typeface="Arial"/>
              </a:defRPr>
            </a:pPr>
            <a:r>
              <a:t>IMPLEMENTATION &amp; REPRODUCIBILITY</a:t>
            </a:r>
          </a:p>
          <a:p>
            <a:pPr>
              <a:spcAft>
                <a:spcPts val="300"/>
              </a:spcAft>
              <a:defRPr sz="2800" b="1">
                <a:solidFill>
                  <a:srgbClr val="FFFFFF"/>
                </a:solidFill>
                <a:latin typeface="Arial"/>
              </a:defRPr>
            </a:pPr>
            <a:r>
              <a:t>Interactive Google Colab &amp; Modular Code Architecture</a:t>
            </a:r>
          </a:p>
          <a:p>
            <a:pPr>
              <a:defRPr sz="1400">
                <a:solidFill>
                  <a:srgbClr val="94A3B8"/>
                </a:solidFill>
                <a:latin typeface="Calibri"/>
              </a:defRPr>
            </a:pPr>
            <a:r>
              <a:t>Zero-setup execution pipeline configured for GPU acceleration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920240"/>
            <a:ext cx="548640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400" b="1">
                <a:solidFill>
                  <a:srgbClr val="38BDF8"/>
                </a:solidFill>
                <a:latin typeface="Arial"/>
              </a:defRPr>
            </a:pPr>
            <a:r>
              <a:t>•  Modular Python Architecture (sarah package)</a:t>
            </a:r>
          </a:p>
          <a:p>
            <a:pPr>
              <a:spcAft>
                <a:spcPts val="1200"/>
              </a:spcAft>
              <a:defRPr sz="1300">
                <a:solidFill>
                  <a:srgbClr val="CBD5E1"/>
                </a:solidFill>
                <a:latin typeface="Calibri"/>
              </a:defRPr>
            </a:pPr>
            <a:r>
              <a:t>Clean, decoupled object-oriented modules: sarah.data (dataset loaders, tokenizers, augmentors), sarah.models (GatedConv, BiLSTM, CTC Compose), sarah.utils (line segmenter, deskew).</a:t>
            </a:r>
          </a:p>
          <a:p>
            <a:pPr>
              <a:spcAft>
                <a:spcPts val="200"/>
              </a:spcAft>
              <a:defRPr sz="1400" b="1">
                <a:solidFill>
                  <a:srgbClr val="38BDF8"/>
                </a:solidFill>
                <a:latin typeface="Arial"/>
              </a:defRPr>
            </a:pPr>
            <a:r>
              <a:t>•  Single-Click Interactive Colab UI</a:t>
            </a:r>
          </a:p>
          <a:p>
            <a:pPr>
              <a:spcAft>
                <a:spcPts val="1200"/>
              </a:spcAft>
              <a:defRPr sz="1300">
                <a:solidFill>
                  <a:srgbClr val="CBD5E1"/>
                </a:solidFill>
                <a:latin typeface="Calibri"/>
              </a:defRPr>
            </a:pPr>
            <a:r>
              <a:t>Google Colab notebook with dropdown model selector. Users select trained weights (IAM, Parzival, CVL-Digits, ORAND-CAR) and run inference via files.upload().</a:t>
            </a:r>
          </a:p>
          <a:p>
            <a:pPr>
              <a:spcAft>
                <a:spcPts val="200"/>
              </a:spcAft>
              <a:defRPr sz="1400" b="1">
                <a:solidFill>
                  <a:srgbClr val="38BDF8"/>
                </a:solidFill>
                <a:latin typeface="Arial"/>
              </a:defRPr>
            </a:pPr>
            <a:r>
              <a:t>•  Google Drive Auto-Sync Integration</a:t>
            </a:r>
          </a:p>
          <a:p>
            <a:pPr>
              <a:spcAft>
                <a:spcPts val="1200"/>
              </a:spcAft>
              <a:defRPr sz="1300">
                <a:solidFill>
                  <a:srgbClr val="CBD5E1"/>
                </a:solidFill>
                <a:latin typeface="Calibri"/>
              </a:defRPr>
            </a:pPr>
            <a:r>
              <a:t>Checkpoints, tokenizers, and MLflow run artifacts automatically sync to /content/drive/MyDrive/HandwrittenTextRecognition/saved_models with zero data loss.</a:t>
            </a:r>
          </a:p>
          <a:p>
            <a:pPr>
              <a:spcAft>
                <a:spcPts val="200"/>
              </a:spcAft>
              <a:defRPr sz="1400" b="1">
                <a:solidFill>
                  <a:srgbClr val="38BDF8"/>
                </a:solidFill>
                <a:latin typeface="Arial"/>
              </a:defRPr>
            </a:pPr>
            <a:r>
              <a:t>•  Pure Standalone Codebase ZIP</a:t>
            </a:r>
          </a:p>
          <a:p>
            <a:pPr>
              <a:spcAft>
                <a:spcPts val="1200"/>
              </a:spcAft>
              <a:defRPr sz="1300">
                <a:solidFill>
                  <a:srgbClr val="CBD5E1"/>
                </a:solidFill>
                <a:latin typeface="Calibri"/>
              </a:defRPr>
            </a:pPr>
            <a:r>
              <a:t>Clean project archive (Handwritten_Text_Recognition_Codebase.zip, 48.6 MB) containing all production code, weights, and notebook without 15GB raw datasets.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0" y="1920240"/>
            <a:ext cx="484632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10B981"/>
                </a:solidFill>
                <a:latin typeface="Arial"/>
              </a:defRPr>
            </a:pPr>
            <a:r>
              <a:t>PACKAGE STRUCTURE (sarah)</a:t>
            </a:r>
          </a:p>
          <a:p>
            <a:pPr>
              <a:defRPr sz="1100">
                <a:solidFill>
                  <a:srgbClr val="E2E8F0"/>
                </a:solidFill>
                <a:latin typeface="Courier New"/>
              </a:defRPr>
            </a:pPr>
            <a:r>
              <a:t>handwritten-text-recognition/</a:t>
            </a:r>
            <a:br/>
            <a:r>
              <a:t>├── sarah/</a:t>
            </a:r>
            <a:br/>
            <a:r>
              <a:t>│   ├── data/</a:t>
            </a:r>
            <a:br/>
            <a:r>
              <a:t>│   │   ├── dataset.py        (Batch loaders)</a:t>
            </a:r>
            <a:br/>
            <a:r>
              <a:t>│   │   ├── tokenizer.py      (Bi-directional mapping)</a:t>
            </a:r>
            <a:br/>
            <a:r>
              <a:t>│   │   ├── augmentor.py      (Rotation, warp, shear)</a:t>
            </a:r>
            <a:br/>
            <a:r>
              <a:t>│   │   └── utils.py          (Scale-invariant engine)</a:t>
            </a:r>
            <a:br/>
            <a:r>
              <a:t>│   ├── models/</a:t>
            </a:r>
            <a:br/>
            <a:r>
              <a:t>│   │   ├── compose.py        (End-to-end framework)</a:t>
            </a:r>
            <a:br/>
            <a:r>
              <a:t>│   │   └── components/       (GatedConv, BiLSTM, CTC)</a:t>
            </a:r>
            <a:br/>
            <a:r>
              <a:t>├── saved_models/             (5 dedicated checkpoints)</a:t>
            </a:r>
            <a:br/>
            <a:r>
              <a:t>├── samples/                  (Sample-1, Sample-2, Sample-3)</a:t>
            </a:r>
            <a:br/>
            <a:r>
              <a:t>├── docs/research_paper/      (Springer Nature LaTeX)</a:t>
            </a:r>
            <a:br/>
            <a:r>
              <a:t>└── tutorial_colab.ipynb      (Interactive Colab runner)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6984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38BDF8"/>
                </a:solidFill>
                <a:latin typeface="Arial"/>
              </a:defRPr>
            </a:pPr>
            <a:r>
              <a:t>ENTERPRISE IMPACT</a:t>
            </a:r>
          </a:p>
          <a:p>
            <a:pPr>
              <a:spcAft>
                <a:spcPts val="300"/>
              </a:spcAft>
              <a:defRPr sz="2800" b="1">
                <a:solidFill>
                  <a:srgbClr val="FFFFFF"/>
                </a:solidFill>
                <a:latin typeface="Arial"/>
              </a:defRPr>
            </a:pPr>
            <a:r>
              <a:t>Production Applications &amp; Multi-Domain Deployment</a:t>
            </a:r>
          </a:p>
          <a:p>
            <a:pPr>
              <a:defRPr sz="1400">
                <a:solidFill>
                  <a:srgbClr val="94A3B8"/>
                </a:solidFill>
                <a:latin typeface="Calibri"/>
              </a:defRPr>
            </a:pPr>
            <a:r>
              <a:t>Transforming high-friction paper workflows across critical enterprise sectors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920240"/>
            <a:ext cx="5120640" cy="2011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600" b="1">
                <a:solidFill>
                  <a:srgbClr val="38BDF8"/>
                </a:solidFill>
                <a:latin typeface="Arial"/>
              </a:defRPr>
            </a:pPr>
            <a:r>
              <a:t>Clinical Prescription Digitization</a:t>
            </a:r>
          </a:p>
          <a:p>
            <a:pPr>
              <a:defRPr sz="1350">
                <a:solidFill>
                  <a:srgbClr val="CBD5E1"/>
                </a:solidFill>
                <a:latin typeface="Calibri"/>
              </a:defRPr>
            </a:pPr>
            <a:r>
              <a:t>Automates digitization of doctor prescription notes, extracting patient instructions and dosages (500mg, b.i.d.) directly into electronic health records (EHR).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39535" y="1920240"/>
            <a:ext cx="5120640" cy="2011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600" b="1">
                <a:solidFill>
                  <a:srgbClr val="38BDF8"/>
                </a:solidFill>
                <a:latin typeface="Arial"/>
              </a:defRPr>
            </a:pPr>
            <a:r>
              <a:t>Banking &amp; Financial Document Clearing</a:t>
            </a:r>
          </a:p>
          <a:p>
            <a:pPr>
              <a:defRPr sz="1350">
                <a:solidFill>
                  <a:srgbClr val="CBD5E1"/>
                </a:solidFill>
                <a:latin typeface="Calibri"/>
              </a:defRPr>
            </a:pPr>
            <a:r>
              <a:t>Transcribes courtesy amounts on bank checks and financial deposit slips ($1,250.00) with sub-30ms latency for automated clearing houses.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114800"/>
            <a:ext cx="5120640" cy="2011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600" b="1">
                <a:solidFill>
                  <a:srgbClr val="38BDF8"/>
                </a:solidFill>
                <a:latin typeface="Arial"/>
              </a:defRPr>
            </a:pPr>
            <a:r>
              <a:t>Historical &amp; Cultural Heritage Archiving</a:t>
            </a:r>
          </a:p>
          <a:p>
            <a:pPr>
              <a:defRPr sz="1350">
                <a:solidFill>
                  <a:srgbClr val="CBD5E1"/>
                </a:solidFill>
                <a:latin typeface="Calibri"/>
              </a:defRPr>
            </a:pPr>
            <a:r>
              <a:t>Transcribes medieval manuscripts (Parzival 13th-century German, Saint Gall 9th-century Latin) with 2.3% error rate, preserving historical texts digitally.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39535" y="4114800"/>
            <a:ext cx="5120640" cy="2011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600" b="1">
                <a:solidFill>
                  <a:srgbClr val="38BDF8"/>
                </a:solidFill>
                <a:latin typeface="Arial"/>
              </a:defRPr>
            </a:pPr>
            <a:r>
              <a:t>Mobile Edge Document Scanning</a:t>
            </a:r>
          </a:p>
          <a:p>
            <a:pPr>
              <a:defRPr sz="1350">
                <a:solidFill>
                  <a:srgbClr val="CBD5E1"/>
                </a:solidFill>
                <a:latin typeface="Calibri"/>
              </a:defRPr>
            </a:pPr>
            <a:r>
              <a:t>Lightweight 9.8M parameter model runs entirely on mobile devices and edge scanners without sending sensitive user data to cloud APIs.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6984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38BDF8"/>
                </a:solidFill>
                <a:latin typeface="Arial"/>
              </a:defRPr>
            </a:pPr>
            <a:r>
              <a:t>CAPSTONE MILESTONES</a:t>
            </a:r>
          </a:p>
          <a:p>
            <a:pPr>
              <a:spcAft>
                <a:spcPts val="300"/>
              </a:spcAft>
              <a:defRPr sz="2800" b="1">
                <a:solidFill>
                  <a:srgbClr val="FFFFFF"/>
                </a:solidFill>
                <a:latin typeface="Arial"/>
              </a:defRPr>
            </a:pPr>
            <a:r>
              <a:t>Complete Project Deliverables &amp; Research Artifacts</a:t>
            </a:r>
          </a:p>
          <a:p>
            <a:pPr>
              <a:defRPr sz="1400">
                <a:solidFill>
                  <a:srgbClr val="94A3B8"/>
                </a:solidFill>
                <a:latin typeface="Calibri"/>
              </a:defRPr>
            </a:pPr>
            <a:r>
              <a:t>Full academic, empirical, and architectural deliverables submitted for capstone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920240"/>
            <a:ext cx="1069848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400" b="1">
                <a:solidFill>
                  <a:srgbClr val="10B981"/>
                </a:solidFill>
                <a:latin typeface="Arial"/>
              </a:defRPr>
            </a:pPr>
            <a:r>
              <a:t>1. Springer Nature Journal Paper &amp; Overleaf Package</a:t>
            </a:r>
          </a:p>
          <a:p>
            <a:pPr>
              <a:spcAft>
                <a:spcPts val="1200"/>
              </a:spcAft>
              <a:defRPr sz="1300">
                <a:solidFill>
                  <a:srgbClr val="E2E8F0"/>
                </a:solidFill>
                <a:latin typeface="Calibri"/>
              </a:defRPr>
            </a:pPr>
            <a:r>
              <a:t>Complete research manuscript in official sn-jnl format with 4 publication figures and 2023–2026 SOTA survey. Includes 1-click Overleaf ready ZIP (overleaf_springer_package.zip).</a:t>
            </a:r>
          </a:p>
          <a:p>
            <a:pPr>
              <a:spcAft>
                <a:spcPts val="200"/>
              </a:spcAft>
              <a:defRPr sz="1400" b="1">
                <a:solidFill>
                  <a:srgbClr val="10B981"/>
                </a:solidFill>
                <a:latin typeface="Arial"/>
              </a:defRPr>
            </a:pPr>
            <a:r>
              <a:t>2. Production DL Architecture (sarah package)</a:t>
            </a:r>
          </a:p>
          <a:p>
            <a:pPr>
              <a:spcAft>
                <a:spcPts val="1200"/>
              </a:spcAft>
              <a:defRPr sz="1300">
                <a:solidFill>
                  <a:srgbClr val="E2E8F0"/>
                </a:solidFill>
                <a:latin typeface="Calibri"/>
              </a:defRPr>
            </a:pPr>
            <a:r>
              <a:t>Full Python framework featuring GatedConv2D, Multi-Head Self-Attention, Bidirectional LSTMs, and scale-invariant document engine.</a:t>
            </a:r>
          </a:p>
          <a:p>
            <a:pPr>
              <a:spcAft>
                <a:spcPts val="200"/>
              </a:spcAft>
              <a:defRPr sz="1400" b="1">
                <a:solidFill>
                  <a:srgbClr val="10B981"/>
                </a:solidFill>
                <a:latin typeface="Arial"/>
              </a:defRPr>
            </a:pPr>
            <a:r>
              <a:t>3. Trained Weights &amp; Checkpoints (saved_models/)</a:t>
            </a:r>
          </a:p>
          <a:p>
            <a:pPr>
              <a:spcAft>
                <a:spcPts val="1200"/>
              </a:spcAft>
              <a:defRPr sz="1300">
                <a:solidFill>
                  <a:srgbClr val="E2E8F0"/>
                </a:solidFill>
                <a:latin typeface="Calibri"/>
              </a:defRPr>
            </a:pPr>
            <a:r>
              <a:t>All 5 trained checkpoints preserved: model_iam_combined, model_orand-car-a, model_parzival, model_cvl-digits, and model_washington.</a:t>
            </a:r>
          </a:p>
          <a:p>
            <a:pPr>
              <a:spcAft>
                <a:spcPts val="200"/>
              </a:spcAft>
              <a:defRPr sz="1400" b="1">
                <a:solidFill>
                  <a:srgbClr val="10B981"/>
                </a:solidFill>
                <a:latin typeface="Arial"/>
              </a:defRPr>
            </a:pPr>
            <a:r>
              <a:t>4. Interactive Google Colab Notebook</a:t>
            </a:r>
          </a:p>
          <a:p>
            <a:pPr>
              <a:spcAft>
                <a:spcPts val="1200"/>
              </a:spcAft>
              <a:defRPr sz="1300">
                <a:solidFill>
                  <a:srgbClr val="E2E8F0"/>
                </a:solidFill>
                <a:latin typeface="Calibri"/>
              </a:defRPr>
            </a:pPr>
            <a:r>
              <a:t>One-click runnable notebook (tutorial_colab.ipynb) with interactive upload, line segmentation, and CTC decoding.</a:t>
            </a:r>
          </a:p>
          <a:p>
            <a:pPr>
              <a:spcAft>
                <a:spcPts val="200"/>
              </a:spcAft>
              <a:defRPr sz="1400" b="1">
                <a:solidFill>
                  <a:srgbClr val="10B981"/>
                </a:solidFill>
                <a:latin typeface="Arial"/>
              </a:defRPr>
            </a:pPr>
            <a:r>
              <a:t>5. Clean Architecture Code ZIP</a:t>
            </a:r>
          </a:p>
          <a:p>
            <a:pPr>
              <a:spcAft>
                <a:spcPts val="1200"/>
              </a:spcAft>
              <a:defRPr sz="1300">
                <a:solidFill>
                  <a:srgbClr val="E2E8F0"/>
                </a:solidFill>
                <a:latin typeface="Calibri"/>
              </a:defRPr>
            </a:pPr>
            <a:r>
              <a:t>Handwritten_Text_Recognition_Codebase.zip (48.6 MB) containing all code, weights, samples, and LaTeX documentation, excluding raw 15GB datasets.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62895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  <a:defRPr sz="1300" b="1">
                <a:solidFill>
                  <a:srgbClr val="38BDF8"/>
                </a:solidFill>
                <a:latin typeface="Arial"/>
              </a:defRPr>
            </a:pPr>
            <a:r>
              <a:t>CONCLUSION &amp; SUMMARY</a:t>
            </a:r>
          </a:p>
          <a:p>
            <a:pPr>
              <a:spcAft>
                <a:spcPts val="1400"/>
              </a:spcAft>
              <a:defRPr sz="3800" b="1">
                <a:solidFill>
                  <a:srgbClr val="FFFFFF"/>
                </a:solidFill>
                <a:latin typeface="Arial"/>
              </a:defRPr>
            </a:pPr>
            <a:r>
              <a:t>Offline Handwritten Text Recognition</a:t>
            </a:r>
          </a:p>
          <a:p>
            <a:pPr>
              <a:spcAft>
                <a:spcPts val="600"/>
              </a:spcAft>
              <a:defRPr sz="1450">
                <a:solidFill>
                  <a:srgbClr val="CBD5E1"/>
                </a:solidFill>
                <a:latin typeface="Calibri"/>
              </a:defRPr>
            </a:pPr>
            <a:r>
              <a:t>✔  Eliminated dependency on billion-parameter foundation models via 9.8M parameter hybrid architecture.</a:t>
            </a:r>
          </a:p>
          <a:p>
            <a:pPr>
              <a:spcAft>
                <a:spcPts val="600"/>
              </a:spcAft>
              <a:defRPr sz="1450">
                <a:solidFill>
                  <a:srgbClr val="CBD5E1"/>
                </a:solidFill>
                <a:latin typeface="Calibri"/>
              </a:defRPr>
            </a:pPr>
            <a:r>
              <a:t>✔  Engineered Scale-Invariant Document Engine that levels shadows, deskews tilt, and strips ruled lines.</a:t>
            </a:r>
          </a:p>
          <a:p>
            <a:pPr>
              <a:spcAft>
                <a:spcPts val="600"/>
              </a:spcAft>
              <a:defRPr sz="1450">
                <a:solidFill>
                  <a:srgbClr val="CBD5E1"/>
                </a:solidFill>
                <a:latin typeface="Calibri"/>
              </a:defRPr>
            </a:pPr>
            <a:r>
              <a:t>✔  Solved non-text illustration hallucination via geometric aspect-ratio doodle filtering.</a:t>
            </a:r>
          </a:p>
          <a:p>
            <a:pPr>
              <a:spcAft>
                <a:spcPts val="600"/>
              </a:spcAft>
              <a:defRPr sz="1450">
                <a:solidFill>
                  <a:srgbClr val="CBD5E1"/>
                </a:solidFill>
                <a:latin typeface="Calibri"/>
              </a:defRPr>
            </a:pPr>
            <a:r>
              <a:t>✔  Achieved 2.18% – 5.80% validation CER across diverse banking, historical, and prose corpora with sub-30ms latency.</a:t>
            </a:r>
          </a:p>
          <a:p>
            <a:br/>
            <a:pPr>
              <a:spcAft>
                <a:spcPts val="400"/>
              </a:spcAft>
              <a:defRPr sz="2200" b="1">
                <a:solidFill>
                  <a:srgbClr val="10B981"/>
                </a:solidFill>
                <a:latin typeface="Arial"/>
              </a:defRPr>
            </a:pPr>
            <a:r>
              <a:t>Thank You  •  Questions &amp; Discussion</a:t>
            </a:r>
          </a:p>
          <a:p>
            <a:pPr>
              <a:defRPr sz="1350">
                <a:solidFill>
                  <a:srgbClr val="94A3B8"/>
                </a:solidFill>
                <a:latin typeface="Calibri"/>
              </a:defRPr>
            </a:pPr>
            <a:r>
              <a:t>A. Venkata Balaji (23BCE20336)  |  Vellore Institute of Technology  |  galigastagiramma@gmail.com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