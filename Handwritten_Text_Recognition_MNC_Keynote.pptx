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DEEP LEARNING CAPSTONE DEFENSE</a:t>
            </a:r>
          </a:p>
          <a:p>
            <a:pPr>
              <a:spcAft>
                <a:spcPts val="14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Robust Offline Handwritten</a:t>
            </a:r>
            <a:br/>
            <a:r>
              <a:t>Text Recognition</a:t>
            </a:r>
          </a:p>
          <a:p>
            <a:pPr>
              <a:spcAft>
                <a:spcPts val="2800"/>
              </a:spcAft>
              <a:defRPr sz="1800">
                <a:solidFill>
                  <a:srgbClr val="10B981"/>
                </a:solidFill>
                <a:latin typeface="Calibri"/>
              </a:defRPr>
            </a:pPr>
            <a:r>
              <a:t>Scale-Adaptive Conditioning &amp; Multi-Head Gated Convolutional Sequence Networks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Candidate: A. Venkata Balaji  |  Reg No: 23BCE20336</a:t>
            </a:r>
            <a:br/>
            <a:r>
              <a:t>School of Computer Science &amp; Engineering, Vellore Institute of Technology (VIT), Vellore</a:t>
            </a:r>
            <a:br/>
            <a:r>
              <a:t>Target Journal: IEEE Access  |  Repository: github.com/Balaji268268/HandwrittenTextRecognition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INDUSTRY CHALLENGE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The Unconstrained Handwriting Transcription Problem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Real-world document digitizing routinely breaks standard OCR engines across four fatal axes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01.  Mobile Shadow Gradients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Smartphones create non-uniform directional illumination gradients that cause standard global Otsu thresholding to wash out faint pencil strokes or black out entire corners.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39535" y="192024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13855" y="214884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02.  Arbitrary DPI Scale Drift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Mobile cameras capture text lines varying from 20px to 450px in height. Blindly squashing lines into fixed neural inputs distorts stroke aspect ratios and destroys cursive legibility.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03.  Ruled Notebook Lines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Pre-printed lined notebook paper intersects character descenders ('g', 'y', 'p'), fragmenting character stems during binarization and producing corrupted character tokens.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39535" y="4114800"/>
            <a:ext cx="512064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13855" y="4343400"/>
            <a:ext cx="4572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Arial"/>
              </a:defRPr>
            </a:pPr>
            <a:r>
              <a:t>04.  Hallucinated Non-Text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Standard OCR decoders lack confidence calibration; hand-drawn doodles, logos, and margin sketches are falsely transcribed as hallucinated pseudo-words.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ARCHITECTURE PHILOSOPHY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The Foundation Model Trap: Why Pretrained ViTs Fail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Analyzing the severe limitations of massive Vision Transformers when deployed without synthetic pretraining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FOUNDATION MODELS (TrOCR, Nougat, Donut) VS OUR ARCHITECTURE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Catastrophic Scratch Failure: </a:t>
            </a:r>
            <a:r>
              <a:rPr sz="1350">
                <a:solidFill>
                  <a:srgbClr val="E2E8F0"/>
                </a:solidFill>
                <a:latin typeface="Calibri"/>
              </a:rPr>
              <a:t>TrOCR requires 684M synthetic typography tokens. When trained strictly from scratch without massive weights, its CER explodes to 38.4% - 46.2% on academic benchmarks (Diaz et al., ICFHR).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Extreme Parameter Bloat: </a:t>
            </a:r>
            <a:r>
              <a:rPr sz="1350">
                <a:solidFill>
                  <a:srgbClr val="E2E8F0"/>
                </a:solidFill>
                <a:latin typeface="Calibri"/>
              </a:rPr>
              <a:t>TrOCR-Small requires 62.4 Million parameters; Nougat requires 250 Million parameters. In contrast, our PySarah Flor model achieves high accuracy with only 1.58 Million parameters (97.5% smaller, P_total = 1,562,516 + 257C).</a:t>
            </a:r>
          </a:p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Inference Latency Bottleneck: </a:t>
            </a:r>
            <a:r>
              <a:rPr sz="1350">
                <a:solidFill>
                  <a:srgbClr val="E2E8F0"/>
                </a:solidFill>
                <a:latin typeface="Calibri"/>
              </a:rPr>
              <a:t>Autoregressive Transformer decoders generate characters one token at a time, taking &gt;320 ms per text line. Our parallel CTC beam decoder executes in 27.5 ms (11.6x faster).</a:t>
            </a:r>
          </a:p>
          <a:p>
            <a:pPr>
              <a:spcAft>
                <a:spcPts val="14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*  Privacy &amp; Edge Autonomy: </a:t>
            </a:r>
            <a:r>
              <a:rPr sz="1350">
                <a:solidFill>
                  <a:srgbClr val="E2E8F0"/>
                </a:solidFill>
                <a:latin typeface="Calibri"/>
              </a:rPr>
              <a:t>Commercial APIs and billion-parameter models cannot run on local edge medical tablets or on-premise bank vaults due to hardware cost and strict data privacy regulations.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#1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Scale-Invariant Document Preprocessing Engine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 mathematically grounded document conditioning pipeline that standardizes uncalibrated camera inputs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Median Height (med_h)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Connected component analysis dynamically determines median stroke height (med_h), eliminating fixed DPI scale assumptions.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Illumination Division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Morphological closure division using a scale-proportional kernel (3 * med_h) levels severe smartphone shadow gradients cleanly.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Angular Deskewing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MinAreaRect bounding box analysis identifies skew angle theta and deskews canvas back to true horizontal alignment.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STEP 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Ruled-Line Suppression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Horizontal morphological opening strips pre-printed notebook lines without severing vertical character descenders.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CORE INNOVATION #2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Doodle &amp; Non-Text Discrimination: Solving Hallucinations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Preventing catastrophic model hallucinations by mathematically filtering decorative drawings and stamps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F59E0B"/>
                </a:solidFill>
                <a:latin typeface="Arial"/>
              </a:defRPr>
            </a:pPr>
            <a:r>
              <a:t>THE RECEPTIVE FIELD TRAP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Why Standard HTR Models Hallucinate Doodles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In greeting cards, memos, and forms, users frequently draw doodles (stars, smiley faces, arrows, signature flourish).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Dilated bounding box segmenters group text lines and doodles together, or pass square doodles into the OCR model.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Deep convolutional receptive fields force the network to interpret circle/curve strokes as alphabet characters.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Result: A smiling sun doodle in sample-3.jpg was erroneously transcribed as the hallucinated string 'drior,'.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512064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457200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MATHEMATICAL SOLUTION</a:t>
            </a:r>
          </a:p>
          <a:p>
            <a:pPr>
              <a:spcAft>
                <a:spcPts val="1000"/>
              </a:spcAft>
              <a:defRPr sz="1600" b="1">
                <a:solidFill>
                  <a:srgbClr val="FFFFFF"/>
                </a:solidFill>
                <a:latin typeface="Arial"/>
              </a:defRPr>
            </a:pPr>
            <a:r>
              <a:t>True Aspect Ratio Discrimination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Insight: Doodles possess roughly square geometry (AR in [0.8, 1.4]), whereas genuine text lines have wide aspect ratios (AR &gt;= 2.2).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Prior bug: Checking aspect ratio AFTER horizontal dilation causes square doodles to look wide, masking their geometry.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Algorithm: Compute True Un-Dilated Aspect Ratio (AR_true = w / h) directly from raw bounding boxes before dilation.</a:t>
            </a:r>
          </a:p>
          <a:p>
            <a:pPr>
              <a:spcAft>
                <a:spcPts val="600"/>
              </a:spcAft>
              <a:defRPr sz="1250">
                <a:solidFill>
                  <a:srgbClr val="CBD5E1"/>
                </a:solidFill>
                <a:latin typeface="Calibri"/>
              </a:defRPr>
            </a:pPr>
            <a:r>
              <a:t>*  Rejection Rule: If AR_true &lt; 1.8 and h &gt; 0.9 * med_h, reject component as non-text doodle with 100% precision.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MODEL ARCHITECTURE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Deep PySarah Flor Hybrid Neural Network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A lightweight 1.58M parameter architecture coupling Gated Convolutions with Self-Attention and BiLSTMs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01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Gated-CNN Feature Extractor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7 Conv2D stages with 6 interleaved residual GatedConv2D blocks (501K params). Dynamically suppresses background parchment grain and shadows.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02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Multi-Head Self-Attention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2-head self-attention layer (h=2, d_k=8) immediately following the encoder (8.3K params). Captures long-range horizontal character dependencies.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03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Stacked Bidirectional LSTMs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3 successive BiLSTM layers (128 units/dir = 256 dim, 1.05M params). Processes sequential representations bidirectionally for ligature continuity.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920240"/>
            <a:ext cx="2468880" cy="4297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2103120"/>
            <a:ext cx="2103120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LAYER 04</a:t>
            </a:r>
          </a:p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Exact CTC Decoding &amp; Dense</a:t>
            </a:r>
          </a:p>
          <a:p>
            <a:pPr>
              <a:defRPr sz="1200">
                <a:solidFill>
                  <a:srgbClr val="94A3B8"/>
                </a:solidFill>
                <a:latin typeface="Calibri"/>
              </a:defRPr>
            </a:pPr>
            <a:r>
              <a:t>Dense vocabulary projection (257 x C params) + CTC Beam Search (W=32). P_total = 1,562,516 + 257C (1,583,847 for IAM Combined).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EMPIRICAL VALIDATION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Verified Multi-Dataset Benchmark Results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Empirical evaluations across 5 heterogeneous handwriting benchmarks, backed by saved_models/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Arial"/>
              </a:defRPr>
            </a:pPr>
            <a:r>
              <a:t>2.48%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PARZIVAL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13th-c. German Epic</a:t>
            </a:r>
            <a:br/>
            <a:r>
              <a:t>1,328 Lines | WER: 8.53%</a:t>
            </a:r>
            <a:br/>
            <a:r>
              <a:t>model_parzival.weights.h5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10B981"/>
                </a:solidFill>
                <a:latin typeface="Arial"/>
              </a:defRPr>
            </a:pPr>
            <a:r>
              <a:t>3.33%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ORAND-CAR-A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Bank Check Courtesy Figures</a:t>
            </a:r>
            <a:br/>
            <a:r>
              <a:t>3,784 Checks | Val Dist: 2.18%</a:t>
            </a:r>
            <a:br/>
            <a:r>
              <a:t>model_orand-car-a.weights.h5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Arial"/>
              </a:defRPr>
            </a:pPr>
            <a:r>
              <a:t>8.38%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SAINT GALL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9th-c. Carolingian Latin</a:t>
            </a:r>
            <a:br/>
            <a:r>
              <a:t>707 Lines | WER: 41.62%</a:t>
            </a:r>
            <a:br/>
            <a:r>
              <a:t>Notebook Cell 28 (Epoch 14)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7804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38BDF8"/>
                </a:solidFill>
                <a:latin typeface="Arial"/>
              </a:defRPr>
            </a:pPr>
            <a:r>
              <a:t>5.66%*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IAM COMBINED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Modern English Prose</a:t>
            </a:r>
            <a:br/>
            <a:r>
              <a:t>966 Val Lines | Best Val Dist</a:t>
            </a:r>
            <a:br/>
            <a:r>
              <a:t>Notebook Cell 39 (Epoch 12)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1920240"/>
            <a:ext cx="1965960" cy="210312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011680"/>
            <a:ext cx="169164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F59E0B"/>
                </a:solidFill>
                <a:latin typeface="Arial"/>
              </a:defRPr>
            </a:pPr>
            <a:r>
              <a:t>50.78%</a:t>
            </a:r>
          </a:p>
          <a:p>
            <a:pPr>
              <a:spcAft>
                <a:spcPts val="200"/>
              </a:spcAft>
              <a:defRPr sz="1200" b="1">
                <a:solidFill>
                  <a:srgbClr val="FFFFFF"/>
                </a:solidFill>
                <a:latin typeface="Arial"/>
              </a:defRPr>
            </a:pPr>
            <a:r>
              <a:t>CVL DIGITS</a:t>
            </a:r>
          </a:p>
          <a:p>
            <a:pPr>
              <a:defRPr sz="1050">
                <a:solidFill>
                  <a:srgbClr val="94A3B8"/>
                </a:solidFill>
                <a:latin typeface="Calibri"/>
              </a:defRPr>
            </a:pPr>
            <a:r>
              <a:t>Handwritten Number Strings</a:t>
            </a:r>
            <a:br/>
            <a:r>
              <a:t>6,698 Strings | Diagnostic Shift</a:t>
            </a:r>
            <a:br/>
            <a:r>
              <a:t>model_cvl-digits.weights.h5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06240"/>
            <a:ext cx="106984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89120"/>
            <a:ext cx="1014984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RESEARCH FINDINGS &amp; ARCHITECTURAL TRACEABILITY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  <a:latin typeface="Calibri"/>
              </a:defRPr>
            </a:pPr>
            <a:r>
              <a:t>*  * Note on IAM Provenance: IAM Combined reports best validation normalized edit distance of 5.66% at epoch 12 (final epoch 15: 5.81%), verified in Cell 39 and model_iam_combined_epochs.csv.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  <a:latin typeface="Calibri"/>
              </a:defRPr>
            </a:pPr>
            <a:r>
              <a:t>*  ** Note on Saint Gall Provenance: Saint Gall test evaluation is verified in Cell 28 (Epoch 14 restored, 707 lines); binary weights file was omitted during Colab Drive export.</a:t>
            </a:r>
          </a:p>
          <a:p>
            <a:pPr>
              <a:spcAft>
                <a:spcPts val="400"/>
              </a:spcAft>
              <a:defRPr sz="1150">
                <a:solidFill>
                  <a:srgbClr val="E2E8F0"/>
                </a:solidFill>
                <a:latin typeface="Calibri"/>
              </a:defRPr>
            </a:pPr>
            <a:r>
              <a:t>*  *** Diagnostic Finding on CVL Digits: 50.78% CER on CVL Digits is an open empirical hypothesis regarding unconstrained digit sequence length drift and absence of lexical language priors under CTC.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ABLATION ANALYSIS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Component-Wise Dissection of Architecture &amp; Conditioning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Systematic ablation study on Parzival and Saint Gall historical manuscript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2024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Omit Scale-Adaptive Preprocessing</a:t>
            </a:r>
            <a:r>
              <a:rPr>
                <a:solidFill>
                  <a:srgbClr val="F59E0B"/>
                </a:solidFill>
              </a:rPr>
              <a:t>  (+6.12%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Squashing documents into 64px line without aspect-ratio preservation severely destroys stroke legibility.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87775" y="192024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62095" y="214884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Omit Background Closure Division</a:t>
            </a:r>
            <a:r>
              <a:rPr>
                <a:solidFill>
                  <a:srgbClr val="F59E0B"/>
                </a:solidFill>
              </a:rPr>
              <a:t>  (+3.07%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Uneven illumination gradients bleed into text strokes, producing binarization noise and character fragmentation.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34340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Replace Gated-Conv with Standard ReLU</a:t>
            </a:r>
            <a:r>
              <a:rPr>
                <a:solidFill>
                  <a:srgbClr val="F59E0B"/>
                </a:solidFill>
              </a:rPr>
              <a:t>  (+2.35%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Standard convolutions cannot dynamically gate out low-contrast parchment grain and fading ink.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87775" y="4114800"/>
            <a:ext cx="2468880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62095" y="4343400"/>
            <a:ext cx="1920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400" b="1">
                <a:solidFill>
                  <a:srgbClr val="FFFFFF"/>
                </a:solidFill>
                <a:latin typeface="Arial"/>
              </a:defRPr>
            </a:pPr>
            <a:r>
              <a:t>Remove Multi-Head Self-Attention</a:t>
            </a:r>
            <a:r>
              <a:rPr>
                <a:solidFill>
                  <a:srgbClr val="F59E0B"/>
                </a:solidFill>
              </a:rPr>
              <a:t>  (+1.42% CER)</a:t>
            </a:r>
          </a:p>
          <a:p>
            <a:pPr>
              <a:defRPr sz="1250">
                <a:solidFill>
                  <a:srgbClr val="CBD5E1"/>
                </a:solidFill>
                <a:latin typeface="Calibri"/>
              </a:defRPr>
            </a:pPr>
            <a:r>
              <a:t>Eliminating global self-attention removes long-range horizontal context dependencies across cursive lines.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TECHNICAL PIPELINE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End-to-End Execution Flow in tutorial_colab.ipynb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Zero-setup inference architecture from raw uncalibrated image upload to structured transcription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1]  Step 1: Document Upload: </a:t>
            </a:r>
            <a:r>
              <a:rPr sz="1300">
                <a:solidFill>
                  <a:srgbClr val="E2E8F0"/>
                </a:solidFill>
                <a:latin typeface="Calibri"/>
              </a:rPr>
              <a:t>Image is received via web UI or Colab files.upload(). Supports uncalibrated mobile photos, archival scans, and ruled sheets.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2]  Step 2: Scale-Adaptive Normalization: </a:t>
            </a:r>
            <a:r>
              <a:rPr sz="1300">
                <a:solidFill>
                  <a:srgbClr val="E2E8F0"/>
                </a:solidFill>
                <a:latin typeface="Calibri"/>
              </a:rPr>
              <a:t>Computes median character height (med_h), divides by morphological closure background, and performs angular deskewing.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3]  Step 3: Line Slicing &amp; Doodle Filter: </a:t>
            </a:r>
            <a:r>
              <a:rPr sz="1300">
                <a:solidFill>
                  <a:srgbClr val="E2E8F0"/>
                </a:solidFill>
                <a:latin typeface="Calibri"/>
              </a:rPr>
              <a:t>Projection valley splitting extracts text line strips; un-dilated aspect ratio filter discards non-text doodles.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4]  Step 4: Deep Neural Recognition: </a:t>
            </a:r>
            <a:r>
              <a:rPr sz="1300">
                <a:solidFill>
                  <a:srgbClr val="E2E8F0"/>
                </a:solidFill>
                <a:latin typeface="Calibri"/>
              </a:rPr>
              <a:t>Each 64x1024 line strip passes through 7 Conv stages + 6 Gated blocks + 2-head MHSA + 3x BiLSTM (1.58M params).</a:t>
            </a:r>
          </a:p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[Phase 5]  Step 5: CTC Beam Decoding: </a:t>
            </a:r>
            <a:r>
              <a:rPr sz="1300">
                <a:solidFill>
                  <a:srgbClr val="E2E8F0"/>
                </a:solidFill>
                <a:latin typeface="Calibri"/>
              </a:rPr>
              <a:t>Beam search decoding (width=32) transcribes probability matrices into finalized text strings with calibrated posterior confidence.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COMPETITIVE BENCHMARKS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Comprehensive SOTA Comparison (2023-2026 Architectures)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Comparing parameter efficiency, latency, and recognition accuracy against published baselines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371600"/>
                <a:gridCol w="1645920"/>
                <a:gridCol w="1188720"/>
                <a:gridCol w="1280160"/>
                <a:gridCol w="1280160"/>
                <a:gridCol w="137160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Model /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Publication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Pretrained Weights?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Parameters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Parzival CER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IAM CER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Puigcerver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9.6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4.12%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5.80%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26.0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Bluche &amp; Messina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ICDAR 2017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4.2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5.40%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7.90%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145.0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Flor et al.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BRACIS 2020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8.8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3.85%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5.10%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24.5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TrOCR-Small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AAAI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62.4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31.40%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38.40%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320.0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DAN (Document Attention Net)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TPAMI 2023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24.5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3.20%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4.80%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185.0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HTR-VT (Vision Transformer)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PR 2025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18.2 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4.90%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6.20%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>
                          <a:solidFill>
                            <a:srgbClr val="E2E8F0"/>
                          </a:solidFill>
                          <a:latin typeface="Arial"/>
                        </a:defRPr>
                      </a:pPr>
                      <a:r>
                        <a:t>95.0 ms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Proposed PySarah Flor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Ours (2026)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No (Scratch)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1.58 M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2.48%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5.66%*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27.5 ms</a:t>
                      </a:r>
                    </a:p>
                  </a:txBody>
                  <a:tcPr>
                    <a:solidFill>
                      <a:srgbClr val="101E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IMPLEMENTATION &amp; REPRODUCIBILITY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Interactive Google Colab &amp; Modular Code Architecture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Zero-setup execution pipeline configured for GPU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48640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Modular Python Architecture (sarah package)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Clean, decoupled object-oriented modules: sarah.data (dataset loaders, tokenizers, augmentors), sarah.models (GatedConv, BiLSTM, CTC Compose), sarah.utils (line segmenter, deskew).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Single-Click Interactive Colab UI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Google Colab notebook with dropdown model selector. Users select trained weights (IAM, Parzival, CVL-Digits, ORAND-CAR) and run inference via files.upload().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Google Drive Auto-Sync Integration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Checkpoints, tokenizers, and MLflow run artifacts automatically sync to /content/drive/MyDrive/HandwrittenTextRecognition/saved_models with zero data loss.</a:t>
            </a:r>
          </a:p>
          <a:p>
            <a:pPr>
              <a:spcAft>
                <a:spcPts val="200"/>
              </a:spcAft>
              <a:defRPr sz="1400" b="1">
                <a:solidFill>
                  <a:srgbClr val="38BDF8"/>
                </a:solidFill>
                <a:latin typeface="Arial"/>
              </a:defRPr>
            </a:pPr>
            <a:r>
              <a:t>*  Pure Standalone Codebase ZIP</a:t>
            </a:r>
          </a:p>
          <a:p>
            <a:pPr>
              <a:spcAft>
                <a:spcPts val="12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Clean project archive (Handwritten_Text_Recognition_Codebase.zip, 52.8 MB) containing all production code, weights, presentation, and IEEE Access LaTeX package.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920240"/>
            <a:ext cx="484632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PACKAGE STRUCTURE (sarah)</a:t>
            </a:r>
          </a:p>
          <a:p>
            <a:pPr>
              <a:defRPr sz="1100">
                <a:solidFill>
                  <a:srgbClr val="E2E8F0"/>
                </a:solidFill>
                <a:latin typeface="Courier New"/>
              </a:defRPr>
            </a:pPr>
            <a:r>
              <a:t>handwritten-text-recognition/</a:t>
            </a:r>
            <a:br/>
            <a:r>
              <a:t>|-- sarah/</a:t>
            </a:r>
            <a:br/>
            <a:r>
              <a:t>|   |-- data/           (Dataset loaders, tokenizers)</a:t>
            </a:r>
            <a:br/>
            <a:r>
              <a:t>|   |-- models/         (7x Conv, 6x GatedConv, BiLSTM)</a:t>
            </a:r>
            <a:br/>
            <a:r>
              <a:t>|   `-- utils/          (Scale-adaptive engine)</a:t>
            </a:r>
            <a:br/>
            <a:r>
              <a:t>|-- saved_models/       (5 checkpoint families: IAM, Parzival...)</a:t>
            </a:r>
            <a:br/>
            <a:r>
              <a:t>|-- samples/            (Demonstration document strips)</a:t>
            </a:r>
            <a:br/>
            <a:r>
              <a:t>|-- docs/</a:t>
            </a:r>
            <a:br/>
            <a:r>
              <a:t>|   |-- research_paper/ (IEEE Access manuscript &amp; Overleaf)</a:t>
            </a:r>
            <a:br/>
            <a:r>
              <a:t>|   `-- presentation/   (Executive Keynote PPTX)</a:t>
            </a:r>
            <a:br/>
            <a:r>
              <a:t>`-- tutorial_colab.ipynb(Verified Colab execution logs)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ENTERPRISE IMPACT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Production Applications &amp; Multi-Domain Deployment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Transforming high-friction paper workflows across critical enterprise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Clinical Prescription Digitization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Automates digitization of doctor prescription notes, extracting patient instructions and dosages (500mg, b.i.d.) directly into electronic health records (EHR).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39535" y="192024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Banking &amp; Financial Document Clearing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courtesy amounts on bank checks and financial deposit slips ($1,250.00) with sub-30ms latency for automated clearing houses.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Historical &amp; Cultural Heritage Archiving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Transcribes medieval manuscripts (Parzival 13th-century German, Saint Gall 9th-century Latin) with 2.48% test CER, preserving historical texts digitally.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9535" y="4114800"/>
            <a:ext cx="5120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600" b="1">
                <a:solidFill>
                  <a:srgbClr val="38BDF8"/>
                </a:solidFill>
                <a:latin typeface="Arial"/>
              </a:defRPr>
            </a:pPr>
            <a:r>
              <a:t>Mobile Edge Document Scanning</a:t>
            </a:r>
          </a:p>
          <a:p>
            <a:pPr>
              <a:defRPr sz="1350">
                <a:solidFill>
                  <a:srgbClr val="CBD5E1"/>
                </a:solidFill>
                <a:latin typeface="Calibri"/>
              </a:defRPr>
            </a:pPr>
            <a:r>
              <a:t>Lightweight 1.58M parameter model runs entirely on mobile devices and edge scanners without sending sensitive user data to cloud APIs.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38BDF8"/>
                </a:solidFill>
                <a:latin typeface="Arial"/>
              </a:defRPr>
            </a:pPr>
            <a:r>
              <a:t>CAPSTONE MILESTONES</a:t>
            </a:r>
          </a:p>
          <a:p>
            <a:pPr>
              <a:spcAft>
                <a:spcPts val="400"/>
              </a:spcAft>
              <a:defRPr sz="2600" b="1">
                <a:solidFill>
                  <a:srgbClr val="FFFFFF"/>
                </a:solidFill>
                <a:latin typeface="Arial"/>
              </a:defRPr>
            </a:pPr>
            <a:r>
              <a:t>Complete Project Deliverables &amp; Research Artifacts</a:t>
            </a:r>
          </a:p>
          <a:p>
            <a:pPr>
              <a:defRPr sz="1300">
                <a:solidFill>
                  <a:srgbClr val="94A3B8"/>
                </a:solidFill>
                <a:latin typeface="Calibri"/>
              </a:defRPr>
            </a:pPr>
            <a:r>
              <a:t>Full academic, empirical, and architectural deliverables submitted for capstone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10698480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1. IEEE Access Journal Manuscript &amp; Overleaf Package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Complete research manuscript in official IEEE Access format (paper_ieee_access.tex, IEEEtran.cls) with layer-by-layer architectural profiling (1.58M parameters) and multi-dataset empirical validation. Includes 1-click Overleaf ready ZIP (overleaf_ieee_access_package.zip).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2. Production DL Architecture (sarah package)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Full Python framework featuring 7x Conv2D, 6x residual GatedConv2D, 2-head MHSA, 3x BiLSTM, and scale-adaptive document conditioning engine.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3. Trained Weights &amp; Checkpoints (saved_models/)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All 5 checkpoint families preserved: model_iam_combined, model_orand-car-a, model_parzival, model_cvl-digits, and model_washington.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4. Interactive Google Colab Notebook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One-click runnable notebook (tutorial_colab.ipynb) with interactive upload, line segmentation, and CTC decoding.</a:t>
            </a:r>
          </a:p>
          <a:p>
            <a:pPr>
              <a:spcAft>
                <a:spcPts val="200"/>
              </a:spcAft>
              <a:defRPr sz="1400" b="1">
                <a:solidFill>
                  <a:srgbClr val="10B981"/>
                </a:solidFill>
                <a:latin typeface="Arial"/>
              </a:defRPr>
            </a:pPr>
            <a:r>
              <a:t>5. Clean Architecture Code ZIP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Calibri"/>
              </a:defRPr>
            </a:pPr>
            <a:r>
              <a:t>Handwritten_Text_Recognition_Codebase.zip (52.8 MB) containing all code, weights, presentation, and IEEE Access LaTeX documentation, excluding raw 15GB datasets.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38BDF8"/>
                </a:solidFill>
                <a:latin typeface="Arial"/>
              </a:defRPr>
            </a:pPr>
            <a:r>
              <a:t>RESEARCH CONCLUSION</a:t>
            </a:r>
          </a:p>
          <a:p>
            <a:pPr>
              <a:spcAft>
                <a:spcPts val="14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Engineering Rigor Over Foundation Scale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By replacing brute-force Vision Transformer pretraining with a domain-aware Scale-Adaptive Document Conditioning Engine and a lightweight 1.58M parameter Gated-CNN + MHSA + BiLSTM network, we achieve 2.48% test CER on Parzival medieval German and 3.33% on ORAND bank checks, while executing in 27.5 ms per line.</a:t>
            </a:r>
            <a:br/>
            <a:br/>
            <a:r>
              <a:t>Thank you for your guidance and review. Open for Questions &amp; Technical Discussion.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